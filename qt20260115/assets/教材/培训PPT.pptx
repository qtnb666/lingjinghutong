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81" r:id="rId8"/>
    <p:sldId id="28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303" r:id="rId26"/>
    <p:sldId id="276" r:id="rId27"/>
    <p:sldId id="283" r:id="rId28"/>
    <p:sldId id="304" r:id="rId29"/>
    <p:sldId id="277" r:id="rId30"/>
    <p:sldId id="286" r:id="rId31"/>
    <p:sldId id="287" r:id="rId32"/>
    <p:sldId id="288" r:id="rId33"/>
    <p:sldId id="305" r:id="rId34"/>
    <p:sldId id="285" r:id="rId35"/>
    <p:sldId id="297" r:id="rId36"/>
    <p:sldId id="298" r:id="rId37"/>
    <p:sldId id="299" r:id="rId38"/>
    <p:sldId id="301" r:id="rId39"/>
    <p:sldId id="302" r:id="rId40"/>
    <p:sldId id="306" r:id="rId41"/>
    <p:sldId id="296" r:id="rId42"/>
    <p:sldId id="284" r:id="rId43"/>
    <p:sldId id="307" r:id="rId44"/>
    <p:sldId id="278" r:id="rId45"/>
    <p:sldId id="279" r:id="rId46"/>
    <p:sldId id="289" r:id="rId47"/>
    <p:sldId id="290" r:id="rId48"/>
    <p:sldId id="291" r:id="rId49"/>
    <p:sldId id="292" r:id="rId50"/>
    <p:sldId id="293" r:id="rId51"/>
    <p:sldId id="308" r:id="rId52"/>
    <p:sldId id="294" r:id="rId53"/>
    <p:sldId id="295" r:id="rId54"/>
    <p:sldId id="280" r:id="rId55"/>
  </p:sldIdLst>
  <p:sldSz cx="12192000" cy="6858000"/>
  <p:notesSz cx="6858000" cy="12192000"/>
  <p:embeddedFontLst>
    <p:embeddedFont>
      <p:font typeface="MiSans" pitchFamily="34" charset="-122"/>
      <p:regular r:id="rId59"/>
    </p:embeddedFont>
    <p:embeddedFont>
      <p:font typeface="MiSans" pitchFamily="34" charset="-120"/>
      <p:regular r:id="rId60"/>
    </p:embeddedFont>
    <p:embeddedFont>
      <p:font typeface="Calibri" panose="020F0502020204030204" charset="0"/>
      <p:regular r:id="rId61"/>
      <p:bold r:id="rId62"/>
      <p:italic r:id="rId63"/>
      <p:boldItalic r:id="rId64"/>
    </p:embeddedFont>
    <p:embeddedFont>
      <p:font typeface="微软雅黑" panose="020B0503020204020204" charset="-122"/>
      <p:regular r:id="rId65"/>
    </p:embeddedFont>
    <p:embeddedFont>
      <p:font typeface="等线" panose="02010600030101010101" charset="-122"/>
      <p:regular r:id="rId66"/>
    </p:embeddedFont>
    <p:embeddedFont>
      <p:font typeface="Calibri" panose="020F0502020204030204"/>
      <p:regular r:id="rId67"/>
      <p:bold r:id="rId68"/>
      <p:italic r:id="rId69"/>
      <p:boldItalic r:id="rId70"/>
    </p:embeddedFont>
    <p:embeddedFont>
      <p:font typeface="黑体" panose="02010609060101010101" charset="-122"/>
      <p:regular r:id="rId7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1" Type="http://schemas.openxmlformats.org/officeDocument/2006/relationships/font" Target="fonts/font13.fntdata"/><Relationship Id="rId70" Type="http://schemas.openxmlformats.org/officeDocument/2006/relationships/font" Target="fonts/font12.fntdata"/><Relationship Id="rId7" Type="http://schemas.openxmlformats.org/officeDocument/2006/relationships/slide" Target="slides/slide3.xml"/><Relationship Id="rId69" Type="http://schemas.openxmlformats.org/officeDocument/2006/relationships/font" Target="fonts/font11.fntdata"/><Relationship Id="rId68" Type="http://schemas.openxmlformats.org/officeDocument/2006/relationships/font" Target="fonts/font10.fntdata"/><Relationship Id="rId67" Type="http://schemas.openxmlformats.org/officeDocument/2006/relationships/font" Target="fonts/font9.fntdata"/><Relationship Id="rId66" Type="http://schemas.openxmlformats.org/officeDocument/2006/relationships/font" Target="fonts/font8.fntdata"/><Relationship Id="rId65" Type="http://schemas.openxmlformats.org/officeDocument/2006/relationships/font" Target="fonts/font7.fntdata"/><Relationship Id="rId64" Type="http://schemas.openxmlformats.org/officeDocument/2006/relationships/font" Target="fonts/font6.fntdata"/><Relationship Id="rId63" Type="http://schemas.openxmlformats.org/officeDocument/2006/relationships/font" Target="fonts/font5.fntdata"/><Relationship Id="rId62" Type="http://schemas.openxmlformats.org/officeDocument/2006/relationships/font" Target="fonts/font4.fntdata"/><Relationship Id="rId61" Type="http://schemas.openxmlformats.org/officeDocument/2006/relationships/font" Target="fonts/font3.fntdata"/><Relationship Id="rId60" Type="http://schemas.openxmlformats.org/officeDocument/2006/relationships/font" Target="fonts/font2.fntdata"/><Relationship Id="rId6" Type="http://schemas.openxmlformats.org/officeDocument/2006/relationships/slide" Target="slides/slide2.xml"/><Relationship Id="rId59" Type="http://schemas.openxmlformats.org/officeDocument/2006/relationships/font" Target="fonts/font1.fntdata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7.png"/><Relationship Id="rId20" Type="http://schemas.openxmlformats.org/officeDocument/2006/relationships/image" Target="../media/image9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14.png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7.png"/><Relationship Id="rId10" Type="http://schemas.openxmlformats.org/officeDocument/2006/relationships/tags" Target="../tags/tag26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14.png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7.png"/><Relationship Id="rId10" Type="http://schemas.openxmlformats.org/officeDocument/2006/relationships/tags" Target="../tags/tag34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image" Target="../media/image7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.png"/><Relationship Id="rId7" Type="http://schemas.openxmlformats.org/officeDocument/2006/relationships/tags" Target="../tags/tag43.xml"/><Relationship Id="rId6" Type="http://schemas.openxmlformats.org/officeDocument/2006/relationships/image" Target="../media/image18.png"/><Relationship Id="rId5" Type="http://schemas.openxmlformats.org/officeDocument/2006/relationships/tags" Target="../tags/tag42.xml"/><Relationship Id="rId4" Type="http://schemas.openxmlformats.org/officeDocument/2006/relationships/image" Target="../media/image17.png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7.png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1" Type="http://schemas.openxmlformats.org/officeDocument/2006/relationships/notesSlide" Target="../notesSlides/notesSlide26.xml"/><Relationship Id="rId20" Type="http://schemas.openxmlformats.org/officeDocument/2006/relationships/vmlDrawing" Target="../drawings/vmlDrawing1.vml"/><Relationship Id="rId2" Type="http://schemas.openxmlformats.org/officeDocument/2006/relationships/image" Target="../media/image13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9.emf"/><Relationship Id="rId17" Type="http://schemas.openxmlformats.org/officeDocument/2006/relationships/oleObject" Target="../embeddings/oleObject1.bin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image" Target="../media/image21.png"/><Relationship Id="rId5" Type="http://schemas.openxmlformats.org/officeDocument/2006/relationships/tags" Target="../tags/tag60.xml"/><Relationship Id="rId4" Type="http://schemas.openxmlformats.org/officeDocument/2006/relationships/image" Target="../media/image20.jpeg"/><Relationship Id="rId3" Type="http://schemas.openxmlformats.org/officeDocument/2006/relationships/tags" Target="../tags/tag59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27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58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2.webp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13.png"/><Relationship Id="rId1" Type="http://schemas.openxmlformats.org/officeDocument/2006/relationships/tags" Target="../tags/tag6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tags" Target="../tags/tag6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27.png"/><Relationship Id="rId4" Type="http://schemas.openxmlformats.org/officeDocument/2006/relationships/tags" Target="../tags/tag68.xml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3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7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image" Target="../media/image28.png"/><Relationship Id="rId4" Type="http://schemas.openxmlformats.org/officeDocument/2006/relationships/tags" Target="../tags/tag76.xml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3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tags" Target="../tags/tag83.xml"/><Relationship Id="rId4" Type="http://schemas.openxmlformats.org/officeDocument/2006/relationships/image" Target="../media/image29.png"/><Relationship Id="rId3" Type="http://schemas.openxmlformats.org/officeDocument/2006/relationships/tags" Target="../tags/tag82.xml"/><Relationship Id="rId2" Type="http://schemas.openxmlformats.org/officeDocument/2006/relationships/image" Target="../media/image7.png"/><Relationship Id="rId1" Type="http://schemas.openxmlformats.org/officeDocument/2006/relationships/tags" Target="../tags/tag8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1.png"/><Relationship Id="rId7" Type="http://schemas.openxmlformats.org/officeDocument/2006/relationships/tags" Target="../tags/tag87.xml"/><Relationship Id="rId6" Type="http://schemas.openxmlformats.org/officeDocument/2006/relationships/image" Target="../media/image30.png"/><Relationship Id="rId5" Type="http://schemas.openxmlformats.org/officeDocument/2006/relationships/tags" Target="../tags/tag86.xml"/><Relationship Id="rId4" Type="http://schemas.openxmlformats.org/officeDocument/2006/relationships/image" Target="../media/image13.png"/><Relationship Id="rId3" Type="http://schemas.openxmlformats.org/officeDocument/2006/relationships/tags" Target="../tags/tag85.xml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34.xml"/><Relationship Id="rId1" Type="http://schemas.openxmlformats.org/officeDocument/2006/relationships/tags" Target="../tags/tag8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tags" Target="../tags/tag90.xml"/><Relationship Id="rId4" Type="http://schemas.openxmlformats.org/officeDocument/2006/relationships/image" Target="../media/image7.png"/><Relationship Id="rId3" Type="http://schemas.openxmlformats.org/officeDocument/2006/relationships/tags" Target="../tags/tag89.xml"/><Relationship Id="rId2" Type="http://schemas.openxmlformats.org/officeDocument/2006/relationships/image" Target="../media/image32.png"/><Relationship Id="rId1" Type="http://schemas.openxmlformats.org/officeDocument/2006/relationships/tags" Target="../tags/tag8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tags" Target="../tags/tag93.xml"/><Relationship Id="rId4" Type="http://schemas.openxmlformats.org/officeDocument/2006/relationships/image" Target="../media/image7.png"/><Relationship Id="rId3" Type="http://schemas.openxmlformats.org/officeDocument/2006/relationships/tags" Target="../tags/tag92.xml"/><Relationship Id="rId2" Type="http://schemas.openxmlformats.org/officeDocument/2006/relationships/image" Target="../media/image33.png"/><Relationship Id="rId1" Type="http://schemas.openxmlformats.org/officeDocument/2006/relationships/tags" Target="../tags/tag9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38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4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109.xml"/><Relationship Id="rId7" Type="http://schemas.openxmlformats.org/officeDocument/2006/relationships/image" Target="../media/image34.png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image" Target="../media/image13.png"/><Relationship Id="rId19" Type="http://schemas.openxmlformats.org/officeDocument/2006/relationships/notesSlide" Target="../notesSlides/notesSlide39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image" Target="../media/image37.png"/><Relationship Id="rId12" Type="http://schemas.openxmlformats.org/officeDocument/2006/relationships/tags" Target="../tags/tag111.xml"/><Relationship Id="rId11" Type="http://schemas.openxmlformats.org/officeDocument/2006/relationships/image" Target="../media/image36.png"/><Relationship Id="rId10" Type="http://schemas.openxmlformats.org/officeDocument/2006/relationships/tags" Target="../tags/tag110.xml"/><Relationship Id="rId1" Type="http://schemas.openxmlformats.org/officeDocument/2006/relationships/tags" Target="../tags/tag104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tags" Target="../tags/tag117.xml"/><Relationship Id="rId3" Type="http://schemas.openxmlformats.org/officeDocument/2006/relationships/image" Target="../media/image7.png"/><Relationship Id="rId2" Type="http://schemas.openxmlformats.org/officeDocument/2006/relationships/tags" Target="../tags/tag116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39.png"/><Relationship Id="rId3" Type="http://schemas.openxmlformats.org/officeDocument/2006/relationships/tags" Target="../tags/tag118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125.xml"/><Relationship Id="rId7" Type="http://schemas.openxmlformats.org/officeDocument/2006/relationships/image" Target="../media/image40.png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image" Target="../media/image7.png"/><Relationship Id="rId3" Type="http://schemas.openxmlformats.org/officeDocument/2006/relationships/tags" Target="../tags/tag122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43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2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image" Target="../media/image40.png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7.png"/><Relationship Id="rId3" Type="http://schemas.openxmlformats.org/officeDocument/2006/relationships/tags" Target="../tags/tag127.xml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44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tags" Target="../tags/tag126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5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45.png"/><Relationship Id="rId6" Type="http://schemas.openxmlformats.org/officeDocument/2006/relationships/tags" Target="../tags/tag135.xml"/><Relationship Id="rId5" Type="http://schemas.openxmlformats.org/officeDocument/2006/relationships/image" Target="../media/image44.png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image" Target="../media/image13.png"/><Relationship Id="rId1" Type="http://schemas.openxmlformats.org/officeDocument/2006/relationships/tags" Target="../tags/tag132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6.png"/><Relationship Id="rId3" Type="http://schemas.openxmlformats.org/officeDocument/2006/relationships/tags" Target="../tags/tag137.xml"/><Relationship Id="rId2" Type="http://schemas.openxmlformats.org/officeDocument/2006/relationships/image" Target="../media/image13.png"/><Relationship Id="rId1" Type="http://schemas.openxmlformats.org/officeDocument/2006/relationships/tags" Target="../tags/tag136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.png"/><Relationship Id="rId7" Type="http://schemas.openxmlformats.org/officeDocument/2006/relationships/tags" Target="../tags/tag141.xml"/><Relationship Id="rId6" Type="http://schemas.openxmlformats.org/officeDocument/2006/relationships/image" Target="../media/image48.png"/><Relationship Id="rId5" Type="http://schemas.openxmlformats.org/officeDocument/2006/relationships/tags" Target="../tags/tag140.xml"/><Relationship Id="rId4" Type="http://schemas.openxmlformats.org/officeDocument/2006/relationships/image" Target="../media/image47.png"/><Relationship Id="rId3" Type="http://schemas.openxmlformats.org/officeDocument/2006/relationships/tags" Target="../tags/tag139.xml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47.xml"/><Relationship Id="rId1" Type="http://schemas.openxmlformats.org/officeDocument/2006/relationships/tags" Target="../tags/tag138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tags" Target="../tags/tag143.xml"/><Relationship Id="rId3" Type="http://schemas.openxmlformats.org/officeDocument/2006/relationships/image" Target="../media/image49.png"/><Relationship Id="rId2" Type="http://schemas.openxmlformats.org/officeDocument/2006/relationships/image" Target="../media/image13.png"/><Relationship Id="rId1" Type="http://schemas.openxmlformats.org/officeDocument/2006/relationships/tags" Target="../tags/tag14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50.png"/><Relationship Id="rId2" Type="http://schemas.openxmlformats.org/officeDocument/2006/relationships/image" Target="../media/image13.png"/><Relationship Id="rId1" Type="http://schemas.openxmlformats.org/officeDocument/2006/relationships/tags" Target="../tags/tag144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6:51-d0shsss75iks832je9rg.png"/>
          <p:cNvPicPr>
            <a:picLocks noChangeAspect="1"/>
          </p:cNvPicPr>
          <p:nvPr/>
        </p:nvPicPr>
        <p:blipFill>
          <a:blip r:embed="rId1"/>
          <a:srcRect l="26973" t="18251" r="15191" b="19034"/>
          <a:stretch>
            <a:fillRect/>
          </a:stretch>
        </p:blipFill>
        <p:spPr>
          <a:xfrm>
            <a:off x="-22860" y="-4445"/>
            <a:ext cx="12272010" cy="68668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3160" y="1971040"/>
            <a:ext cx="6761480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网络空间安全展演活动参赛者培训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356995" y="4670425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赛事组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440815" y="461073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452880" y="461073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6995" y="5413375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2025.07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40815" y="534352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2880" y="535368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65275" y="525145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1" name="Text 8"/>
          <p:cNvSpPr/>
          <p:nvPr/>
        </p:nvSpPr>
        <p:spPr>
          <a:xfrm>
            <a:off x="1788795" y="5076825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55115" y="450850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3" name="Text 10"/>
          <p:cNvSpPr/>
          <p:nvPr/>
        </p:nvSpPr>
        <p:spPr>
          <a:xfrm>
            <a:off x="1261745" y="4424680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pic>
        <p:nvPicPr>
          <p:cNvPr id="15" name="Image 1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6" name="Image 2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8" name="Image 3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pic>
        <p:nvPicPr>
          <p:cNvPr id="21" name="Image 5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22" name="Image 6" descr="https://test-kimi-img.moonshot.cn/pub/slides/slides_tmpl/image/25-05-30-10:56:51-d0shsss75iks832je9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885" y="2215515"/>
            <a:ext cx="3242945" cy="166433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24" name="Image 7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25" name="Image 8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2-d0shsvk75iks832je9tg.png"/>
          <p:cNvPicPr>
            <a:picLocks noChangeAspect="1"/>
          </p:cNvPicPr>
          <p:nvPr/>
        </p:nvPicPr>
        <p:blipFill>
          <a:blip r:embed="rId1"/>
          <a:srcRect l="12131" t="18481" r="12088" b="20428"/>
          <a:stretch>
            <a:fillRect/>
          </a:stretch>
        </p:blipFill>
        <p:spPr>
          <a:xfrm>
            <a:off x="-2540" y="-18415"/>
            <a:ext cx="12213590" cy="687641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 flipH="1">
            <a:off x="6266815" y="126873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5268595" y="120332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6335395" y="130873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网络安全基础知识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5"/>
            </p:custDataLst>
          </p:nvPr>
        </p:nvSpPr>
        <p:spPr>
          <a:xfrm flipH="1">
            <a:off x="6266815" y="210439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5268595" y="203898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6335395" y="2144395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参赛目的与意义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 flipH="1">
            <a:off x="6266815" y="294005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>
            <p:custDataLst>
              <p:tags r:id="rId9"/>
            </p:custDataLst>
          </p:nvPr>
        </p:nvSpPr>
        <p:spPr>
          <a:xfrm>
            <a:off x="5268595" y="287464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10"/>
            </p:custDataLst>
          </p:nvPr>
        </p:nvSpPr>
        <p:spPr>
          <a:xfrm>
            <a:off x="6335395" y="298005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参赛作品创作指导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11"/>
            </p:custDataLst>
          </p:nvPr>
        </p:nvSpPr>
        <p:spPr>
          <a:xfrm flipH="1">
            <a:off x="6266815" y="377571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>
            <p:custDataLst>
              <p:tags r:id="rId12"/>
            </p:custDataLst>
          </p:nvPr>
        </p:nvSpPr>
        <p:spPr>
          <a:xfrm>
            <a:off x="5268595" y="371030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13"/>
            </p:custDataLst>
          </p:nvPr>
        </p:nvSpPr>
        <p:spPr>
          <a:xfrm>
            <a:off x="6335395" y="3815715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法律法规与伦理教育</a:t>
            </a:r>
            <a:endParaRPr lang="en-US" sz="1600" dirty="0"/>
          </a:p>
        </p:txBody>
      </p:sp>
      <p:sp>
        <p:nvSpPr>
          <p:cNvPr id="15" name="Shape 12"/>
          <p:cNvSpPr/>
          <p:nvPr>
            <p:custDataLst>
              <p:tags r:id="rId14"/>
            </p:custDataLst>
          </p:nvPr>
        </p:nvSpPr>
        <p:spPr>
          <a:xfrm flipH="1">
            <a:off x="6266815" y="461137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>
            <p:custDataLst>
              <p:tags r:id="rId15"/>
            </p:custDataLst>
          </p:nvPr>
        </p:nvSpPr>
        <p:spPr>
          <a:xfrm>
            <a:off x="5268595" y="454596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6"/>
            </p:custDataLst>
          </p:nvPr>
        </p:nvSpPr>
        <p:spPr>
          <a:xfrm>
            <a:off x="6335395" y="465137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实战演练与反馈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17"/>
            </p:custDataLst>
          </p:nvPr>
        </p:nvSpPr>
        <p:spPr>
          <a:xfrm flipH="1">
            <a:off x="6266815" y="544703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>
            <p:custDataLst>
              <p:tags r:id="rId18"/>
            </p:custDataLst>
          </p:nvPr>
        </p:nvSpPr>
        <p:spPr>
          <a:xfrm>
            <a:off x="5268595" y="5381625"/>
            <a:ext cx="1041400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9"/>
            </p:custDataLst>
          </p:nvPr>
        </p:nvSpPr>
        <p:spPr>
          <a:xfrm>
            <a:off x="6335395" y="5487035"/>
            <a:ext cx="55981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样本示例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51280" y="2143125"/>
            <a:ext cx="22352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4305" y="334010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23" name="Image 1" descr="https://test-kimi-img.moonshot.cn/pub/slides/slides_tmpl/image/25-05-30-10:57:02-d0shsvk75iks832je9u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" y="2279015"/>
            <a:ext cx="3980815" cy="21215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1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网络安全基础知识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 rot="21000000">
            <a:off x="277685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27768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 rot="21000000">
            <a:off x="639381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0" name="Text 7"/>
          <p:cNvSpPr/>
          <p:nvPr/>
        </p:nvSpPr>
        <p:spPr>
          <a:xfrm rot="21000000">
            <a:off x="63938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99410" y="1897380"/>
            <a:ext cx="2682240" cy="3907790"/>
          </a:xfrm>
          <a:prstGeom prst="rect">
            <a:avLst/>
          </a:prstGeom>
        </p:spPr>
      </p:pic>
      <p:pic>
        <p:nvPicPr>
          <p:cNvPr id="14" name="Image 2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16370" y="1897380"/>
            <a:ext cx="2682240" cy="39077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网络安全概念</a:t>
            </a:r>
            <a:endParaRPr lang="en-US" sz="1600" dirty="0"/>
          </a:p>
        </p:txBody>
      </p:sp>
      <p:sp>
        <p:nvSpPr>
          <p:cNvPr id="17" name="Text 11"/>
          <p:cNvSpPr/>
          <p:nvPr>
            <p:custDataLst>
              <p:tags r:id="rId7"/>
            </p:custDataLst>
          </p:nvPr>
        </p:nvSpPr>
        <p:spPr>
          <a:xfrm>
            <a:off x="315658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网络安全定义</a:t>
            </a:r>
            <a:endParaRPr lang="en-US" sz="1600" dirty="0"/>
          </a:p>
        </p:txBody>
      </p:sp>
      <p:sp>
        <p:nvSpPr>
          <p:cNvPr id="18" name="Text 12"/>
          <p:cNvSpPr/>
          <p:nvPr>
            <p:custDataLst>
              <p:tags r:id="rId8"/>
            </p:custDataLst>
          </p:nvPr>
        </p:nvSpPr>
        <p:spPr>
          <a:xfrm>
            <a:off x="3156585" y="2927985"/>
            <a:ext cx="2176145" cy="2745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网络安全是指保护网络系统中的硬件、软件及数据免受攻击、破坏和泄露，确保网络系统的正常运行。它不仅是国家安全的重要组成部分，也与每个人的日常生活息息相关。</a:t>
            </a:r>
            <a:endParaRPr lang="en-US" sz="1600" dirty="0"/>
          </a:p>
        </p:txBody>
      </p:sp>
      <p:sp>
        <p:nvSpPr>
          <p:cNvPr id="19" name="Text 13"/>
          <p:cNvSpPr/>
          <p:nvPr>
            <p:custDataLst>
              <p:tags r:id="rId9"/>
            </p:custDataLst>
          </p:nvPr>
        </p:nvSpPr>
        <p:spPr>
          <a:xfrm>
            <a:off x="677354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网络安全重要性</a:t>
            </a:r>
            <a:endParaRPr lang="en-US" sz="1600" dirty="0"/>
          </a:p>
        </p:txBody>
      </p:sp>
      <p:sp>
        <p:nvSpPr>
          <p:cNvPr id="20" name="Text 14"/>
          <p:cNvSpPr/>
          <p:nvPr>
            <p:custDataLst>
              <p:tags r:id="rId10"/>
            </p:custDataLst>
          </p:nvPr>
        </p:nvSpPr>
        <p:spPr>
          <a:xfrm>
            <a:off x="6773545" y="2927985"/>
            <a:ext cx="2176145" cy="2745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在当今数字化时代，网络空间已成为国家竞争的新战场。网络安全直接关系到国家的政治、经济、军事等各个领域。对于个人而言，网络安全涉及财产安全、隐私保护等基本权益。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 rot="21000000">
            <a:off x="277685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27768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 rot="21000000">
            <a:off x="639381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0" name="Text 7"/>
          <p:cNvSpPr/>
          <p:nvPr/>
        </p:nvSpPr>
        <p:spPr>
          <a:xfrm rot="21000000">
            <a:off x="63938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99410" y="1897380"/>
            <a:ext cx="2682240" cy="3907790"/>
          </a:xfrm>
          <a:prstGeom prst="rect">
            <a:avLst/>
          </a:prstGeom>
        </p:spPr>
      </p:pic>
      <p:pic>
        <p:nvPicPr>
          <p:cNvPr id="14" name="Image 2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16370" y="1897380"/>
            <a:ext cx="2682240" cy="39077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7130" y="380365"/>
            <a:ext cx="979995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常见网络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威胁</a:t>
            </a:r>
            <a:endParaRPr lang="zh-CN" alt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Text 11"/>
          <p:cNvSpPr/>
          <p:nvPr>
            <p:custDataLst>
              <p:tags r:id="rId7"/>
            </p:custDataLst>
          </p:nvPr>
        </p:nvSpPr>
        <p:spPr>
          <a:xfrm>
            <a:off x="3156585" y="2271395"/>
            <a:ext cx="2138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病毒与</a:t>
            </a:r>
            <a:r>
              <a:rPr lang="zh-CN" alt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木马</a:t>
            </a:r>
            <a:endParaRPr lang="zh-CN" altLang="en-US" sz="1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2"/>
          <p:cNvSpPr/>
          <p:nvPr>
            <p:custDataLst>
              <p:tags r:id="rId8"/>
            </p:custDataLst>
          </p:nvPr>
        </p:nvSpPr>
        <p:spPr>
          <a:xfrm>
            <a:off x="3156585" y="2646045"/>
            <a:ext cx="2176145" cy="30410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讲解病毒和木马的传播方式、危害以及防范措施。病毒和木马会破坏计算机系统、窃取用户信息，给用户带来巨大损失。定期更新系统、安装杀毒软件是有效的防范手段。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 13"/>
          <p:cNvSpPr/>
          <p:nvPr>
            <p:custDataLst>
              <p:tags r:id="rId9"/>
            </p:custDataLst>
          </p:nvPr>
        </p:nvSpPr>
        <p:spPr>
          <a:xfrm>
            <a:off x="677354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网络安全重要性</a:t>
            </a:r>
            <a:endParaRPr lang="en-US" sz="1600" dirty="0"/>
          </a:p>
        </p:txBody>
      </p:sp>
      <p:sp>
        <p:nvSpPr>
          <p:cNvPr id="20" name="Text 14"/>
          <p:cNvSpPr/>
          <p:nvPr>
            <p:custDataLst>
              <p:tags r:id="rId10"/>
            </p:custDataLst>
          </p:nvPr>
        </p:nvSpPr>
        <p:spPr>
          <a:xfrm>
            <a:off x="6773545" y="2630805"/>
            <a:ext cx="2176145" cy="319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钓鱼攻击和电信诈骗是常见的网络诈骗手段。通过伪装成正规网站或冒充公检法等机构，诱骗用户输入个人信息或转账。提高警惕、不随意点击陌生链接是防范的关键。</a:t>
            </a:r>
            <a:endParaRPr lang="en-US" sz="1600" dirty="0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430035" y="5194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430035" y="5194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3340" y="1517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3340" y="1517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305" y="171450"/>
            <a:ext cx="2023745" cy="965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网络安全各层技术点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 rot="5400000">
            <a:off x="81597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124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 rot="5400000">
            <a:off x="4349115" y="203771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64380" y="137922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50535" y="538734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 rot="5400000">
            <a:off x="788225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9752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8367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4630" y="0"/>
            <a:ext cx="9441815" cy="6854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参赛目的与意义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400" y="1508760"/>
            <a:ext cx="3535680" cy="455676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400" y="1508760"/>
            <a:ext cx="3535680" cy="45567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5120" y="319405"/>
            <a:ext cx="37852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普及网络安全知识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8325" y="1746250"/>
            <a:ext cx="31788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核心概念理解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8960" y="2661920"/>
            <a:ext cx="3182620" cy="182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帮助参赛者理解网络安全的核心概念，如网络攻击、防御机制等。通过生动的案例讲解，使参赛者能够将理论知识与实际生活相结合。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8325" y="2587625"/>
            <a:ext cx="3178810" cy="0"/>
          </a:xfrm>
          <a:prstGeom prst="line">
            <a:avLst/>
          </a:prstGeom>
          <a:noFill/>
          <a:ln w="3175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68325" y="2498725"/>
            <a:ext cx="3178810" cy="0"/>
          </a:xfrm>
          <a:prstGeom prst="line">
            <a:avLst/>
          </a:prstGeom>
          <a:noFill/>
          <a:ln w="1270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0625" y="123380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rot="5400000">
            <a:off x="5269230" y="139509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3" name="Text 20"/>
          <p:cNvSpPr/>
          <p:nvPr/>
        </p:nvSpPr>
        <p:spPr>
          <a:xfrm rot="5400000">
            <a:off x="5269230" y="139509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86095" y="136271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日常应用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3185" y="170624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引导参赛者将网络安全知识应用到日常生活中，如安全上网、防范诈骗等。提高参赛者的网络安全意识，使其成为网络安全的践行者。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0625" y="370776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 rot="5400000">
            <a:off x="5269230" y="386905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9" name="Text 26"/>
          <p:cNvSpPr/>
          <p:nvPr/>
        </p:nvSpPr>
        <p:spPr>
          <a:xfrm rot="5400000">
            <a:off x="5269230" y="386905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86095" y="383667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知识传播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3185" y="418020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鼓励参赛者将所学网络安全知识传播给身边的人，形成良好的网络安全文化氛围，提升整个社会的网络安全意识。</a:t>
            </a: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897380"/>
            <a:ext cx="2682240" cy="3907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提升实践能力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084955" y="157480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84955" y="157480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07405" y="172466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实操演练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07405" y="207645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组织参赛者进行实际操作演练，如设置安全密码、安装杀毒软件等。通过实践操作，加深参赛者对网络安全知识的理解和掌握。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23080" y="179578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6" name="Text 12"/>
          <p:cNvSpPr/>
          <p:nvPr/>
        </p:nvSpPr>
        <p:spPr>
          <a:xfrm>
            <a:off x="4323080" y="179578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9610" y="205803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81125" y="2271395"/>
            <a:ext cx="2138971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案例分析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8112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通过分析真实的网络安全案例，让参赛者了解网络攻击的手段和防范方法。培养参赛者的分析问题和解决问题的能力。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084955" y="366776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84955" y="366776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07405" y="381762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907405" y="416941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鼓励参赛者在实践中探索新的网络安全技术和方法，培养创新思维和实践能力，为网络安全领域的发展贡献力量。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323080" y="388874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25" name="Text 21"/>
          <p:cNvSpPr/>
          <p:nvPr/>
        </p:nvSpPr>
        <p:spPr>
          <a:xfrm>
            <a:off x="4323080" y="388874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499610" y="415099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强化团队协作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8648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648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1318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分工协作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94130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针对团队参赛者，指导如何进行分工协作。明确每个成员的职责，发挥各自的优势，提高团队的整体效率。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63980" y="1902460"/>
            <a:ext cx="722630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00880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0880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27575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团队管理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8525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培养团队管理能力，包括项目进度管理、沟通协调等。通过有效的团队管理，确保参赛作品的顺利完成。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78375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1527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527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4197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协作能力提升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22920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通过团队协作项目，提升参赛者的沟通能力、协调能力和团队合作精神，培养未来网络安全领域的团队协作能力。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92770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参赛作品创作指导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贴近生活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658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作品主题选择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68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指导参赛者选择贴近实际生活的主题，如“家庭无线网络安全优化方案”。这样的主题容易引起共鸣，也便于参赛者进行创作。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512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3" name="Text 10"/>
          <p:cNvSpPr/>
          <p:nvPr/>
        </p:nvSpPr>
        <p:spPr>
          <a:xfrm>
            <a:off x="11512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808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08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075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创新性与实用性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885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强调作品的创新性和实用性。作品应具有独特的视角和实际应用价值，能够解决生活中的网络安全问题。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929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1" name="Text 18"/>
          <p:cNvSpPr/>
          <p:nvPr/>
        </p:nvSpPr>
        <p:spPr>
          <a:xfrm>
            <a:off x="45929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flipH="1">
            <a:off x="45923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3" name="Text 20"/>
          <p:cNvSpPr/>
          <p:nvPr/>
        </p:nvSpPr>
        <p:spPr>
          <a:xfrm>
            <a:off x="45923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225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225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492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主题拓展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302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鼓励参赛者从生活中的网络安全问题出发，拓展思维，挖掘更多具有创新性和实用性的作品主题，提升作品的竞争力。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0346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9" name="Text 26"/>
          <p:cNvSpPr/>
          <p:nvPr/>
        </p:nvSpPr>
        <p:spPr>
          <a:xfrm>
            <a:off x="80346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 flipH="1">
            <a:off x="80340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31" name="Text 28"/>
          <p:cNvSpPr/>
          <p:nvPr/>
        </p:nvSpPr>
        <p:spPr>
          <a:xfrm>
            <a:off x="80340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作品形式指导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2125" y="144113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虚拟作品形式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1960880"/>
            <a:ext cx="9794240" cy="713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针对动画、微视频、交互HTML等虚拟作品形式，提供技术培训。如视频剪辑工具的使用、HTML基础等，帮助参赛者更好地展示作品。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3886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31240" y="3383280"/>
            <a:ext cx="4586605" cy="640080"/>
          </a:xfrm>
          <a:prstGeom prst="round2SameRect">
            <a:avLst/>
          </a:prstGeom>
          <a:solidFill>
            <a:srgbClr val="5289ED"/>
          </a:solidFill>
        </p:spPr>
      </p:sp>
      <p:sp>
        <p:nvSpPr>
          <p:cNvPr id="17" name="Text 14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3645" y="3503930"/>
            <a:ext cx="420243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作品制作介绍PPT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1900" y="4069080"/>
            <a:ext cx="4185920" cy="9509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指导参赛者制作作品介绍PPT，包括作品设计背景、创新理念、实现方法等。PPT应简洁明了，突出作品的重点。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3410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26480" y="3383280"/>
            <a:ext cx="4586605" cy="640080"/>
          </a:xfrm>
          <a:prstGeom prst="round2SameRect">
            <a:avLst/>
          </a:prstGeom>
          <a:solidFill>
            <a:srgbClr val="5289ED"/>
          </a:solidFill>
        </p:spPr>
      </p:sp>
      <p:sp>
        <p:nvSpPr>
          <p:cNvPr id="23" name="Text 20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18885" y="3503930"/>
            <a:ext cx="420243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形式创新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27140" y="4069080"/>
            <a:ext cx="4185920" cy="9509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鼓励参赛者在作品形式上进行创新，尝试新颖的表现手法和技术手段，使作品更具吸引力和影响力。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21000000">
            <a:off x="461835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0" name="Text 7"/>
          <p:cNvSpPr/>
          <p:nvPr/>
        </p:nvSpPr>
        <p:spPr>
          <a:xfrm rot="21000000">
            <a:off x="46183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21000000">
            <a:off x="823531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 rot="21000000">
            <a:off x="82353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897380"/>
            <a:ext cx="2682240" cy="3907790"/>
          </a:xfrm>
          <a:prstGeom prst="rect">
            <a:avLst/>
          </a:prstGeom>
        </p:spPr>
      </p:pic>
      <p:pic>
        <p:nvPicPr>
          <p:cNvPr id="14" name="Image 2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910" y="1897380"/>
            <a:ext cx="2682240" cy="3907790"/>
          </a:xfrm>
          <a:prstGeom prst="rect">
            <a:avLst/>
          </a:prstGeom>
        </p:spPr>
      </p:pic>
      <p:pic>
        <p:nvPicPr>
          <p:cNvPr id="15" name="Image 3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870" y="1897380"/>
            <a:ext cx="2682240" cy="39077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作品核心要求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38112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科普性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81125" y="2927985"/>
            <a:ext cx="2176145" cy="16375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作品需向非专业人士清晰传达技术本质，避免过度简化或复杂化。通过通俗易懂的语言和生动的案例，让观众理解网络安全知识。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9808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实用性与扩展性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99808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鼓励作品具备实际应用价值，同时可尝试探索推广应用的潜力。如作品可应用于家庭、学校等场景，具有一定的推广价值。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61504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要求细化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61504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对作品的科普性、实用性与扩展性进行细化和量化，明确评价标准，帮助参赛者更好地把握作品的核心要求。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936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法律法规与伦理教育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相关法律法规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81597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 rot="5400000">
            <a:off x="81597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31240" y="177546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03124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64920" y="1833880"/>
            <a:ext cx="255651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《网络安全法》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6015" y="2593340"/>
            <a:ext cx="2814320" cy="13291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普及《网络安全法》的相关内容，如网络运营者的义务、网络安全等级保护制度等。让参赛者了解网络安全的法律框架。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17395" y="578358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201739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 rot="5400000">
            <a:off x="4349115" y="203771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7" name="Text 14"/>
          <p:cNvSpPr/>
          <p:nvPr/>
        </p:nvSpPr>
        <p:spPr>
          <a:xfrm rot="5400000">
            <a:off x="4349115" y="203771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64380" y="137922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19" name="Text 16"/>
          <p:cNvSpPr/>
          <p:nvPr/>
        </p:nvSpPr>
        <p:spPr>
          <a:xfrm>
            <a:off x="4564380" y="137922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98060" y="1437640"/>
            <a:ext cx="2556510" cy="5978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《未成年人网络保护条例》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69155" y="2197100"/>
            <a:ext cx="2814320" cy="13291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讲解《未成年人网络保护条例》对未成年人网络保护的要求，如网络素养教育、个人信息保护等。引导参赛者树立正确的网络行为观念。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550535" y="538734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5550535" y="538734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rot="5400000">
            <a:off x="788225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5" name="Text 22"/>
          <p:cNvSpPr/>
          <p:nvPr/>
        </p:nvSpPr>
        <p:spPr>
          <a:xfrm rot="5400000">
            <a:off x="788225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097520" y="177546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27" name="Text 24"/>
          <p:cNvSpPr/>
          <p:nvPr/>
        </p:nvSpPr>
        <p:spPr>
          <a:xfrm>
            <a:off x="809752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31200" y="1833880"/>
            <a:ext cx="255651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法律法规应用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02295" y="2593340"/>
            <a:ext cx="2814320" cy="10582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通过实际案例分析，展示如何在网络安全实践中应用相关法律法规，提高参赛者的法律意识和合规能力。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083675" y="578358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908367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400" y="1508760"/>
            <a:ext cx="3535680" cy="455676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400" y="1508760"/>
            <a:ext cx="3535680" cy="45567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5120" y="319405"/>
            <a:ext cx="378523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禁止抄袭与代做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8325" y="1746250"/>
            <a:ext cx="31788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原创性的重要性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8960" y="2661920"/>
            <a:ext cx="3182620" cy="1097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强调禁止抄袭、代做等行为，确保作品原创性。参赛者应独立完成作品，遵守学术道德规范。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8325" y="2587625"/>
            <a:ext cx="3178810" cy="0"/>
          </a:xfrm>
          <a:prstGeom prst="line">
            <a:avLst/>
          </a:prstGeom>
          <a:noFill/>
          <a:ln w="3175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68325" y="2498725"/>
            <a:ext cx="3178810" cy="0"/>
          </a:xfrm>
          <a:prstGeom prst="line">
            <a:avLst/>
          </a:prstGeom>
          <a:noFill/>
          <a:ln w="1270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0625" y="123380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rot="5400000">
            <a:off x="5269230" y="139509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3" name="Text 20"/>
          <p:cNvSpPr/>
          <p:nvPr/>
        </p:nvSpPr>
        <p:spPr>
          <a:xfrm rot="5400000">
            <a:off x="5269230" y="139509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86095" y="136271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学术诚信教育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3185" y="170624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讲解原创性的重要性，如培养创新能力、树立诚信意识等。鼓励参赛者发挥自己的创造力，创作出独特的作品。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0625" y="370776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 rot="5400000">
            <a:off x="5269230" y="386905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9" name="Text 26"/>
          <p:cNvSpPr/>
          <p:nvPr/>
        </p:nvSpPr>
        <p:spPr>
          <a:xfrm rot="5400000">
            <a:off x="5269230" y="386905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86095" y="383667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违规后果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3185" y="418020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明确抄袭、代做等违规行为的严重后果，包括取消参赛资格、影响个人信誉等，警示参赛者遵守比赛规则。</a:t>
            </a: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实战演练与反馈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897380"/>
            <a:ext cx="2682240" cy="3907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模拟答辩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084955" y="157480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84955" y="157480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07405" y="172466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专家点评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07405" y="207645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专家从作品的创新性、实用性、技术实现等方面进行点评，指出作品的优点和不足，提出改进建议。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23080" y="179578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6" name="Text 12"/>
          <p:cNvSpPr/>
          <p:nvPr/>
        </p:nvSpPr>
        <p:spPr>
          <a:xfrm>
            <a:off x="4323080" y="179578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9610" y="205803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81125" y="2271395"/>
            <a:ext cx="2138971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作品展示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8112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组织模拟答辩，邀请专家对参赛作品进行点评。参赛者可以通过模拟答辩，了解自己的不足之处，及时进行改进。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084955" y="366776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84955" y="366776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07405" y="381762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907405" y="416941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根据专家点评，参赛者对作品进行针对性改进，提升作品质量和竞争力。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323080" y="388874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25" name="Text 21"/>
          <p:cNvSpPr/>
          <p:nvPr/>
        </p:nvSpPr>
        <p:spPr>
          <a:xfrm>
            <a:off x="4323080" y="388874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499610" y="415099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问答准备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8648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648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1318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现场提问环节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94130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针对决赛中的现场提问环节，进行针对性训练。参赛者应提前准备好可能被问到的问题，如作品的创新点、技术实现等。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63980" y="1902460"/>
            <a:ext cx="722630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00880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0880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27575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8525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讲解应对策略，如保持冷静、条理清晰地回答问题等。参赛者应根据问题的类型，灵活运用所学知识进行回答。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78375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1527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527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4197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模拟练习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22920" y="3165475"/>
            <a:ext cx="2694940" cy="8961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组织模拟问答练习，让参赛者熟悉现场提问的氛围和流程，提高应变能力和答题技巧。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92770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样本示例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钓鱼猎人：网络安全教育模拟系统</a:t>
            </a:r>
            <a:endParaRPr 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伍芷颐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1365885" y="1803400"/>
            <a:ext cx="2655570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钓鱼猎人：网络安全教育模拟系统。</a:t>
            </a:r>
            <a:endParaRPr lang="en-US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b="1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346835" y="2135505"/>
            <a:ext cx="269494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通过模拟真实钓鱼攻击场景（邮件+网站），帮助用户（尤其是中小学生）直观理解钓鱼攻击的运作原理，提升识别能力。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11512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3" name="Text 10"/>
          <p:cNvSpPr/>
          <p:nvPr/>
        </p:nvSpPr>
        <p:spPr>
          <a:xfrm>
            <a:off x="11512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pic>
        <p:nvPicPr>
          <p:cNvPr id="33" name="图片 32" descr="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1803400"/>
            <a:ext cx="6991985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537210" y="1844040"/>
          <a:ext cx="4030980" cy="3211830"/>
        </p:xfrm>
        <a:graphic>
          <a:graphicData uri="http://schemas.openxmlformats.org/drawingml/2006/table">
            <a:tbl>
              <a:tblPr/>
              <a:tblGrid>
                <a:gridCol w="497840"/>
                <a:gridCol w="1661160"/>
                <a:gridCol w="1871980"/>
              </a:tblGrid>
              <a:tr h="2921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OSI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作品中的技术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功能体现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应用层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SMTP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HTTP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Web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界面、数据分析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邮件伪造、网站克隆、用户反馈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表示层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邮件头解析、数据编码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邮件内容处理、表单数据格式化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会话层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Flask Session/Cookie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用户交互状态管理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传输层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TCP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HTTP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请求）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可靠传输表单数据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网络层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IP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路由、域名解析 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虚假网站访问、本地网络隔离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图片 16" descr="C:/Users/伍芷颐/Desktop/2.png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1399" b="11399"/>
          <a:stretch>
            <a:fillRect/>
          </a:stretch>
        </p:blipFill>
        <p:spPr>
          <a:xfrm>
            <a:off x="4908550" y="524510"/>
            <a:ext cx="7105015" cy="3122295"/>
          </a:xfrm>
          <a:prstGeom prst="rect">
            <a:avLst/>
          </a:prstGeom>
        </p:spPr>
      </p:pic>
      <p:pic>
        <p:nvPicPr>
          <p:cNvPr id="20" name="图片 19" descr="C:/Users/伍芷颐/Desktop/3.png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4684" b="14684"/>
          <a:stretch>
            <a:fillRect/>
          </a:stretch>
        </p:blipFill>
        <p:spPr>
          <a:xfrm>
            <a:off x="4915535" y="3646805"/>
            <a:ext cx="7098030" cy="28530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9083526" y="5731141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防诈电话</a:t>
            </a:r>
            <a:r>
              <a:rPr lang="zh-CN" altLang="en-US" sz="6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模拟器</a:t>
            </a:r>
            <a:endParaRPr lang="zh-CN" altLang="en-US" sz="60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裴丽洁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4"/>
            </p:custDataLst>
          </p:nvPr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762125" y="144113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作品示例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1016000" y="1960880"/>
            <a:ext cx="979424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 (正文)" charset="0"/>
                <a:ea typeface="等线 (正文)" charset="0"/>
                <a:cs typeface="MiSans" pitchFamily="34" charset="-120"/>
              </a:rPr>
              <a:t>防诈电话模拟器</a:t>
            </a:r>
            <a:endParaRPr lang="en-US" sz="1600" dirty="0">
              <a:latin typeface="等线 (正文)" charset="0"/>
              <a:ea typeface="等线 (正文)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18885" y="3503930"/>
            <a:ext cx="42024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作品介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8654266" y="5752096"/>
            <a:ext cx="3200399" cy="1066800"/>
          </a:xfrm>
          <a:prstGeom prst="rect">
            <a:avLst/>
          </a:prstGeom>
        </p:spPr>
      </p:pic>
      <p:sp>
        <p:nvSpPr>
          <p:cNvPr id="31" name="Shape 5"/>
          <p:cNvSpPr/>
          <p:nvPr>
            <p:custDataLst>
              <p:tags r:id="rId9"/>
            </p:custDataLst>
          </p:nvPr>
        </p:nvSpPr>
        <p:spPr>
          <a:xfrm>
            <a:off x="1016000" y="265049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2" name="Text 6"/>
          <p:cNvSpPr/>
          <p:nvPr/>
        </p:nvSpPr>
        <p:spPr>
          <a:xfrm>
            <a:off x="1016000" y="26504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7"/>
          <p:cNvSpPr/>
          <p:nvPr>
            <p:custDataLst>
              <p:tags r:id="rId10"/>
            </p:custDataLst>
          </p:nvPr>
        </p:nvSpPr>
        <p:spPr>
          <a:xfrm>
            <a:off x="1342674" y="265049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4" name="Text 8"/>
          <p:cNvSpPr/>
          <p:nvPr/>
        </p:nvSpPr>
        <p:spPr>
          <a:xfrm>
            <a:off x="1342674" y="26504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Text 9"/>
          <p:cNvSpPr/>
          <p:nvPr>
            <p:custDataLst>
              <p:tags r:id="rId11"/>
            </p:custDataLst>
          </p:nvPr>
        </p:nvSpPr>
        <p:spPr>
          <a:xfrm>
            <a:off x="1762125" y="2618423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6" name="Text 10"/>
          <p:cNvSpPr/>
          <p:nvPr>
            <p:custDataLst>
              <p:tags r:id="rId12"/>
            </p:custDataLst>
          </p:nvPr>
        </p:nvSpPr>
        <p:spPr>
          <a:xfrm>
            <a:off x="1054735" y="3055620"/>
            <a:ext cx="4385310" cy="8655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dirty="0">
                <a:sym typeface="+mn-ea"/>
              </a:rPr>
              <a:t>通过模拟真实来电场景，让用户在交互式挑战中学习识别并应对电话诈骗</a:t>
            </a:r>
            <a:endParaRPr lang="en-US" sz="1600" dirty="0"/>
          </a:p>
        </p:txBody>
      </p:sp>
      <p:sp>
        <p:nvSpPr>
          <p:cNvPr id="37" name="Shape 5"/>
          <p:cNvSpPr/>
          <p:nvPr>
            <p:custDataLst>
              <p:tags r:id="rId13"/>
            </p:custDataLst>
          </p:nvPr>
        </p:nvSpPr>
        <p:spPr>
          <a:xfrm>
            <a:off x="1000760" y="400558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8" name="Text 6"/>
          <p:cNvSpPr/>
          <p:nvPr/>
        </p:nvSpPr>
        <p:spPr>
          <a:xfrm>
            <a:off x="1000760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Shape 7"/>
          <p:cNvSpPr/>
          <p:nvPr>
            <p:custDataLst>
              <p:tags r:id="rId14"/>
            </p:custDataLst>
          </p:nvPr>
        </p:nvSpPr>
        <p:spPr>
          <a:xfrm>
            <a:off x="1327434" y="400558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40" name="Text 8"/>
          <p:cNvSpPr/>
          <p:nvPr/>
        </p:nvSpPr>
        <p:spPr>
          <a:xfrm>
            <a:off x="1327434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1" name="Text 9"/>
          <p:cNvSpPr/>
          <p:nvPr>
            <p:custDataLst>
              <p:tags r:id="rId15"/>
            </p:custDataLst>
          </p:nvPr>
        </p:nvSpPr>
        <p:spPr>
          <a:xfrm>
            <a:off x="1746885" y="397351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作品示例</a:t>
            </a:r>
            <a:endParaRPr lang="en-US" sz="1600" dirty="0"/>
          </a:p>
        </p:txBody>
      </p:sp>
      <p:sp>
        <p:nvSpPr>
          <p:cNvPr id="42" name="Text 14"/>
          <p:cNvSpPr/>
          <p:nvPr/>
        </p:nvSpPr>
        <p:spPr>
          <a:xfrm>
            <a:off x="1016000" y="591566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4" name="Text 6"/>
          <p:cNvSpPr/>
          <p:nvPr/>
        </p:nvSpPr>
        <p:spPr>
          <a:xfrm>
            <a:off x="1000760" y="518287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8" name="Text 10"/>
          <p:cNvSpPr/>
          <p:nvPr>
            <p:custDataLst>
              <p:tags r:id="rId16"/>
            </p:custDataLst>
          </p:nvPr>
        </p:nvSpPr>
        <p:spPr>
          <a:xfrm>
            <a:off x="1032510" y="4439920"/>
            <a:ext cx="4359910" cy="1252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dirty="0">
                <a:sym typeface="+mn-ea"/>
              </a:rPr>
              <a:t>提升对陌生电话的警惕性，训练快速判断危险场景的能力，普及</a:t>
            </a:r>
            <a:r>
              <a:rPr lang="en-US" altLang="zh-CN" dirty="0">
                <a:sym typeface="+mn-ea"/>
              </a:rPr>
              <a:t>"</a:t>
            </a:r>
            <a:r>
              <a:rPr lang="zh-CN" altLang="en-US" dirty="0">
                <a:sym typeface="+mn-ea"/>
              </a:rPr>
              <a:t>不透露个人信息、不转账</a:t>
            </a:r>
            <a:r>
              <a:rPr lang="en-US" altLang="zh-CN" dirty="0">
                <a:sym typeface="+mn-ea"/>
              </a:rPr>
              <a:t>"</a:t>
            </a:r>
            <a:r>
              <a:rPr lang="zh-CN" altLang="en-US" dirty="0">
                <a:sym typeface="+mn-ea"/>
              </a:rPr>
              <a:t>的安全原则</a:t>
            </a:r>
            <a:endParaRPr lang="en-US" sz="1600" dirty="0"/>
          </a:p>
        </p:txBody>
      </p:sp>
      <p:graphicFrame>
        <p:nvGraphicFramePr>
          <p:cNvPr id="49" name="对象 48"/>
          <p:cNvGraphicFramePr/>
          <p:nvPr/>
        </p:nvGraphicFramePr>
        <p:xfrm>
          <a:off x="6605270" y="748030"/>
          <a:ext cx="4932045" cy="5116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7" imgW="3691890" imgH="3827780" progId="Visio.Drawing.15">
                  <p:embed/>
                </p:oleObj>
              </mc:Choice>
              <mc:Fallback>
                <p:oleObj name="" r:id="rId17" imgW="3691890" imgH="3827780" progId="Visio.Drawing.15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05270" y="748030"/>
                        <a:ext cx="4932045" cy="5116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1"/>
          <p:cNvSpPr/>
          <p:nvPr/>
        </p:nvSpPr>
        <p:spPr>
          <a:xfrm>
            <a:off x="8597265" y="2524125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整体流程思路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"/>
          <p:cNvSpPr/>
          <p:nvPr/>
        </p:nvSpPr>
        <p:spPr>
          <a:xfrm>
            <a:off x="4704080" y="1561465"/>
            <a:ext cx="7198360" cy="513588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4040" y="65532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Visual Studio Code (VS Code)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6" name="图片 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98575" y="2032000"/>
            <a:ext cx="2165350" cy="13385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820" y="3862070"/>
            <a:ext cx="4458970" cy="2642235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7"/>
            </p:custDataLst>
          </p:nvPr>
        </p:nvSpPr>
        <p:spPr>
          <a:xfrm>
            <a:off x="4810760" y="1812290"/>
            <a:ext cx="6985635" cy="47898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轻量级但强大：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微软开发的免费、开源、跨平台（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Win/Mac/Linux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）代码编辑器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核心优势：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智能感知：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代码自动补全、语法高亮、错误提示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(IntelliSense)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海量扩展：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通过插件市场安装各种工具（语言支持、调试器、主题等）。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内置终端：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直接在编辑器里运行命令。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集成调试：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方便地设置断点、检查变量。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版本控制集成：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支持，方便管理代码变更。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几乎适用于所有编程语言（尤其前端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开发如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JavaScript/HTML/CSS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的绝佳选择）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"/>
          <p:cNvSpPr/>
          <p:nvPr/>
        </p:nvSpPr>
        <p:spPr>
          <a:xfrm>
            <a:off x="4704080" y="1561465"/>
            <a:ext cx="7198360" cy="513588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4040" y="65532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JavaScript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1"/>
          <p:cNvSpPr/>
          <p:nvPr>
            <p:custDataLst>
              <p:tags r:id="rId3"/>
            </p:custDataLst>
          </p:nvPr>
        </p:nvSpPr>
        <p:spPr>
          <a:xfrm>
            <a:off x="4810760" y="1506855"/>
            <a:ext cx="6985635" cy="47898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定位：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主要用于网页交互性的脚本编程语言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核心特性：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运行环境：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主要在浏览器中执行（如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Chrome, Firefox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），也可在服务器端（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Node.js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）或桌面端运行。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让网页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起来！处理用户点击、输入、动画、数据更新等。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HTML/CSS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网页的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骨架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”(HTML) + 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样式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”(CSS) + 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”(JavaScript)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动态类型：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变量类型灵活（无需提前声明类型）。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事件驱动：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响应用户或系统发生的事件（如点击按钮、页面加载完成）。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异步编程：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擅长处理耗时操作（如网络请求）而不阻塞页面。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基础用途举例：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表单验证（检查输入是否正确）、创建动态内容（如更新新闻列表）、操作网页元素（显示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隐藏、改变样式）、响应用户操作（点击、鼠标移动）、与服务器通信（获取或发送数据）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63650" y="2336800"/>
            <a:ext cx="2472690" cy="19653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4445" y="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4040" y="65532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最终界面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展示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329055"/>
            <a:ext cx="4437380" cy="12979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" y="2840990"/>
            <a:ext cx="4455795" cy="2014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" y="5069840"/>
            <a:ext cx="4431030" cy="17202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065" y="1932305"/>
            <a:ext cx="5574030" cy="43751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</a:t>
            </a: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维吉尼亚密码</a:t>
            </a:r>
            <a:r>
              <a:rPr lang="zh-CN" alt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工具</a:t>
            </a:r>
            <a:endParaRPr lang="zh-CN" alt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卢冠宇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14725" y="895985"/>
            <a:ext cx="6753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简介</a:t>
            </a:r>
            <a:r>
              <a:rPr lang="en-US" altLang="zh-CN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“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维吉尼亚密码工具</a:t>
            </a:r>
            <a:r>
              <a:rPr lang="en-US" altLang="zh-CN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”</a:t>
            </a:r>
            <a:endParaRPr lang="en-US" altLang="zh-CN" sz="2400" b="1" dirty="0">
              <a:solidFill>
                <a:schemeClr val="accent2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43" name="图片 42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1060" y="1407160"/>
            <a:ext cx="4941570" cy="5441950"/>
          </a:xfrm>
          <a:prstGeom prst="rect">
            <a:avLst/>
          </a:prstGeom>
        </p:spPr>
      </p:pic>
      <p:sp>
        <p:nvSpPr>
          <p:cNvPr id="44" name="TextBox 28"/>
          <p:cNvSpPr txBox="1"/>
          <p:nvPr>
            <p:custDataLst>
              <p:tags r:id="rId6"/>
            </p:custDataLst>
          </p:nvPr>
        </p:nvSpPr>
        <p:spPr>
          <a:xfrm>
            <a:off x="6189266" y="128843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项目</a:t>
            </a: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背景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5" name="TextBox 30"/>
          <p:cNvSpPr txBox="1"/>
          <p:nvPr>
            <p:custDataLst>
              <p:tags r:id="rId7"/>
            </p:custDataLst>
          </p:nvPr>
        </p:nvSpPr>
        <p:spPr>
          <a:xfrm>
            <a:off x="6189345" y="1783080"/>
            <a:ext cx="4922520" cy="1569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3060"/>
              </a:lnSpc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古典密码学是密码学的基础，维吉尼亚密码是多表替换密码的典型代表。同时，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  <a:sym typeface="+mn-ea"/>
              </a:rPr>
              <a:t>维吉尼亚密码是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由法国密码学家布莱斯</a:t>
            </a:r>
            <a:r>
              <a:rPr lang="ja-JP" altLang="en-US" spc="44">
                <a:solidFill>
                  <a:srgbClr val="545454"/>
                </a:solidFill>
                <a:ea typeface="字由点字典黑 45J" panose="00020600040101010101" charset="-122"/>
              </a:rPr>
              <a:t>・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德</a:t>
            </a:r>
            <a:r>
              <a:rPr lang="ja-JP" altLang="en-US" spc="44">
                <a:solidFill>
                  <a:srgbClr val="545454"/>
                </a:solidFill>
                <a:ea typeface="字由点字典黑 45J" panose="00020600040101010101" charset="-122"/>
              </a:rPr>
              <a:t>・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维吉尼亚于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1586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年发明。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46" name="TextBox 28"/>
          <p:cNvSpPr txBox="1"/>
          <p:nvPr>
            <p:custDataLst>
              <p:tags r:id="rId8"/>
            </p:custDataLst>
          </p:nvPr>
        </p:nvSpPr>
        <p:spPr>
          <a:xfrm>
            <a:off x="6189266" y="3289317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算法原理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7" name="TextBox 30"/>
          <p:cNvSpPr txBox="1"/>
          <p:nvPr>
            <p:custDataLst>
              <p:tags r:id="rId9"/>
            </p:custDataLst>
          </p:nvPr>
        </p:nvSpPr>
        <p:spPr>
          <a:xfrm>
            <a:off x="6164501" y="4051546"/>
            <a:ext cx="7955436" cy="117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多表替换密码，相比凯撒密码更安全；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加密公式：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C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= (P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+ K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ᵢₘₒ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𝒹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ₗₑₙ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(K)) mod 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；</a:t>
            </a:r>
            <a:endParaRPr lang="en-US" altLang="zh-CN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解密公式：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P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= (C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- K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ᵢₘₒ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𝒹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ₗₑₙ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(K)) mod 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48" name="TextBox 28"/>
          <p:cNvSpPr txBox="1"/>
          <p:nvPr>
            <p:custDataLst>
              <p:tags r:id="rId10"/>
            </p:custDataLst>
          </p:nvPr>
        </p:nvSpPr>
        <p:spPr>
          <a:xfrm>
            <a:off x="6189266" y="536894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应用场景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9" name="TextBox 30"/>
          <p:cNvSpPr txBox="1"/>
          <p:nvPr>
            <p:custDataLst>
              <p:tags r:id="rId11"/>
            </p:custDataLst>
          </p:nvPr>
        </p:nvSpPr>
        <p:spPr>
          <a:xfrm>
            <a:off x="6147991" y="6030841"/>
            <a:ext cx="79554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3060"/>
              </a:lnSpc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历史上曾广泛用于军事和外交通信。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0215" y="1178560"/>
            <a:ext cx="6129020" cy="5113655"/>
          </a:xfrm>
          <a:prstGeom prst="rect">
            <a:avLst/>
          </a:prstGeom>
        </p:spPr>
      </p:pic>
      <p:sp>
        <p:nvSpPr>
          <p:cNvPr id="25" name="TextBox 22"/>
          <p:cNvSpPr txBox="1"/>
          <p:nvPr>
            <p:custDataLst>
              <p:tags r:id="rId6"/>
            </p:custDataLst>
          </p:nvPr>
        </p:nvSpPr>
        <p:spPr>
          <a:xfrm>
            <a:off x="7230842" y="111673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前端技术栈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26" name="TextBox 23"/>
          <p:cNvSpPr txBox="1"/>
          <p:nvPr>
            <p:custDataLst>
              <p:tags r:id="rId7"/>
            </p:custDataLst>
          </p:nvPr>
        </p:nvSpPr>
        <p:spPr>
          <a:xfrm>
            <a:off x="6976842" y="1808270"/>
            <a:ext cx="7252733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HTML5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语义化结构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Tailwind CSS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样式框架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JavaScript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逻辑实现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Font Awesome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图标库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27" name="TextBox 22"/>
          <p:cNvSpPr txBox="1"/>
          <p:nvPr>
            <p:custDataLst>
              <p:tags r:id="rId8"/>
            </p:custDataLst>
          </p:nvPr>
        </p:nvSpPr>
        <p:spPr>
          <a:xfrm>
            <a:off x="7230842" y="393232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核心算法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28" name="TextBox 23"/>
          <p:cNvSpPr txBox="1"/>
          <p:nvPr>
            <p:custDataLst>
              <p:tags r:id="rId9"/>
            </p:custDataLst>
          </p:nvPr>
        </p:nvSpPr>
        <p:spPr>
          <a:xfrm>
            <a:off x="6976842" y="4880400"/>
            <a:ext cx="7252733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字符编码转换（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A-Z 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↔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0-25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）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密钥循环匹配机制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模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运算实现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历史记录管理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104765" y="569595"/>
            <a:ext cx="6753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细节</a:t>
            </a:r>
            <a:endParaRPr lang="zh-CN" altLang="en-US" sz="2400" b="1" dirty="0">
              <a:solidFill>
                <a:schemeClr val="accent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4360" y="1039495"/>
            <a:ext cx="10309225" cy="4732655"/>
          </a:xfrm>
          <a:prstGeom prst="rect">
            <a:avLst/>
          </a:prstGeom>
        </p:spPr>
      </p:pic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94445" y="730250"/>
            <a:ext cx="14052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</a:t>
            </a:r>
            <a:endParaRPr lang="zh-CN" altLang="en-US" sz="2400" b="1" dirty="0">
              <a:solidFill>
                <a:schemeClr val="accent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185" t="13452" r="6989" b="11434"/>
          <a:stretch>
            <a:fillRect/>
          </a:stretch>
        </p:blipFill>
        <p:spPr>
          <a:xfrm>
            <a:off x="-27940" y="0"/>
            <a:ext cx="12219940" cy="68999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8745" y="1059815"/>
            <a:ext cx="6340475" cy="58750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23660" y="1527810"/>
            <a:ext cx="7028180" cy="537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3035" y="1049020"/>
            <a:ext cx="10138410" cy="542671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9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5430" y="1443990"/>
            <a:ext cx="9784080" cy="519620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10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</a:t>
            </a: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数学与密码：矩阵密码转换器</a:t>
            </a:r>
            <a:endParaRPr lang="zh-CN" alt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任姝彧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2125" y="1441450"/>
            <a:ext cx="6753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简介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“</a:t>
            </a: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数学与密码：矩阵密码转换器”</a:t>
            </a:r>
            <a:endParaRPr lang="en-US" altLang="zh-CN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6000" y="1960880"/>
            <a:ext cx="9794240" cy="810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通过可视化的方式展示一个基于矩阵操作和ASCII转换的密码编码/解码算法，帮助大家理解什么是密码转换。</a:t>
            </a:r>
            <a:endParaRPr lang="en-US" sz="1600" dirty="0"/>
          </a:p>
        </p:txBody>
      </p:sp>
      <p:sp>
        <p:nvSpPr>
          <p:cNvPr id="26" name="Shape 5"/>
          <p:cNvSpPr/>
          <p:nvPr>
            <p:custDataLst>
              <p:tags r:id="rId3"/>
            </p:custDataLst>
          </p:nvPr>
        </p:nvSpPr>
        <p:spPr>
          <a:xfrm>
            <a:off x="1086485" y="3099435"/>
            <a:ext cx="3119120" cy="344868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7" name="Text 6"/>
          <p:cNvSpPr/>
          <p:nvPr/>
        </p:nvSpPr>
        <p:spPr>
          <a:xfrm>
            <a:off x="1086485" y="3157855"/>
            <a:ext cx="3119120" cy="33902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7"/>
          <p:cNvSpPr/>
          <p:nvPr>
            <p:custDataLst>
              <p:tags r:id="rId4"/>
            </p:custDataLst>
          </p:nvPr>
        </p:nvSpPr>
        <p:spPr>
          <a:xfrm>
            <a:off x="1313180" y="3141980"/>
            <a:ext cx="265557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</a:t>
            </a:r>
            <a:endParaRPr lang="zh-CN" altLang="en-US" sz="1800" b="1" dirty="0">
              <a:solidFill>
                <a:srgbClr val="175BD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8"/>
          <p:cNvSpPr/>
          <p:nvPr>
            <p:custDataLst>
              <p:tags r:id="rId5"/>
            </p:custDataLst>
          </p:nvPr>
        </p:nvSpPr>
        <p:spPr>
          <a:xfrm>
            <a:off x="1294130" y="3710305"/>
            <a:ext cx="2694940" cy="1468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通过可视化的方式展示一个基于矩阵操作和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ASCII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转换的密码编码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解码算法，帮助大家理解什么是密码转换。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10"/>
          <p:cNvSpPr/>
          <p:nvPr>
            <p:custDataLst>
              <p:tags r:id="rId6"/>
            </p:custDataLst>
          </p:nvPr>
        </p:nvSpPr>
        <p:spPr>
          <a:xfrm>
            <a:off x="4500880" y="3089275"/>
            <a:ext cx="3119120" cy="345884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33" name="Text 11"/>
          <p:cNvSpPr/>
          <p:nvPr/>
        </p:nvSpPr>
        <p:spPr>
          <a:xfrm>
            <a:off x="4500880" y="235394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Text 12"/>
          <p:cNvSpPr/>
          <p:nvPr>
            <p:custDataLst>
              <p:tags r:id="rId7"/>
            </p:custDataLst>
          </p:nvPr>
        </p:nvSpPr>
        <p:spPr>
          <a:xfrm>
            <a:off x="4727575" y="3141980"/>
            <a:ext cx="265557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概念</a:t>
            </a:r>
            <a:r>
              <a:rPr lang="en-US" altLang="zh-CN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tips-1</a:t>
            </a:r>
            <a:endParaRPr lang="en-US" altLang="zh-CN" sz="1800" b="1" dirty="0">
              <a:solidFill>
                <a:srgbClr val="175BD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Text 13"/>
          <p:cNvSpPr/>
          <p:nvPr>
            <p:custDataLst>
              <p:tags r:id="rId8"/>
            </p:custDataLst>
          </p:nvPr>
        </p:nvSpPr>
        <p:spPr>
          <a:xfrm>
            <a:off x="4708525" y="3660775"/>
            <a:ext cx="2694940" cy="25507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矩阵：矩阵像一张网格，每个元素都有自己的位置，这个位置就用它所在的行列数表示；其转置就是交换行列数，相当于把网格旋转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度，原来的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，原来的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变成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Shape 15"/>
          <p:cNvSpPr/>
          <p:nvPr>
            <p:custDataLst>
              <p:tags r:id="rId9"/>
            </p:custDataLst>
          </p:nvPr>
        </p:nvSpPr>
        <p:spPr>
          <a:xfrm>
            <a:off x="7915275" y="3098800"/>
            <a:ext cx="3119120" cy="3449320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38" name="Text 16"/>
          <p:cNvSpPr/>
          <p:nvPr/>
        </p:nvSpPr>
        <p:spPr>
          <a:xfrm>
            <a:off x="7915275" y="3079115"/>
            <a:ext cx="3119120" cy="34690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Text 17"/>
          <p:cNvSpPr/>
          <p:nvPr>
            <p:custDataLst>
              <p:tags r:id="rId10"/>
            </p:custDataLst>
          </p:nvPr>
        </p:nvSpPr>
        <p:spPr>
          <a:xfrm>
            <a:off x="8141970" y="3141980"/>
            <a:ext cx="265557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概念</a:t>
            </a:r>
            <a:r>
              <a:rPr lang="en-US" altLang="zh-CN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tips-2</a:t>
            </a:r>
            <a:endParaRPr lang="en-US" sz="1600" dirty="0"/>
          </a:p>
        </p:txBody>
      </p:sp>
      <p:sp>
        <p:nvSpPr>
          <p:cNvPr id="40" name="Text 18"/>
          <p:cNvSpPr/>
          <p:nvPr>
            <p:custDataLst>
              <p:tags r:id="rId11"/>
            </p:custDataLst>
          </p:nvPr>
        </p:nvSpPr>
        <p:spPr>
          <a:xfrm>
            <a:off x="8122920" y="3652520"/>
            <a:ext cx="2694940" cy="2846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ACSII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码：是给字符（如字母、数字、符号）编的数字代号，比如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65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97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48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ASCII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码相加减本质是字符对应的数字运算，结果仍是某个字符的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码。例如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A(65)+3=68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c(99)-2=97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3"/>
            </p:custDataLst>
          </p:nvPr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4"/>
            </p:custDataLst>
          </p:nvPr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初中组</a:t>
            </a:r>
            <a:endParaRPr lang="en-US" sz="1600" dirty="0"/>
          </a:p>
        </p:txBody>
      </p:sp>
      <p:pic>
        <p:nvPicPr>
          <p:cNvPr id="27" name="图片 26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9575" y="788670"/>
            <a:ext cx="2872800" cy="28800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143875" y="603885"/>
            <a:ext cx="2872800" cy="30371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49590" y="3799205"/>
            <a:ext cx="2872800" cy="3043229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09575" y="3799205"/>
            <a:ext cx="2872796" cy="28800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3357880" y="1629410"/>
            <a:ext cx="21259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进入页面，根据右侧规则说明输入想要加密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解密的密码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5"/>
            </p:custDataLst>
          </p:nvPr>
        </p:nvSpPr>
        <p:spPr>
          <a:xfrm>
            <a:off x="5813425" y="1629410"/>
            <a:ext cx="21259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对密码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AZkl9863e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进行加密，得到加密内容为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Bm7A04l9f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，根据右侧转换过程可以清晰看到密码的加密过程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3484880" y="4504055"/>
            <a:ext cx="21259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当输入无效字符（此处为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@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）时，页面会给出错误提示，可以根据提示重新输入自己的密码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7"/>
            </p:custDataLst>
          </p:nvPr>
        </p:nvSpPr>
        <p:spPr>
          <a:xfrm>
            <a:off x="5940425" y="4227195"/>
            <a:ext cx="21259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对密码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Bm7A04l9f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进行解密，得到解密内容为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AZkl9863e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，与第二步的加密步骤互为逆过程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</a:t>
            </a: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SSH</a:t>
            </a: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暴力攻击实时对抗演示系统</a:t>
            </a:r>
            <a:endParaRPr lang="zh-CN" alt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裴丽洁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4835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580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8195" y="211645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作品简介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9145" y="2773045"/>
            <a:ext cx="2176145" cy="1849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作品名称：SSH暴力攻击实时对抗演示系统</a:t>
            </a:r>
            <a:endParaRPr 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作品目的：可视化展示SSH暴力攻击原理、实时检测技术及自动化防御机制，提升学生对网络安全防护的实践认知。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365" y="1407795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16980" y="2044700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防御机制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97930" y="2701290"/>
            <a:ext cx="2176145" cy="2715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Wazuh安全监控。功能定位：开源安全监控（XDR/SIEM），实时日志分析 + 文件完整性检测 + 漏洞扫描。检测逻辑：监控认证日志（如/var/log/auth.log），识别异常：高频失败登录、非常规IP访问。告警机制：触发规则 → 生成安全事件 → 实时告警。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9190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1052195" y="2356485"/>
            <a:ext cx="3248660" cy="435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暴力攻击实时对抗演示系统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1"/>
          <p:cNvSpPr/>
          <p:nvPr/>
        </p:nvSpPr>
        <p:spPr>
          <a:xfrm>
            <a:off x="658495" y="1928495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作品名称</a:t>
            </a:r>
            <a:endParaRPr lang="en-US" altLang="en-US" sz="1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sp>
        <p:nvSpPr>
          <p:cNvPr id="26" name="Text 0"/>
          <p:cNvSpPr/>
          <p:nvPr/>
        </p:nvSpPr>
        <p:spPr>
          <a:xfrm>
            <a:off x="5361940" y="2469515"/>
            <a:ext cx="5042535" cy="779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可视化展示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暴力攻击原理、实时检测技术及自动化防御机制，提升学生对网络安全防护的实践认知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968240" y="2041525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algn="l">
              <a:lnSpc>
                <a:spcPct val="160000"/>
              </a:lnSpc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作品目的</a:t>
            </a:r>
            <a:endParaRPr 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Text 0"/>
          <p:cNvSpPr/>
          <p:nvPr/>
        </p:nvSpPr>
        <p:spPr>
          <a:xfrm>
            <a:off x="1052195" y="3824605"/>
            <a:ext cx="8373110" cy="779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教学价值：为学校网络安全课程提供互动教学案例，直观理解攻击检测与主动防御流程。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实用价值：演示的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防御方案可直接应用于校园服务器防护，抵御暴力破解攻击。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58495" y="3396615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algn="l">
              <a:lnSpc>
                <a:spcPct val="160000"/>
              </a:lnSpc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应用价值</a:t>
            </a:r>
            <a:endParaRPr 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31" name="图片 1" descr="deepseek_mermaid_20250723_cd840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4005" y="5432425"/>
            <a:ext cx="11190605" cy="5575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5910" y="1100455"/>
            <a:ext cx="6720205" cy="4199255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5"/>
            </p:custDataLst>
          </p:nvPr>
        </p:nvSpPr>
        <p:spPr>
          <a:xfrm>
            <a:off x="7325995" y="889635"/>
            <a:ext cx="4366260" cy="4583430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4" name="Text 1"/>
          <p:cNvSpPr/>
          <p:nvPr>
            <p:custDataLst>
              <p:tags r:id="rId6"/>
            </p:custDataLst>
          </p:nvPr>
        </p:nvSpPr>
        <p:spPr>
          <a:xfrm>
            <a:off x="7341235" y="963930"/>
            <a:ext cx="4399280" cy="47561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Kali Linux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（渗透测试标准平台）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字典爆破：通过预生成密码库（如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rockyou.txt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）暴力破解认证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常用工具：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hydra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john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hashcat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收集目标信息（如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SSH/FTP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端口）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选择密码字典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发起爆破攻击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获取权限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74040" y="393065"/>
            <a:ext cx="11049635" cy="10502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Kali Linux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密码爆破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5"/>
            </p:custDataLst>
          </p:nvPr>
        </p:nvSpPr>
        <p:spPr>
          <a:xfrm>
            <a:off x="7341235" y="1405890"/>
            <a:ext cx="4366260" cy="4583430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4" name="Text 1"/>
          <p:cNvSpPr/>
          <p:nvPr>
            <p:custDataLst>
              <p:tags r:id="rId6"/>
            </p:custDataLst>
          </p:nvPr>
        </p:nvSpPr>
        <p:spPr>
          <a:xfrm>
            <a:off x="7451725" y="1668780"/>
            <a:ext cx="4399280" cy="47561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功能定位：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开源安全监控（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XDR/SIEM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实时日志分析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文件完整性检测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漏洞扫描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检测逻辑：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监控认证日志（如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/var/log/auth.log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识别异常：高频失败登录、非常规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告警机制：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触发规则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生成安全事件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实时告警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3" descr="3b050bf732130b1a63ec10b54e84c28"/>
          <p:cNvPicPr>
            <a:picLocks noChangeAspect="1"/>
          </p:cNvPicPr>
          <p:nvPr/>
        </p:nvPicPr>
        <p:blipFill>
          <a:blip r:embed="rId7"/>
          <a:srcRect t="547" b="23977"/>
          <a:stretch>
            <a:fillRect/>
          </a:stretch>
        </p:blipFill>
        <p:spPr>
          <a:xfrm>
            <a:off x="1032510" y="1108710"/>
            <a:ext cx="5266690" cy="23679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32510" y="3284855"/>
            <a:ext cx="5266690" cy="310705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 4"/>
          <p:cNvSpPr/>
          <p:nvPr/>
        </p:nvSpPr>
        <p:spPr>
          <a:xfrm>
            <a:off x="574040" y="393065"/>
            <a:ext cx="11049635" cy="15297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安全监控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574040" y="393065"/>
            <a:ext cx="11049635" cy="2009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爆破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Ubuntu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1"/>
          <p:cNvSpPr/>
          <p:nvPr>
            <p:custDataLst>
              <p:tags r:id="rId5"/>
            </p:custDataLst>
          </p:nvPr>
        </p:nvSpPr>
        <p:spPr>
          <a:xfrm>
            <a:off x="111125" y="1278890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查看威胁日志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3" descr="3b050bf732130b1a63ec10b54e84c2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547" b="23977"/>
          <a:stretch>
            <a:fillRect/>
          </a:stretch>
        </p:blipFill>
        <p:spPr>
          <a:xfrm>
            <a:off x="189865" y="1871345"/>
            <a:ext cx="5038090" cy="2265045"/>
          </a:xfrm>
          <a:prstGeom prst="rect">
            <a:avLst/>
          </a:prstGeom>
        </p:spPr>
      </p:pic>
      <p:sp>
        <p:nvSpPr>
          <p:cNvPr id="10" name="Text 1"/>
          <p:cNvSpPr/>
          <p:nvPr>
            <p:custDataLst>
              <p:tags r:id="rId8"/>
            </p:custDataLst>
          </p:nvPr>
        </p:nvSpPr>
        <p:spPr>
          <a:xfrm>
            <a:off x="189865" y="4342765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wazuh-agent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，实现对靶机的监测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9865" y="4881245"/>
            <a:ext cx="5038090" cy="192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1"/>
          <p:cNvSpPr/>
          <p:nvPr/>
        </p:nvSpPr>
        <p:spPr>
          <a:xfrm>
            <a:off x="6285865" y="2113280"/>
            <a:ext cx="531368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使用账号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和密码字典组合方式进行爆破，攻击成功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0" descr="屏幕截图 2025-07-14 152806"/>
          <p:cNvPicPr>
            <a:picLocks noChangeAspect="1"/>
          </p:cNvPicPr>
          <p:nvPr/>
        </p:nvPicPr>
        <p:blipFill>
          <a:blip r:embed="rId11"/>
          <a:srcRect l="13160" t="65106"/>
          <a:stretch>
            <a:fillRect/>
          </a:stretch>
        </p:blipFill>
        <p:spPr>
          <a:xfrm>
            <a:off x="5985510" y="2999105"/>
            <a:ext cx="6138545" cy="147447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sp>
        <p:nvSpPr>
          <p:cNvPr id="25" name="Text 4"/>
          <p:cNvSpPr/>
          <p:nvPr/>
        </p:nvSpPr>
        <p:spPr>
          <a:xfrm>
            <a:off x="574040" y="39306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查看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爆破日志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220345" y="1514475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wazuh-agent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，实现对靶机的监测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2" descr="485ff993eba6829d1063022f298cf5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4645" y="2211705"/>
            <a:ext cx="7721600" cy="4584065"/>
          </a:xfrm>
          <a:prstGeom prst="rect">
            <a:avLst/>
          </a:prstGeom>
        </p:spPr>
      </p:pic>
      <p:pic>
        <p:nvPicPr>
          <p:cNvPr id="16" name="图片 13" descr="57ff4de23c607ae97cf1fea97fea4b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48875" b="24893"/>
          <a:stretch>
            <a:fillRect/>
          </a:stretch>
        </p:blipFill>
        <p:spPr>
          <a:xfrm>
            <a:off x="2809240" y="4264025"/>
            <a:ext cx="9294495" cy="14509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sp>
        <p:nvSpPr>
          <p:cNvPr id="25" name="Text 4"/>
          <p:cNvSpPr/>
          <p:nvPr/>
        </p:nvSpPr>
        <p:spPr>
          <a:xfrm>
            <a:off x="574040" y="39306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启用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Active Response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自动封禁攻击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IP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675640" y="151447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添加防御规则：当规则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ID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被触发时，系统会在本地主机上执行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firewall-drop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命令，临时阻止攻击源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，持续时间为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180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16" descr="eee75d140fd75a969dc328be6800da9"/>
          <p:cNvPicPr>
            <a:picLocks noChangeAspect="1"/>
          </p:cNvPicPr>
          <p:nvPr/>
        </p:nvPicPr>
        <p:blipFill>
          <a:blip r:embed="rId4"/>
          <a:srcRect l="15983" t="42527"/>
          <a:stretch>
            <a:fillRect/>
          </a:stretch>
        </p:blipFill>
        <p:spPr>
          <a:xfrm>
            <a:off x="734695" y="2524760"/>
            <a:ext cx="10434320" cy="42525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sp>
        <p:nvSpPr>
          <p:cNvPr id="25" name="Text 4"/>
          <p:cNvSpPr/>
          <p:nvPr/>
        </p:nvSpPr>
        <p:spPr>
          <a:xfrm>
            <a:off x="574040" y="39306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启用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Active Response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自动封禁攻击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IP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675640" y="151447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更新系统，重启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2270577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" y="2065655"/>
            <a:ext cx="6583680" cy="718185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5"/>
            </p:custDataLst>
          </p:nvPr>
        </p:nvSpPr>
        <p:spPr>
          <a:xfrm>
            <a:off x="675640" y="301561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再次攻击，出现失败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9" descr="e8ab5123087ebaa1131bb9fc4f42a0a"/>
          <p:cNvPicPr>
            <a:picLocks noChangeAspect="1"/>
          </p:cNvPicPr>
          <p:nvPr/>
        </p:nvPicPr>
        <p:blipFill>
          <a:blip r:embed="rId6"/>
          <a:srcRect l="13233" t="69041"/>
          <a:stretch>
            <a:fillRect/>
          </a:stretch>
        </p:blipFill>
        <p:spPr>
          <a:xfrm>
            <a:off x="744220" y="3686175"/>
            <a:ext cx="11059795" cy="23526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</a:t>
            </a: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4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1915795"/>
            <a:ext cx="6702425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lang="en-US" altLang="zh-CN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的网络安全威胁实时感知和防御</a:t>
            </a:r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endParaRPr lang="zh-CN" altLang="en-US" sz="6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应瑞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sp>
        <p:nvSpPr>
          <p:cNvPr id="25" name="Text 4"/>
          <p:cNvSpPr/>
          <p:nvPr/>
        </p:nvSpPr>
        <p:spPr>
          <a:xfrm>
            <a:off x="858520" y="400050"/>
            <a:ext cx="11049635" cy="14211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的网络安全威胁实时感知与防御系统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600" b="1" noProof="0" dirty="0">
              <a:ln>
                <a:noFill/>
              </a:ln>
              <a:solidFill>
                <a:srgbClr val="926838"/>
              </a:solidFill>
              <a:effectLst/>
              <a:uLnTx/>
              <a:uFillTx/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600" b="1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掌握恶意命令检测方法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94790" y="1821815"/>
            <a:ext cx="8787130" cy="14846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目标是学会使用auditd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 +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Wazuh检测恶意命令执行，如nc、netcat等。能够掌握命令行为感知的流程，包括监控、告警与可视化展示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510665" y="2683510"/>
            <a:ext cx="8923020" cy="878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熟悉Wazuh的规则配置，包括如何定义恶意命令列表（CDB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 list）和自定义规则，以便更好地识别高危命令。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45" y="3856990"/>
            <a:ext cx="10465435" cy="248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67130" y="380365"/>
            <a:ext cx="979995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高中组</a:t>
            </a: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025" y="1252476"/>
            <a:ext cx="6508765" cy="5117157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537210" y="1532255"/>
          <a:ext cx="4359910" cy="4768214"/>
        </p:xfrm>
        <a:graphic>
          <a:graphicData uri="http://schemas.openxmlformats.org/drawingml/2006/table">
            <a:tbl>
              <a:tblPr/>
              <a:tblGrid>
                <a:gridCol w="538464"/>
                <a:gridCol w="1796711"/>
                <a:gridCol w="2024735"/>
              </a:tblGrid>
              <a:tr h="4336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OSI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作品中的技术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功能体现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应用层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netcat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tcpdump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arp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等命令行工具的执行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模拟攻击行为（如 </a:t>
                      </a:r>
                      <a:r>
                        <a:rPr lang="en-US" altLang="zh-CN" sz="1100" dirty="0" err="1"/>
                        <a:t>nc</a:t>
                      </a:r>
                      <a:r>
                        <a:rPr lang="en-US" altLang="zh-CN" sz="1100" dirty="0"/>
                        <a:t> -</a:t>
                      </a:r>
                      <a:r>
                        <a:rPr lang="en-US" altLang="zh-CN" sz="1100" dirty="0" err="1"/>
                        <a:t>lvp</a:t>
                      </a:r>
                      <a:r>
                        <a:rPr lang="en-US" altLang="zh-CN" sz="1100" dirty="0"/>
                        <a:t> 1234 </a:t>
                      </a:r>
                      <a:r>
                        <a:rPr lang="zh-CN" altLang="en-US" sz="1100" dirty="0"/>
                        <a:t>建立后门监听）。</a:t>
                      </a:r>
                      <a:endParaRPr lang="en-US" altLang="zh-CN" sz="1100" dirty="0"/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触发 </a:t>
                      </a:r>
                      <a:r>
                        <a:rPr lang="en-US" altLang="zh-CN" sz="1100" dirty="0" err="1"/>
                        <a:t>execve</a:t>
                      </a:r>
                      <a:r>
                        <a:rPr lang="en-US" altLang="zh-CN" sz="1100" dirty="0"/>
                        <a:t> </a:t>
                      </a:r>
                      <a:r>
                        <a:rPr lang="zh-CN" altLang="en-US" sz="1100" dirty="0"/>
                        <a:t>系统调用，产生审计日志。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6348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表示层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数据格式转换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审计日志（</a:t>
                      </a:r>
                      <a:r>
                        <a:rPr lang="en-US" altLang="zh-CN" sz="1100" dirty="0"/>
                        <a:t>audit.log</a:t>
                      </a:r>
                      <a:r>
                        <a:rPr lang="zh-CN" altLang="en-US" sz="1100" dirty="0"/>
                        <a:t>）→ </a:t>
                      </a:r>
                      <a:r>
                        <a:rPr lang="en-US" altLang="zh-CN" sz="1100" dirty="0"/>
                        <a:t>JSON</a:t>
                      </a:r>
                      <a:r>
                        <a:rPr lang="zh-CN" altLang="en-US" sz="1100" dirty="0"/>
                        <a:t>格式→ </a:t>
                      </a:r>
                      <a:r>
                        <a:rPr lang="en-US" altLang="zh-CN" sz="1100" dirty="0" err="1"/>
                        <a:t>Wazuh</a:t>
                      </a:r>
                      <a:r>
                        <a:rPr lang="zh-CN" altLang="en-US" sz="1100" dirty="0"/>
                        <a:t>解析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会话层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SSH</a:t>
                      </a:r>
                      <a:r>
                        <a:rPr lang="zh-CN" altLang="en-US" sz="1100" dirty="0"/>
                        <a:t>会话</a:t>
                      </a:r>
                      <a:endParaRPr lang="en-US" altLang="zh-CN" sz="1100" dirty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用户通过</a:t>
                      </a:r>
                      <a:r>
                        <a:rPr lang="en-US" altLang="zh-CN" sz="1100" dirty="0"/>
                        <a:t>SSH</a:t>
                      </a:r>
                      <a:r>
                        <a:rPr lang="zh-CN" altLang="en-US" sz="1100" dirty="0"/>
                        <a:t>登录</a:t>
                      </a:r>
                      <a:r>
                        <a:rPr lang="en-US" altLang="zh-CN" sz="1100" dirty="0"/>
                        <a:t>Ubuntu</a:t>
                      </a:r>
                      <a:r>
                        <a:rPr lang="zh-CN" altLang="en-US" sz="1100" dirty="0"/>
                        <a:t>靶机执行命令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6348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传输层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TCP/UDP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 err="1"/>
                        <a:t>Wazuh</a:t>
                      </a:r>
                      <a:r>
                        <a:rPr lang="en-US" altLang="zh-CN" sz="1100" dirty="0"/>
                        <a:t> Agent</a:t>
                      </a:r>
                      <a:r>
                        <a:rPr lang="zh-CN" altLang="en-US" sz="1100" dirty="0"/>
                        <a:t>通过</a:t>
                      </a:r>
                      <a:r>
                        <a:rPr lang="en-US" altLang="zh-CN" sz="1100" dirty="0"/>
                        <a:t>TCP 1514</a:t>
                      </a:r>
                      <a:r>
                        <a:rPr lang="zh-CN" altLang="en-US" sz="1100" dirty="0"/>
                        <a:t>端口发送日志到</a:t>
                      </a:r>
                      <a:r>
                        <a:rPr lang="en-US" altLang="zh-CN" sz="1100" dirty="0"/>
                        <a:t>Manager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网络层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IP</a:t>
                      </a:r>
                      <a:r>
                        <a:rPr lang="zh-CN" altLang="en-US" sz="1100" dirty="0"/>
                        <a:t>协议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192.168.1.234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Ubuntu</a:t>
                      </a:r>
                      <a:r>
                        <a:rPr lang="zh-CN" altLang="en-US" sz="1100" dirty="0"/>
                        <a:t>靶机）与</a:t>
                      </a:r>
                      <a:r>
                        <a:rPr lang="en-US" altLang="zh-CN" sz="1100" dirty="0"/>
                        <a:t>192.168.1.235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 err="1"/>
                        <a:t>Wazuh</a:t>
                      </a:r>
                      <a:r>
                        <a:rPr lang="en-US" altLang="zh-CN" sz="1100" dirty="0"/>
                        <a:t> Manager</a:t>
                      </a:r>
                      <a:r>
                        <a:rPr lang="zh-CN" altLang="en-US" sz="1100" dirty="0"/>
                        <a:t>）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0" name="图片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6-d0shtd475iks832jea9g.png"/>
          <p:cNvPicPr>
            <a:picLocks noChangeAspect="1"/>
          </p:cNvPicPr>
          <p:nvPr/>
        </p:nvPicPr>
        <p:blipFill>
          <a:blip r:embed="rId1"/>
          <a:srcRect l="26988" t="17810" r="15352" b="18918"/>
          <a:stretch>
            <a:fillRect/>
          </a:stretch>
        </p:blipFill>
        <p:spPr>
          <a:xfrm>
            <a:off x="-19685" y="-64770"/>
            <a:ext cx="12234545" cy="6927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5260" y="346964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227898" y="198628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788795" y="507682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6" name="Text 3"/>
          <p:cNvSpPr/>
          <p:nvPr/>
        </p:nvSpPr>
        <p:spPr>
          <a:xfrm>
            <a:off x="1788795" y="5076825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61745" y="442468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8" name="Text 5"/>
          <p:cNvSpPr/>
          <p:nvPr/>
        </p:nvSpPr>
        <p:spPr>
          <a:xfrm>
            <a:off x="1261745" y="4424680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4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5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6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7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8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9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20" name="Image 8" descr="https://test-kimi-img.moonshot.cn/pub/slides/slides_tmpl/image/25-05-30-10:56:51-d0shsss75iks832je9q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020" y="3117215"/>
            <a:ext cx="3242945" cy="166433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2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3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4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5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6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7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8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9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0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1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2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3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4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5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6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7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8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9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0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1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2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3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4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5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6.xml><?xml version="1.0" encoding="utf-8"?>
<p:tagLst xmlns:p="http://schemas.openxmlformats.org/presentationml/2006/main">
  <p:tag name="KSO_WM_DIAGRAM_VIRTUALLY_FRAME" val="{&quot;height&quot;:367.8497308820434,&quot;left&quot;:53.68694045257812,&quot;top&quot;:118.0753084880354,&quot;width&quot;:815.6130595474218}"/>
</p:tagLst>
</file>

<file path=ppt/tags/tag27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28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29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0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1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2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3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4.xml><?xml version="1.0" encoding="utf-8"?>
<p:tagLst xmlns:p="http://schemas.openxmlformats.org/presentationml/2006/main">
  <p:tag name="KSO_WM_DIAGRAM_VIRTUALLY_FRAME" val="{&quot;height&quot;:438.9746915119646,&quot;left&quot;:53.68694045257812,&quot;top&quot;:118.0753084880354,&quot;width&quot;:815.6130595474218}"/>
</p:tagLst>
</file>

<file path=ppt/tags/tag35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36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37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38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39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40.xml><?xml version="1.0" encoding="utf-8"?>
<p:tagLst xmlns:p="http://schemas.openxmlformats.org/presentationml/2006/main">
  <p:tag name="TABLE_ENDDRAG_ORIGIN_RECT" val="317*252"/>
  <p:tag name="TABLE_ENDDRAG_RECT" val="42*145*317*252"/>
</p:tagLst>
</file>

<file path=ppt/tags/tag41.xml><?xml version="1.0" encoding="utf-8"?>
<p:tagLst xmlns:p="http://schemas.openxmlformats.org/presentationml/2006/main">
  <p:tag name="KSO_WM_UNIT_PLACING_PICTURE_USER_VIEWPORT" val="{&quot;height&quot;:4917,&quot;width&quot;:11189}"/>
  <p:tag name="KSO_WM_UNIT_PLACING_PICTURE_USER_RELATIVERECTANGLE" val="{&quot;bottom&quot;:0,&quot;left&quot;:0,&quot;right&quot;:0,&quot;top&quot;:0}"/>
  <p:tag name="KSO_WM_UNIT_PLACING_PICTURE_COLLAGE_RELATIVERECTANGLE" val="{&quot;height&quot;:2880.885563033902,&quot;width&quot;:10764.425962878451}"/>
  <p:tag name="KSO_WM_UNIT_PLACING_PICTURE_COLLAGE_VIEWPORT" val="{&quot;height&quot;:5138.5,&quot;width&quot;:19199.999999999996}"/>
  <p:tag name="KSO_WM_UNIT_PLACING_PICTURE_INFO" val="{&quot;code&quot;:&quot;A[5]&quot;,&quot;full_picture&quot;:false,&quot;last_crop_picture&quot;:&quot;A[5]&quot;,&quot;scheme&quot;:&quot;2-1&quot;,&quot;spacing&quot;:5}"/>
  <p:tag name="KSO_WM_UNIT_PLACING_PICTURE" val="215413.755"/>
  <p:tag name="KSO_WM_BEAUTIFY_FLAG" val=""/>
  <p:tag name="KSO_WM_UNIT_INDEX" val=""/>
  <p:tag name="KSO_WM_UNIT_ID" val=""/>
</p:tagLst>
</file>

<file path=ppt/tags/tag42.xml><?xml version="1.0" encoding="utf-8"?>
<p:tagLst xmlns:p="http://schemas.openxmlformats.org/presentationml/2006/main">
  <p:tag name="KSO_WM_UNIT_PLACING_PICTURE" val="215413.755"/>
  <p:tag name="KSO_WM_BEAUTIFY_FLAG" val=""/>
  <p:tag name="KSO_WM_UNIT_INDEX" val=""/>
  <p:tag name="KSO_WM_UNIT_ID" val=""/>
  <p:tag name="KSO_WM_UNIT_PLACING_PICTURE_USER_RELATIVERECTANGLE" val="{&quot;bottom&quot;:0,&quot;left&quot;:0,&quot;right&quot;:0,&quot;top&quot;:0}"/>
  <p:tag name="KSO_WM_UNIT_PLACING_PICTURE_COLLAGE_RELATIVERECTANGLE" val="{&quot;height&quot;:2887.333005667918,&quot;width&quot;:10787.973144672249}"/>
  <p:tag name="KSO_WM_UNIT_PLACING_PICTURE_COLLAGE_VIEWPORT" val="{&quot;height&quot;:5138.5,&quot;width&quot;:19199.999999999996}"/>
  <p:tag name="KSO_WM_UNIT_PLACING_PICTURE_INFO" val="{&quot;code&quot;:&quot;A[5]&quot;,&quot;full_picture&quot;:false,&quot;last_crop_picture&quot;:&quot;A[5]&quot;,&quot;scheme&quot;:&quot;2-1&quot;,&quot;spacing&quot;:5}"/>
  <p:tag name="KSO_WM_UNIT_PLACING_PICTURE_USER_VIEWPORT" val="{&quot;height&quot;:4493,&quot;width&quot;:11178}"/>
</p:tagLst>
</file>

<file path=ppt/tags/tag43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4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45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46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47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48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49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50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1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2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3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4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5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6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7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5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59.xml><?xml version="1.0" encoding="utf-8"?>
<p:tagLst xmlns:p="http://schemas.openxmlformats.org/presentationml/2006/main">
  <p:tag name="KSO_WM_UNIT_PLACING_PICTURE_USER_VIEWPORT" val="{&quot;height&quot;:2108,&quot;width&quot;:3410}"/>
</p:tagLst>
</file>

<file path=ppt/tags/tag60.xml><?xml version="1.0" encoding="utf-8"?>
<p:tagLst xmlns:p="http://schemas.openxmlformats.org/presentationml/2006/main">
  <p:tag name="KSO_WM_UNIT_PLACING_PICTURE_USER_VIEWPORT" val="{&quot;height&quot;:4161,&quot;width&quot;:7022}"/>
</p:tagLst>
</file>

<file path=ppt/tags/tag61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62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63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64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65.xml><?xml version="1.0" encoding="utf-8"?>
<p:tagLst xmlns:p="http://schemas.openxmlformats.org/presentationml/2006/main">
  <p:tag name="KSO_WM_UNIT_PLACING_PICTURE_USER_VIEWPORT" val="{&quot;height&quot;:3095,&quot;width&quot;:3894}"/>
</p:tagLst>
</file>

<file path=ppt/tags/tag6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67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68.xml><?xml version="1.0" encoding="utf-8"?>
<p:tagLst xmlns:p="http://schemas.openxmlformats.org/presentationml/2006/main">
  <p:tag name="KSO_WM_UNIT_PLACING_PICTURE_USER_VIEWPORT" val="{&quot;height&quot;:8570,&quot;width&quot;:7782}"/>
</p:tagLst>
</file>

<file path=ppt/tags/tag69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0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1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2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3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4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75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76.xml><?xml version="1.0" encoding="utf-8"?>
<p:tagLst xmlns:p="http://schemas.openxmlformats.org/presentationml/2006/main">
  <p:tag name="KSO_WM_UNIT_PLACING_PICTURE_USER_VIEWPORT" val="{&quot;height&quot;:8053,&quot;width&quot;:9652}"/>
</p:tagLst>
</file>

<file path=ppt/tags/tag77.xml><?xml version="1.0" encoding="utf-8"?>
<p:tagLst xmlns:p="http://schemas.openxmlformats.org/presentationml/2006/main">
  <p:tag name="KSO_WM_UNIT_PLACING_PICTURE_USER_VIEWPORT" val="{&quot;height&quot;:937,&quot;width&quot;:5793.700787401574}"/>
  <p:tag name="KSO_WM_UNIT_PLACING_PICTURE_USER_RELATIVERECTANGLE" val="{&quot;bottom&quot;:0,&quot;left&quot;:0,&quot;right&quot;:0,&quot;top&quot;:0}"/>
  <p:tag name="KSO_WM_UNIT_PLACING_PICTURE_COLLAGE_RELATIVERECTANGLE" val="{&quot;bottom&quot;:0,&quot;left&quot;:0.3921817522877594,&quot;right&quot;:0.3921817522877594,&quot;top&quot;:0}"/>
  <p:tag name="KSO_WM_UNIT_PLACING_PICTURE_COLLAGE_VIEWPORT" val="{&quot;height&quot;:7104.738284119043,&quot;width&quot;:9472.984378825387}"/>
</p:tagLst>
</file>

<file path=ppt/tags/tag78.xml><?xml version="1.0" encoding="utf-8"?>
<p:tagLst xmlns:p="http://schemas.openxmlformats.org/presentationml/2006/main">
  <p:tag name="KSO_WM_UNIT_PLACING_PICTURE_USER_VIEWPORT" val="{&quot;height&quot;:2471,&quot;width&quot;:11421.626771653544}"/>
</p:tagLst>
</file>

<file path=ppt/tags/tag79.xml><?xml version="1.0" encoding="utf-8"?>
<p:tagLst xmlns:p="http://schemas.openxmlformats.org/presentationml/2006/main">
  <p:tag name="KSO_WM_UNIT_PLACING_PICTURE_USER_VIEWPORT" val="{&quot;height&quot;:937,&quot;width&quot;:5793.700787401574}"/>
</p:tagLst>
</file>

<file path=ppt/tags/tag80.xml><?xml version="1.0" encoding="utf-8"?>
<p:tagLst xmlns:p="http://schemas.openxmlformats.org/presentationml/2006/main">
  <p:tag name="KSO_WM_UNIT_PLACING_PICTURE_USER_VIEWPORT" val="{&quot;height&quot;:2471,&quot;width&quot;:11421.626771653544}"/>
</p:tagLst>
</file>

<file path=ppt/tags/tag81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82.xml><?xml version="1.0" encoding="utf-8"?>
<p:tagLst xmlns:p="http://schemas.openxmlformats.org/presentationml/2006/main">
  <p:tag name="KSO_WM_UNIT_PLACING_PICTURE_USER_VIEWPORT" val="{&quot;height&quot;:7453,&quot;width&quot;:16235}"/>
</p:tagLst>
</file>

<file path=ppt/tags/tag83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84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85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86.xml><?xml version="1.0" encoding="utf-8"?>
<p:tagLst xmlns:p="http://schemas.openxmlformats.org/presentationml/2006/main">
  <p:tag name="KSO_WM_UNIT_PLACING_PICTURE_USER_VIEWPORT" val="{&quot;height&quot;:8562,&quot;width&quot;:9985}"/>
</p:tagLst>
</file>

<file path=ppt/tags/tag87.xml><?xml version="1.0" encoding="utf-8"?>
<p:tagLst xmlns:p="http://schemas.openxmlformats.org/presentationml/2006/main">
  <p:tag name="KSO_WM_UNIT_PLACING_PICTURE_USER_VIEWPORT" val="{&quot;height&quot;:8460,&quot;width&quot;:9084}"/>
</p:tagLst>
</file>

<file path=ppt/tags/tag88.xml><?xml version="1.0" encoding="utf-8"?>
<p:tagLst xmlns:p="http://schemas.openxmlformats.org/presentationml/2006/main">
  <p:tag name="KSO_WM_UNIT_PLACING_PICTURE_USER_VIEWPORT" val="{&quot;height&quot;:8546,&quot;width&quot;:15966}"/>
</p:tagLst>
</file>

<file path=ppt/tags/tag89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90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91.xml><?xml version="1.0" encoding="utf-8"?>
<p:tagLst xmlns:p="http://schemas.openxmlformats.org/presentationml/2006/main">
  <p:tag name="KSO_WM_UNIT_PLACING_PICTURE_USER_VIEWPORT" val="{&quot;height&quot;:11265,&quot;width&quot;:21210}"/>
</p:tagLst>
</file>

<file path=ppt/tags/tag92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93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9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95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96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97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98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99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00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01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02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03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0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05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06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07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08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09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0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1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2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3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4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5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16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17.xml><?xml version="1.0" encoding="utf-8"?>
<p:tagLst xmlns:p="http://schemas.openxmlformats.org/presentationml/2006/main">
  <p:tag name="KSO_WM_UNIT_PLACING_PICTURE_USER_VIEWPORT" val="{&quot;height&quot;:878,&quot;width&quot;:17623}"/>
</p:tagLst>
</file>

<file path=ppt/tags/tag118.xml><?xml version="1.0" encoding="utf-8"?>
<p:tagLst xmlns:p="http://schemas.openxmlformats.org/presentationml/2006/main">
  <p:tag name="KSO_WM_UNIT_PLACING_PICTURE_USER_VIEWPORT" val="{&quot;height&quot;:6613,&quot;width&quot;:10583}"/>
</p:tagLst>
</file>

<file path=ppt/tags/tag119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20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121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22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23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24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125.xml><?xml version="1.0" encoding="utf-8"?>
<p:tagLst xmlns:p="http://schemas.openxmlformats.org/presentationml/2006/main">
  <p:tag name="KSO_WM_UNIT_PLACING_PICTURE_USER_VIEWPORT" val="{&quot;height&quot;:4398,&quot;width&quot;:7455}"/>
</p:tagLst>
</file>

<file path=ppt/tags/tag12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27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28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29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30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31.xml><?xml version="1.0" encoding="utf-8"?>
<p:tagLst xmlns:p="http://schemas.openxmlformats.org/presentationml/2006/main">
  <p:tag name="KSO_WM_DIAGRAM_VIRTUALLY_FRAME" val="{&quot;height&quot;:435.1,&quot;left&quot;:8.75,&quot;top&quot;:100.7,&quot;width&quot;:402.9}"/>
  <p:tag name="KSO_WM_UNIT_PLACING_PICTURE_USER_VIEWPORT" val="{&quot;height&quot;:3029,&quot;width&quot;:7934}"/>
</p:tagLst>
</file>

<file path=ppt/tags/tag132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33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34.xml><?xml version="1.0" encoding="utf-8"?>
<p:tagLst xmlns:p="http://schemas.openxmlformats.org/presentationml/2006/main">
  <p:tag name="KSO_WM_UNIT_PLACING_PICTURE_USER_VIEWPORT" val="{&quot;height&quot;:7219,&quot;width&quot;:12160}"/>
</p:tagLst>
</file>

<file path=ppt/tags/tag135.xml><?xml version="1.0" encoding="utf-8"?>
<p:tagLst xmlns:p="http://schemas.openxmlformats.org/presentationml/2006/main">
  <p:tag name="KSO_WM_UNIT_PLACING_PICTURE_USER_VIEWPORT" val="{&quot;height&quot;:2285,&quot;width&quot;:14637}"/>
  <p:tag name="KSO_WM_UNIT_PLACING_PICTURE_USER_RELATIVERECTANGLE" val="{&quot;bottom&quot;:0.24893,&quot;left&quot;:0,&quot;right&quot;:0,&quot;top&quot;:0.48875}"/>
  <p:tag name="KSO_WM_UNIT_PLACING_PICTURE_COLLAGE_RELATIVERECTANGLE" val="{&quot;bottom&quot;:0.24893,&quot;left&quot;:0,&quot;right&quot;:0,&quot;top&quot;:0.48875}"/>
  <p:tag name="KSO_WM_UNIT_PLACING_PICTURE_COLLAGE_VIEWPORT" val="{&quot;height&quot;:2285,&quot;width&quot;:14637}"/>
</p:tagLst>
</file>

<file path=ppt/tags/tag13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37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3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39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40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41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42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43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4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45.xml><?xml version="1.0" encoding="utf-8"?>
<p:tagLst xmlns:p="http://schemas.openxmlformats.org/presentationml/2006/main">
  <p:tag name="TABLE_ENDDRAG_ORIGIN_RECT" val="317*252"/>
  <p:tag name="TABLE_ENDDRAG_RECT" val="42*145*317*252"/>
</p:tagLst>
</file>

<file path=ppt/tags/tag146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5586</Words>
  <Application>WPS 演示</Application>
  <PresentationFormat>On-screen Show (16:9)</PresentationFormat>
  <Paragraphs>605</Paragraphs>
  <Slides>51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8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Calibri</vt:lpstr>
      <vt:lpstr>等线 (正文)</vt:lpstr>
      <vt:lpstr>字由点字典黑 55J</vt:lpstr>
      <vt:lpstr>黑体</vt:lpstr>
      <vt:lpstr>字由点字典黑 45J</vt:lpstr>
      <vt:lpstr>Custom Theme</vt:lpstr>
      <vt:lpstr>1_Custom Theme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R.®</cp:lastModifiedBy>
  <cp:revision>6</cp:revision>
  <dcterms:created xsi:type="dcterms:W3CDTF">2025-08-07T11:53:00Z</dcterms:created>
  <dcterms:modified xsi:type="dcterms:W3CDTF">2025-08-08T04:55:01Z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B3B5874A84974982ACAA8EE7CF40E24D_12</vt:lpwstr>
  </property>
  <property fmtid="{D5CDD505-2E9C-101B-9397-08002B2CF9AE}" pid="3" name="KSOProductBuildVer">
    <vt:lpwstr>2052-12.1.0.22175</vt:lpwstr>
  </property>
</Properties>
</file>