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21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7" r:id="rId6"/>
    <p:sldId id="258" r:id="rId7"/>
    <p:sldId id="311" r:id="rId8"/>
    <p:sldId id="312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5" r:id="rId21"/>
    <p:sldId id="309" r:id="rId22"/>
    <p:sldId id="303" r:id="rId23"/>
    <p:sldId id="313" r:id="rId24"/>
    <p:sldId id="276" r:id="rId25"/>
    <p:sldId id="283" r:id="rId26"/>
    <p:sldId id="304" r:id="rId27"/>
    <p:sldId id="277" r:id="rId28"/>
    <p:sldId id="286" r:id="rId29"/>
    <p:sldId id="287" r:id="rId30"/>
    <p:sldId id="288" r:id="rId31"/>
    <p:sldId id="305" r:id="rId32"/>
    <p:sldId id="285" r:id="rId33"/>
    <p:sldId id="297" r:id="rId34"/>
    <p:sldId id="298" r:id="rId35"/>
    <p:sldId id="299" r:id="rId36"/>
    <p:sldId id="301" r:id="rId37"/>
    <p:sldId id="302" r:id="rId38"/>
    <p:sldId id="306" r:id="rId39"/>
    <p:sldId id="296" r:id="rId40"/>
    <p:sldId id="284" r:id="rId41"/>
    <p:sldId id="307" r:id="rId42"/>
    <p:sldId id="278" r:id="rId43"/>
    <p:sldId id="279" r:id="rId44"/>
    <p:sldId id="289" r:id="rId45"/>
    <p:sldId id="290" r:id="rId46"/>
    <p:sldId id="291" r:id="rId47"/>
    <p:sldId id="292" r:id="rId48"/>
    <p:sldId id="293" r:id="rId49"/>
    <p:sldId id="308" r:id="rId50"/>
    <p:sldId id="294" r:id="rId51"/>
    <p:sldId id="295" r:id="rId52"/>
    <p:sldId id="280" r:id="rId53"/>
  </p:sldIdLst>
  <p:sldSz cx="12192000" cy="6858000"/>
  <p:notesSz cx="6858000" cy="12192000"/>
  <p:embeddedFontLst>
    <p:embeddedFont>
      <p:font typeface="MiSans" pitchFamily="34" charset="-122"/>
      <p:regular r:id="rId58"/>
    </p:embeddedFont>
    <p:embeddedFont>
      <p:font typeface="MiSans" pitchFamily="34" charset="-120"/>
      <p:regular r:id="rId59"/>
    </p:embeddedFont>
    <p:embeddedFont>
      <p:font typeface="微软雅黑" panose="020B0503020204020204" charset="-122"/>
      <p:regular r:id="rId60"/>
    </p:embeddedFont>
    <p:embeddedFont>
      <p:font typeface="Calibri" panose="020F0502020204030204" charset="0"/>
      <p:regular r:id="rId61"/>
      <p:bold r:id="rId62"/>
      <p:italic r:id="rId63"/>
      <p:boldItalic r:id="rId64"/>
    </p:embeddedFont>
    <p:embeddedFont>
      <p:font typeface="等线" panose="02010600030101010101" charset="-122"/>
      <p:regular r:id="rId65"/>
    </p:embeddedFont>
    <p:embeddedFont>
      <p:font typeface="黑体" panose="02010609060101010101" charset="-122"/>
      <p:regular r:id="rId66"/>
    </p:embeddedFont>
    <p:embeddedFont>
      <p:font typeface="Calibri" panose="020F0502020204030204"/>
      <p:regular r:id="rId67"/>
      <p:bold r:id="rId68"/>
      <p:italic r:id="rId69"/>
      <p:boldItalic r:id="rId7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483810881" name="WPS_1679281038" initials="W" lastIdx="1" clrIdx="2"/>
  <p:cmAuthor id="1" name="123" initials="1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0" Type="http://schemas.openxmlformats.org/officeDocument/2006/relationships/font" Target="fonts/font13.fntdata"/><Relationship Id="rId7" Type="http://schemas.openxmlformats.org/officeDocument/2006/relationships/slide" Target="slides/slide3.xml"/><Relationship Id="rId69" Type="http://schemas.openxmlformats.org/officeDocument/2006/relationships/font" Target="fonts/font12.fntdata"/><Relationship Id="rId68" Type="http://schemas.openxmlformats.org/officeDocument/2006/relationships/font" Target="fonts/font11.fntdata"/><Relationship Id="rId67" Type="http://schemas.openxmlformats.org/officeDocument/2006/relationships/font" Target="fonts/font10.fntdata"/><Relationship Id="rId66" Type="http://schemas.openxmlformats.org/officeDocument/2006/relationships/font" Target="fonts/font9.fntdata"/><Relationship Id="rId65" Type="http://schemas.openxmlformats.org/officeDocument/2006/relationships/font" Target="fonts/font8.fntdata"/><Relationship Id="rId64" Type="http://schemas.openxmlformats.org/officeDocument/2006/relationships/font" Target="fonts/font7.fntdata"/><Relationship Id="rId63" Type="http://schemas.openxmlformats.org/officeDocument/2006/relationships/font" Target="fonts/font6.fntdata"/><Relationship Id="rId62" Type="http://schemas.openxmlformats.org/officeDocument/2006/relationships/font" Target="fonts/font5.fntdata"/><Relationship Id="rId61" Type="http://schemas.openxmlformats.org/officeDocument/2006/relationships/font" Target="fonts/font4.fntdata"/><Relationship Id="rId60" Type="http://schemas.openxmlformats.org/officeDocument/2006/relationships/font" Target="fonts/font3.fntdata"/><Relationship Id="rId6" Type="http://schemas.openxmlformats.org/officeDocument/2006/relationships/slide" Target="slides/slide2.xml"/><Relationship Id="rId59" Type="http://schemas.openxmlformats.org/officeDocument/2006/relationships/font" Target="fonts/font2.fntdata"/><Relationship Id="rId58" Type="http://schemas.openxmlformats.org/officeDocument/2006/relationships/font" Target="fonts/font1.fntdata"/><Relationship Id="rId57" Type="http://schemas.openxmlformats.org/officeDocument/2006/relationships/commentAuthors" Target="commentAuthors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0" Type="http://schemas.openxmlformats.org/officeDocument/2006/relationships/notesSlide" Target="../notesSlides/notesSlide2.xml"/><Relationship Id="rId2" Type="http://schemas.openxmlformats.org/officeDocument/2006/relationships/tags" Target="../tags/tag1.xml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7.png"/><Relationship Id="rId17" Type="http://schemas.openxmlformats.org/officeDocument/2006/relationships/image" Target="../media/image9.png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7.png"/><Relationship Id="rId7" Type="http://schemas.openxmlformats.org/officeDocument/2006/relationships/image" Target="../media/image12.png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image" Target="../media/image13.png"/><Relationship Id="rId13" Type="http://schemas.openxmlformats.org/officeDocument/2006/relationships/slideLayout" Target="../slideLayouts/slideLayout3.xml"/><Relationship Id="rId12" Type="http://schemas.openxmlformats.org/officeDocument/2006/relationships/tags" Target="../tags/tag25.xml"/><Relationship Id="rId11" Type="http://schemas.openxmlformats.org/officeDocument/2006/relationships/image" Target="../media/image7.png"/><Relationship Id="rId10" Type="http://schemas.openxmlformats.org/officeDocument/2006/relationships/tags" Target="../tags/tag24.xml"/><Relationship Id="rId1" Type="http://schemas.openxmlformats.org/officeDocument/2006/relationships/tags" Target="../tags/tag1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image" Target="../media/image13.png"/><Relationship Id="rId13" Type="http://schemas.openxmlformats.org/officeDocument/2006/relationships/slideLayout" Target="../slideLayouts/slideLayout3.xml"/><Relationship Id="rId12" Type="http://schemas.openxmlformats.org/officeDocument/2006/relationships/tags" Target="../tags/tag35.xml"/><Relationship Id="rId11" Type="http://schemas.openxmlformats.org/officeDocument/2006/relationships/image" Target="../media/image7.png"/><Relationship Id="rId10" Type="http://schemas.openxmlformats.org/officeDocument/2006/relationships/tags" Target="../tags/tag34.xml"/><Relationship Id="rId1" Type="http://schemas.openxmlformats.org/officeDocument/2006/relationships/tags" Target="../tags/tag26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7.png"/><Relationship Id="rId7" Type="http://schemas.openxmlformats.org/officeDocument/2006/relationships/image" Target="../media/image12.png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7.pn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7.png"/><Relationship Id="rId7" Type="http://schemas.openxmlformats.org/officeDocument/2006/relationships/image" Target="../media/image12.png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image" Target="../media/image14.png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7" Type="http://schemas.openxmlformats.org/officeDocument/2006/relationships/notesSlide" Target="../notesSlides/notesSlide11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7.png"/><Relationship Id="rId14" Type="http://schemas.openxmlformats.org/officeDocument/2006/relationships/tags" Target="../tags/tag55.xml"/><Relationship Id="rId13" Type="http://schemas.openxmlformats.org/officeDocument/2006/relationships/tags" Target="../tags/tag54.xml"/><Relationship Id="rId12" Type="http://schemas.openxmlformats.org/officeDocument/2006/relationships/tags" Target="../tags/tag53.xml"/><Relationship Id="rId11" Type="http://schemas.openxmlformats.org/officeDocument/2006/relationships/tags" Target="../tags/tag52.xml"/><Relationship Id="rId10" Type="http://schemas.openxmlformats.org/officeDocument/2006/relationships/tags" Target="../tags/tag51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7.png"/><Relationship Id="rId7" Type="http://schemas.openxmlformats.org/officeDocument/2006/relationships/image" Target="../media/image12.png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0" Type="http://schemas.openxmlformats.org/officeDocument/2006/relationships/notesSlide" Target="../notesSlides/notesSlide12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2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0" Type="http://schemas.openxmlformats.org/officeDocument/2006/relationships/notesSlide" Target="../notesSlides/notesSlide15.xml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6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tags" Target="../tags/tag56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7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image" Target="../media/image7.png"/><Relationship Id="rId3" Type="http://schemas.openxmlformats.org/officeDocument/2006/relationships/tags" Target="../tags/tag58.xml"/><Relationship Id="rId2" Type="http://schemas.openxmlformats.org/officeDocument/2006/relationships/image" Target="../media/image13.png"/><Relationship Id="rId14" Type="http://schemas.openxmlformats.org/officeDocument/2006/relationships/notesSlide" Target="../notesSlides/notesSlide18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66.xml"/><Relationship Id="rId11" Type="http://schemas.openxmlformats.org/officeDocument/2006/relationships/tags" Target="../tags/tag65.xml"/><Relationship Id="rId10" Type="http://schemas.openxmlformats.org/officeDocument/2006/relationships/tags" Target="../tags/tag64.xml"/><Relationship Id="rId1" Type="http://schemas.openxmlformats.org/officeDocument/2006/relationships/tags" Target="../tags/tag57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7.png"/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image" Target="../media/image13.png"/><Relationship Id="rId11" Type="http://schemas.openxmlformats.org/officeDocument/2006/relationships/notesSlide" Target="../notesSlides/notesSlide19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67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tags" Target="../tags/tag77.xml"/><Relationship Id="rId7" Type="http://schemas.openxmlformats.org/officeDocument/2006/relationships/image" Target="../media/image17.png"/><Relationship Id="rId6" Type="http://schemas.openxmlformats.org/officeDocument/2006/relationships/tags" Target="../tags/tag76.xml"/><Relationship Id="rId5" Type="http://schemas.openxmlformats.org/officeDocument/2006/relationships/image" Target="../media/image16.png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image" Target="../media/image13.png"/><Relationship Id="rId11" Type="http://schemas.openxmlformats.org/officeDocument/2006/relationships/notesSlide" Target="../notesSlides/notesSlide20.xml"/><Relationship Id="rId10" Type="http://schemas.openxmlformats.org/officeDocument/2006/relationships/slideLayout" Target="../slideLayouts/slideLayout3.xml"/><Relationship Id="rId1" Type="http://schemas.openxmlformats.org/officeDocument/2006/relationships/tags" Target="../tags/tag73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1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image" Target="../media/image7.png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1" Type="http://schemas.openxmlformats.org/officeDocument/2006/relationships/notesSlide" Target="../notesSlides/notesSlide22.xml"/><Relationship Id="rId20" Type="http://schemas.openxmlformats.org/officeDocument/2006/relationships/vmlDrawing" Target="../drawings/vmlDrawing1.vml"/><Relationship Id="rId2" Type="http://schemas.openxmlformats.org/officeDocument/2006/relationships/image" Target="../media/image13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18.emf"/><Relationship Id="rId17" Type="http://schemas.openxmlformats.org/officeDocument/2006/relationships/oleObject" Target="../embeddings/oleObject1.bin"/><Relationship Id="rId16" Type="http://schemas.openxmlformats.org/officeDocument/2006/relationships/tags" Target="../tags/tag91.xml"/><Relationship Id="rId15" Type="http://schemas.openxmlformats.org/officeDocument/2006/relationships/tags" Target="../tags/tag90.xml"/><Relationship Id="rId14" Type="http://schemas.openxmlformats.org/officeDocument/2006/relationships/tags" Target="../tags/tag89.xml"/><Relationship Id="rId13" Type="http://schemas.openxmlformats.org/officeDocument/2006/relationships/tags" Target="../tags/tag88.xml"/><Relationship Id="rId12" Type="http://schemas.openxmlformats.org/officeDocument/2006/relationships/tags" Target="../tags/tag87.xml"/><Relationship Id="rId11" Type="http://schemas.openxmlformats.org/officeDocument/2006/relationships/tags" Target="../tags/tag86.xml"/><Relationship Id="rId10" Type="http://schemas.openxmlformats.org/officeDocument/2006/relationships/tags" Target="../tags/tag85.xml"/><Relationship Id="rId1" Type="http://schemas.openxmlformats.org/officeDocument/2006/relationships/tags" Target="../tags/tag78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tags" Target="../tags/tag96.xml"/><Relationship Id="rId7" Type="http://schemas.openxmlformats.org/officeDocument/2006/relationships/tags" Target="../tags/tag95.xml"/><Relationship Id="rId6" Type="http://schemas.openxmlformats.org/officeDocument/2006/relationships/image" Target="../media/image20.png"/><Relationship Id="rId5" Type="http://schemas.openxmlformats.org/officeDocument/2006/relationships/tags" Target="../tags/tag94.xml"/><Relationship Id="rId4" Type="http://schemas.openxmlformats.org/officeDocument/2006/relationships/image" Target="../media/image19.jpeg"/><Relationship Id="rId3" Type="http://schemas.openxmlformats.org/officeDocument/2006/relationships/tags" Target="../tags/tag93.xml"/><Relationship Id="rId2" Type="http://schemas.openxmlformats.org/officeDocument/2006/relationships/image" Target="../media/image13.png"/><Relationship Id="rId11" Type="http://schemas.openxmlformats.org/officeDocument/2006/relationships/notesSlide" Target="../notesSlides/notesSlide23.xml"/><Relationship Id="rId10" Type="http://schemas.openxmlformats.org/officeDocument/2006/relationships/slideLayout" Target="../slideLayouts/slideLayout3.xml"/><Relationship Id="rId1" Type="http://schemas.openxmlformats.org/officeDocument/2006/relationships/tags" Target="../tags/tag92.xml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4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21.webp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image" Target="../media/image13.png"/><Relationship Id="rId1" Type="http://schemas.openxmlformats.org/officeDocument/2006/relationships/tags" Target="../tags/tag9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5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13.png"/><Relationship Id="rId1" Type="http://schemas.openxmlformats.org/officeDocument/2006/relationships/tags" Target="../tags/tag100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6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tags" Target="../tags/tag105.xml"/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image" Target="../media/image26.png"/><Relationship Id="rId4" Type="http://schemas.openxmlformats.org/officeDocument/2006/relationships/tags" Target="../tags/tag102.xml"/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3" Type="http://schemas.openxmlformats.org/officeDocument/2006/relationships/notesSlide" Target="../notesSlides/notesSlide27.xml"/><Relationship Id="rId12" Type="http://schemas.openxmlformats.org/officeDocument/2006/relationships/slideLayout" Target="../slideLayouts/slideLayout3.xml"/><Relationship Id="rId11" Type="http://schemas.openxmlformats.org/officeDocument/2006/relationships/tags" Target="../tags/tag108.xml"/><Relationship Id="rId10" Type="http://schemas.openxmlformats.org/officeDocument/2006/relationships/tags" Target="../tags/tag107.xml"/><Relationship Id="rId1" Type="http://schemas.openxmlformats.org/officeDocument/2006/relationships/tags" Target="../tags/tag101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114.xml"/><Relationship Id="rId8" Type="http://schemas.openxmlformats.org/officeDocument/2006/relationships/tags" Target="../tags/tag113.xml"/><Relationship Id="rId7" Type="http://schemas.openxmlformats.org/officeDocument/2006/relationships/tags" Target="../tags/tag112.xml"/><Relationship Id="rId6" Type="http://schemas.openxmlformats.org/officeDocument/2006/relationships/tags" Target="../tags/tag111.xml"/><Relationship Id="rId5" Type="http://schemas.openxmlformats.org/officeDocument/2006/relationships/image" Target="../media/image27.png"/><Relationship Id="rId4" Type="http://schemas.openxmlformats.org/officeDocument/2006/relationships/tags" Target="../tags/tag110.xml"/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1" Type="http://schemas.openxmlformats.org/officeDocument/2006/relationships/notesSlide" Target="../notesSlides/notesSlide28.xml"/><Relationship Id="rId10" Type="http://schemas.openxmlformats.org/officeDocument/2006/relationships/slideLayout" Target="../slideLayouts/slideLayout3.xml"/><Relationship Id="rId1" Type="http://schemas.openxmlformats.org/officeDocument/2006/relationships/tags" Target="../tags/tag109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9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tags" Target="../tags/tag117.xml"/><Relationship Id="rId4" Type="http://schemas.openxmlformats.org/officeDocument/2006/relationships/image" Target="../media/image7.png"/><Relationship Id="rId3" Type="http://schemas.openxmlformats.org/officeDocument/2006/relationships/tags" Target="../tags/tag116.xml"/><Relationship Id="rId2" Type="http://schemas.openxmlformats.org/officeDocument/2006/relationships/image" Target="../media/image13.png"/><Relationship Id="rId1" Type="http://schemas.openxmlformats.org/officeDocument/2006/relationships/tags" Target="../tags/tag115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30.png"/><Relationship Id="rId7" Type="http://schemas.openxmlformats.org/officeDocument/2006/relationships/tags" Target="../tags/tag121.xml"/><Relationship Id="rId6" Type="http://schemas.openxmlformats.org/officeDocument/2006/relationships/image" Target="../media/image29.png"/><Relationship Id="rId5" Type="http://schemas.openxmlformats.org/officeDocument/2006/relationships/tags" Target="../tags/tag120.xml"/><Relationship Id="rId4" Type="http://schemas.openxmlformats.org/officeDocument/2006/relationships/image" Target="../media/image7.png"/><Relationship Id="rId3" Type="http://schemas.openxmlformats.org/officeDocument/2006/relationships/tags" Target="../tags/tag119.xml"/><Relationship Id="rId2" Type="http://schemas.openxmlformats.org/officeDocument/2006/relationships/image" Target="../media/image13.png"/><Relationship Id="rId10" Type="http://schemas.openxmlformats.org/officeDocument/2006/relationships/notesSlide" Target="../notesSlides/notesSlide30.xml"/><Relationship Id="rId1" Type="http://schemas.openxmlformats.org/officeDocument/2006/relationships/tags" Target="../tags/tag118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1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tags" Target="../tags/tag124.xml"/><Relationship Id="rId4" Type="http://schemas.openxmlformats.org/officeDocument/2006/relationships/image" Target="../media/image31.png"/><Relationship Id="rId3" Type="http://schemas.openxmlformats.org/officeDocument/2006/relationships/tags" Target="../tags/tag123.xml"/><Relationship Id="rId2" Type="http://schemas.openxmlformats.org/officeDocument/2006/relationships/image" Target="../media/image13.png"/><Relationship Id="rId1" Type="http://schemas.openxmlformats.org/officeDocument/2006/relationships/tags" Target="../tags/tag12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2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tags" Target="../tags/tag127.xml"/><Relationship Id="rId4" Type="http://schemas.openxmlformats.org/officeDocument/2006/relationships/image" Target="../media/image32.png"/><Relationship Id="rId3" Type="http://schemas.openxmlformats.org/officeDocument/2006/relationships/tags" Target="../tags/tag126.xml"/><Relationship Id="rId2" Type="http://schemas.openxmlformats.org/officeDocument/2006/relationships/image" Target="../media/image13.png"/><Relationship Id="rId1" Type="http://schemas.openxmlformats.org/officeDocument/2006/relationships/tags" Target="../tags/tag125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4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129.xml"/><Relationship Id="rId2" Type="http://schemas.openxmlformats.org/officeDocument/2006/relationships/image" Target="../media/image13.png"/><Relationship Id="rId1" Type="http://schemas.openxmlformats.org/officeDocument/2006/relationships/tags" Target="../tags/tag128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tags" Target="../tags/tag135.xml"/><Relationship Id="rId8" Type="http://schemas.openxmlformats.org/officeDocument/2006/relationships/image" Target="../media/image34.png"/><Relationship Id="rId7" Type="http://schemas.openxmlformats.org/officeDocument/2006/relationships/tags" Target="../tags/tag134.xml"/><Relationship Id="rId6" Type="http://schemas.openxmlformats.org/officeDocument/2006/relationships/image" Target="../media/image33.png"/><Relationship Id="rId5" Type="http://schemas.openxmlformats.org/officeDocument/2006/relationships/tags" Target="../tags/tag133.xml"/><Relationship Id="rId4" Type="http://schemas.openxmlformats.org/officeDocument/2006/relationships/tags" Target="../tags/tag132.xml"/><Relationship Id="rId3" Type="http://schemas.openxmlformats.org/officeDocument/2006/relationships/tags" Target="../tags/tag131.xml"/><Relationship Id="rId2" Type="http://schemas.openxmlformats.org/officeDocument/2006/relationships/image" Target="../media/image13.png"/><Relationship Id="rId18" Type="http://schemas.openxmlformats.org/officeDocument/2006/relationships/notesSlide" Target="../notesSlides/notesSlide35.xml"/><Relationship Id="rId17" Type="http://schemas.openxmlformats.org/officeDocument/2006/relationships/slideLayout" Target="../slideLayouts/slideLayout3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image" Target="../media/image36.png"/><Relationship Id="rId11" Type="http://schemas.openxmlformats.org/officeDocument/2006/relationships/tags" Target="../tags/tag136.xml"/><Relationship Id="rId10" Type="http://schemas.openxmlformats.org/officeDocument/2006/relationships/image" Target="../media/image35.png"/><Relationship Id="rId1" Type="http://schemas.openxmlformats.org/officeDocument/2006/relationships/tags" Target="../tags/tag130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6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7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tags" Target="../tags/tag143.xml"/><Relationship Id="rId4" Type="http://schemas.openxmlformats.org/officeDocument/2006/relationships/image" Target="../media/image7.png"/><Relationship Id="rId3" Type="http://schemas.openxmlformats.org/officeDocument/2006/relationships/tags" Target="../tags/tag142.xml"/><Relationship Id="rId2" Type="http://schemas.openxmlformats.org/officeDocument/2006/relationships/image" Target="../media/image13.png"/><Relationship Id="rId1" Type="http://schemas.openxmlformats.org/officeDocument/2006/relationships/tags" Target="../tags/tag141.xml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8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147.xml"/><Relationship Id="rId6" Type="http://schemas.openxmlformats.org/officeDocument/2006/relationships/tags" Target="../tags/tag146.xml"/><Relationship Id="rId5" Type="http://schemas.openxmlformats.org/officeDocument/2006/relationships/image" Target="../media/image38.png"/><Relationship Id="rId4" Type="http://schemas.openxmlformats.org/officeDocument/2006/relationships/tags" Target="../tags/tag145.xml"/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tags" Target="../tags/tag144.xml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tags" Target="../tags/tag153.xml"/><Relationship Id="rId8" Type="http://schemas.openxmlformats.org/officeDocument/2006/relationships/image" Target="../media/image39.png"/><Relationship Id="rId7" Type="http://schemas.openxmlformats.org/officeDocument/2006/relationships/tags" Target="../tags/tag152.xml"/><Relationship Id="rId6" Type="http://schemas.openxmlformats.org/officeDocument/2006/relationships/tags" Target="../tags/tag151.xml"/><Relationship Id="rId5" Type="http://schemas.openxmlformats.org/officeDocument/2006/relationships/tags" Target="../tags/tag150.xml"/><Relationship Id="rId4" Type="http://schemas.openxmlformats.org/officeDocument/2006/relationships/image" Target="../media/image7.png"/><Relationship Id="rId3" Type="http://schemas.openxmlformats.org/officeDocument/2006/relationships/tags" Target="../tags/tag149.xml"/><Relationship Id="rId2" Type="http://schemas.openxmlformats.org/officeDocument/2006/relationships/image" Target="../media/image13.png"/><Relationship Id="rId12" Type="http://schemas.openxmlformats.org/officeDocument/2006/relationships/notesSlide" Target="../notesSlides/notesSlide39.xml"/><Relationship Id="rId11" Type="http://schemas.openxmlformats.org/officeDocument/2006/relationships/slideLayout" Target="../slideLayouts/slideLayout3.xml"/><Relationship Id="rId10" Type="http://schemas.openxmlformats.org/officeDocument/2006/relationships/image" Target="../media/image40.png"/><Relationship Id="rId1" Type="http://schemas.openxmlformats.org/officeDocument/2006/relationships/tags" Target="../tags/tag148.xml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tags" Target="../tags/tag159.xml"/><Relationship Id="rId8" Type="http://schemas.openxmlformats.org/officeDocument/2006/relationships/tags" Target="../tags/tag158.xml"/><Relationship Id="rId7" Type="http://schemas.openxmlformats.org/officeDocument/2006/relationships/image" Target="../media/image39.png"/><Relationship Id="rId6" Type="http://schemas.openxmlformats.org/officeDocument/2006/relationships/tags" Target="../tags/tag157.xml"/><Relationship Id="rId5" Type="http://schemas.openxmlformats.org/officeDocument/2006/relationships/tags" Target="../tags/tag156.xml"/><Relationship Id="rId4" Type="http://schemas.openxmlformats.org/officeDocument/2006/relationships/image" Target="../media/image7.png"/><Relationship Id="rId3" Type="http://schemas.openxmlformats.org/officeDocument/2006/relationships/tags" Target="../tags/tag155.xml"/><Relationship Id="rId2" Type="http://schemas.openxmlformats.org/officeDocument/2006/relationships/image" Target="../media/image13.png"/><Relationship Id="rId13" Type="http://schemas.openxmlformats.org/officeDocument/2006/relationships/notesSlide" Target="../notesSlides/notesSlide40.xml"/><Relationship Id="rId12" Type="http://schemas.openxmlformats.org/officeDocument/2006/relationships/slideLayout" Target="../slideLayouts/slideLayout3.xml"/><Relationship Id="rId11" Type="http://schemas.openxmlformats.org/officeDocument/2006/relationships/image" Target="../media/image42.png"/><Relationship Id="rId10" Type="http://schemas.openxmlformats.org/officeDocument/2006/relationships/image" Target="../media/image41.png"/><Relationship Id="rId1" Type="http://schemas.openxmlformats.org/officeDocument/2006/relationships/tags" Target="../tags/tag154.xml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1.xml"/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44.png"/><Relationship Id="rId6" Type="http://schemas.openxmlformats.org/officeDocument/2006/relationships/tags" Target="../tags/tag163.xml"/><Relationship Id="rId5" Type="http://schemas.openxmlformats.org/officeDocument/2006/relationships/image" Target="../media/image43.png"/><Relationship Id="rId4" Type="http://schemas.openxmlformats.org/officeDocument/2006/relationships/tags" Target="../tags/tag162.xml"/><Relationship Id="rId3" Type="http://schemas.openxmlformats.org/officeDocument/2006/relationships/tags" Target="../tags/tag161.xml"/><Relationship Id="rId2" Type="http://schemas.openxmlformats.org/officeDocument/2006/relationships/image" Target="../media/image13.png"/><Relationship Id="rId1" Type="http://schemas.openxmlformats.org/officeDocument/2006/relationships/tags" Target="../tags/tag160.xml"/></Relationships>
</file>

<file path=ppt/slides/_rels/slide4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2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45.png"/><Relationship Id="rId3" Type="http://schemas.openxmlformats.org/officeDocument/2006/relationships/tags" Target="../tags/tag165.xml"/><Relationship Id="rId2" Type="http://schemas.openxmlformats.org/officeDocument/2006/relationships/image" Target="../media/image13.png"/><Relationship Id="rId1" Type="http://schemas.openxmlformats.org/officeDocument/2006/relationships/tags" Target="../tags/tag164.xml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7.png"/><Relationship Id="rId7" Type="http://schemas.openxmlformats.org/officeDocument/2006/relationships/tags" Target="../tags/tag169.xml"/><Relationship Id="rId6" Type="http://schemas.openxmlformats.org/officeDocument/2006/relationships/image" Target="../media/image47.png"/><Relationship Id="rId5" Type="http://schemas.openxmlformats.org/officeDocument/2006/relationships/tags" Target="../tags/tag168.xml"/><Relationship Id="rId4" Type="http://schemas.openxmlformats.org/officeDocument/2006/relationships/image" Target="../media/image46.png"/><Relationship Id="rId3" Type="http://schemas.openxmlformats.org/officeDocument/2006/relationships/tags" Target="../tags/tag167.xml"/><Relationship Id="rId2" Type="http://schemas.openxmlformats.org/officeDocument/2006/relationships/image" Target="../media/image13.png"/><Relationship Id="rId10" Type="http://schemas.openxmlformats.org/officeDocument/2006/relationships/notesSlide" Target="../notesSlides/notesSlide43.xml"/><Relationship Id="rId1" Type="http://schemas.openxmlformats.org/officeDocument/2006/relationships/tags" Target="../tags/tag166.xml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4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4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5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tags" Target="../tags/tag171.xml"/><Relationship Id="rId3" Type="http://schemas.openxmlformats.org/officeDocument/2006/relationships/image" Target="../media/image48.png"/><Relationship Id="rId2" Type="http://schemas.openxmlformats.org/officeDocument/2006/relationships/image" Target="../media/image13.png"/><Relationship Id="rId1" Type="http://schemas.openxmlformats.org/officeDocument/2006/relationships/tags" Target="../tags/tag170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6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tags" Target="../tags/tag174.xml"/><Relationship Id="rId4" Type="http://schemas.openxmlformats.org/officeDocument/2006/relationships/tags" Target="../tags/tag173.xml"/><Relationship Id="rId3" Type="http://schemas.openxmlformats.org/officeDocument/2006/relationships/image" Target="../media/image49.png"/><Relationship Id="rId2" Type="http://schemas.openxmlformats.org/officeDocument/2006/relationships/image" Target="../media/image13.png"/><Relationship Id="rId1" Type="http://schemas.openxmlformats.org/officeDocument/2006/relationships/tags" Target="../tags/tag172.xml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7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E0FAFF">
                <a:alpha val="83000"/>
              </a:srgbClr>
            </a:gs>
            <a:gs pos="100000">
              <a:srgbClr val="C2F5F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6:51-d0shsss75iks832je9rg.png"/>
          <p:cNvPicPr>
            <a:picLocks noChangeAspect="1"/>
          </p:cNvPicPr>
          <p:nvPr/>
        </p:nvPicPr>
        <p:blipFill>
          <a:blip r:embed="rId1"/>
          <a:srcRect l="26973" t="18251" r="15191" b="19034"/>
          <a:stretch>
            <a:fillRect/>
          </a:stretch>
        </p:blipFill>
        <p:spPr>
          <a:xfrm>
            <a:off x="-22860" y="-4445"/>
            <a:ext cx="12272010" cy="68668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79600" y="2159635"/>
            <a:ext cx="7327900" cy="211582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5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网络空间安全展演活动参赛</a:t>
            </a:r>
            <a:r>
              <a:rPr lang="zh-CN" altLang="en-US" sz="5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作品指导</a:t>
            </a:r>
            <a:endParaRPr lang="zh-CN" altLang="en-US" sz="54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452880" y="4610735"/>
            <a:ext cx="2057400" cy="518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565275" y="5251450"/>
            <a:ext cx="153670" cy="153670"/>
          </a:xfrm>
          <a:prstGeom prst="star4">
            <a:avLst>
              <a:gd name="adj" fmla="val 10416"/>
            </a:avLst>
          </a:prstGeom>
          <a:solidFill>
            <a:srgbClr val="FFBB59"/>
          </a:solidFill>
        </p:spPr>
      </p:sp>
      <p:sp>
        <p:nvSpPr>
          <p:cNvPr id="11" name="Text 8"/>
          <p:cNvSpPr/>
          <p:nvPr/>
        </p:nvSpPr>
        <p:spPr>
          <a:xfrm>
            <a:off x="1788795" y="5076825"/>
            <a:ext cx="153670" cy="1536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555115" y="4508500"/>
            <a:ext cx="153670" cy="153670"/>
          </a:xfrm>
          <a:prstGeom prst="star4">
            <a:avLst>
              <a:gd name="adj" fmla="val 10416"/>
            </a:avLst>
          </a:prstGeom>
          <a:solidFill>
            <a:srgbClr val="FFBB59"/>
          </a:solidFill>
        </p:spPr>
      </p:sp>
      <p:sp>
        <p:nvSpPr>
          <p:cNvPr id="13" name="Text 10"/>
          <p:cNvSpPr/>
          <p:nvPr/>
        </p:nvSpPr>
        <p:spPr>
          <a:xfrm>
            <a:off x="1261745" y="4424680"/>
            <a:ext cx="153670" cy="1536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610995" y="509270"/>
            <a:ext cx="86398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pic>
        <p:nvPicPr>
          <p:cNvPr id="15" name="Image 1" descr="https://test-kimi-img.moonshot.cn/pub/slides/slides_tmpl/image/25-05-30-10:56:46-d0shsrk75iks832je9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6" name="Image 2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8" name="Image 3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pic>
        <p:nvPicPr>
          <p:cNvPr id="21" name="Image 5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22" name="Image 6" descr="https://test-kimi-img.moonshot.cn/pub/slides/slides_tmpl/image/25-05-30-10:56:51-d0shsss75iks832je9q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885" y="2215515"/>
            <a:ext cx="3242945" cy="1664335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24" name="Image 7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25" name="Image 8" descr="https://test-kimi-img.moonshot.cn/pub/slides/slides_tmpl/image/25-05-30-10:56:51-d0shsss75iks832je9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7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E0FAFF">
                <a:alpha val="83000"/>
              </a:srgbClr>
            </a:gs>
            <a:gs pos="100000">
              <a:srgbClr val="C2F5F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02-d0shsvk75iks832je9tg.png"/>
          <p:cNvPicPr>
            <a:picLocks noChangeAspect="1"/>
          </p:cNvPicPr>
          <p:nvPr/>
        </p:nvPicPr>
        <p:blipFill>
          <a:blip r:embed="rId1"/>
          <a:srcRect l="12131" t="18481" r="12088" b="20428"/>
          <a:stretch>
            <a:fillRect/>
          </a:stretch>
        </p:blipFill>
        <p:spPr>
          <a:xfrm>
            <a:off x="89535" y="-18415"/>
            <a:ext cx="12213590" cy="6876415"/>
          </a:xfrm>
          <a:prstGeom prst="rect">
            <a:avLst/>
          </a:prstGeom>
        </p:spPr>
      </p:pic>
      <p:sp>
        <p:nvSpPr>
          <p:cNvPr id="3" name="Shape 0"/>
          <p:cNvSpPr/>
          <p:nvPr>
            <p:custDataLst>
              <p:tags r:id="rId2"/>
            </p:custDataLst>
          </p:nvPr>
        </p:nvSpPr>
        <p:spPr>
          <a:xfrm flipH="1">
            <a:off x="6266815" y="1268730"/>
            <a:ext cx="12700" cy="575945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000000">
                    <a:alpha val="0"/>
                  </a:srgbClr>
                </a:gs>
                <a:gs pos="50000">
                  <a:srgbClr val="000000"/>
                </a:gs>
                <a:gs pos="100000">
                  <a:srgbClr val="000000">
                    <a:alpha val="0"/>
                  </a:srgb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</p:sp>
      <p:sp>
        <p:nvSpPr>
          <p:cNvPr id="4" name="Text 1"/>
          <p:cNvSpPr/>
          <p:nvPr>
            <p:custDataLst>
              <p:tags r:id="rId3"/>
            </p:custDataLst>
          </p:nvPr>
        </p:nvSpPr>
        <p:spPr>
          <a:xfrm>
            <a:off x="5268595" y="1203325"/>
            <a:ext cx="104140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2"/>
          <p:cNvSpPr/>
          <p:nvPr>
            <p:custDataLst>
              <p:tags r:id="rId4"/>
            </p:custDataLst>
          </p:nvPr>
        </p:nvSpPr>
        <p:spPr>
          <a:xfrm>
            <a:off x="6335395" y="1308735"/>
            <a:ext cx="554736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网络安全基础知识</a:t>
            </a:r>
            <a:endParaRPr lang="en-US" sz="1600" dirty="0"/>
          </a:p>
        </p:txBody>
      </p:sp>
      <p:sp>
        <p:nvSpPr>
          <p:cNvPr id="6" name="Shape 3"/>
          <p:cNvSpPr/>
          <p:nvPr>
            <p:custDataLst>
              <p:tags r:id="rId5"/>
            </p:custDataLst>
          </p:nvPr>
        </p:nvSpPr>
        <p:spPr>
          <a:xfrm flipH="1">
            <a:off x="6266815" y="2104390"/>
            <a:ext cx="12700" cy="575945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000000">
                    <a:alpha val="0"/>
                  </a:srgbClr>
                </a:gs>
                <a:gs pos="50000">
                  <a:srgbClr val="000000"/>
                </a:gs>
                <a:gs pos="100000">
                  <a:srgbClr val="000000">
                    <a:alpha val="0"/>
                  </a:srgb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>
            <p:custDataLst>
              <p:tags r:id="rId6"/>
            </p:custDataLst>
          </p:nvPr>
        </p:nvSpPr>
        <p:spPr>
          <a:xfrm>
            <a:off x="5268595" y="2038985"/>
            <a:ext cx="104140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5"/>
          <p:cNvSpPr/>
          <p:nvPr>
            <p:custDataLst>
              <p:tags r:id="rId7"/>
            </p:custDataLst>
          </p:nvPr>
        </p:nvSpPr>
        <p:spPr>
          <a:xfrm>
            <a:off x="6335395" y="2144395"/>
            <a:ext cx="559816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目的与意义</a:t>
            </a:r>
            <a:endParaRPr lang="en-US" sz="1600" dirty="0"/>
          </a:p>
        </p:txBody>
      </p:sp>
      <p:sp>
        <p:nvSpPr>
          <p:cNvPr id="9" name="Shape 6"/>
          <p:cNvSpPr/>
          <p:nvPr>
            <p:custDataLst>
              <p:tags r:id="rId8"/>
            </p:custDataLst>
          </p:nvPr>
        </p:nvSpPr>
        <p:spPr>
          <a:xfrm flipH="1">
            <a:off x="6266815" y="2940050"/>
            <a:ext cx="12700" cy="575945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000000">
                    <a:alpha val="0"/>
                  </a:srgbClr>
                </a:gs>
                <a:gs pos="50000">
                  <a:srgbClr val="000000"/>
                </a:gs>
                <a:gs pos="100000">
                  <a:srgbClr val="000000">
                    <a:alpha val="0"/>
                  </a:srgb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</p:sp>
      <p:sp>
        <p:nvSpPr>
          <p:cNvPr id="10" name="Text 7"/>
          <p:cNvSpPr/>
          <p:nvPr>
            <p:custDataLst>
              <p:tags r:id="rId9"/>
            </p:custDataLst>
          </p:nvPr>
        </p:nvSpPr>
        <p:spPr>
          <a:xfrm>
            <a:off x="5268595" y="2874645"/>
            <a:ext cx="104140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8"/>
          <p:cNvSpPr/>
          <p:nvPr>
            <p:custDataLst>
              <p:tags r:id="rId10"/>
            </p:custDataLst>
          </p:nvPr>
        </p:nvSpPr>
        <p:spPr>
          <a:xfrm>
            <a:off x="6335395" y="2980055"/>
            <a:ext cx="554736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参赛作品创作指导</a:t>
            </a:r>
            <a:endParaRPr lang="en-US" sz="1600" dirty="0"/>
          </a:p>
        </p:txBody>
      </p:sp>
      <p:sp>
        <p:nvSpPr>
          <p:cNvPr id="12" name="Shape 9"/>
          <p:cNvSpPr/>
          <p:nvPr>
            <p:custDataLst>
              <p:tags r:id="rId11"/>
            </p:custDataLst>
          </p:nvPr>
        </p:nvSpPr>
        <p:spPr>
          <a:xfrm flipH="1">
            <a:off x="6266815" y="3775710"/>
            <a:ext cx="12700" cy="575945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000000">
                    <a:alpha val="0"/>
                  </a:srgbClr>
                </a:gs>
                <a:gs pos="50000">
                  <a:srgbClr val="000000"/>
                </a:gs>
                <a:gs pos="100000">
                  <a:srgbClr val="000000">
                    <a:alpha val="0"/>
                  </a:srgb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</p:sp>
      <p:sp>
        <p:nvSpPr>
          <p:cNvPr id="13" name="Text 10"/>
          <p:cNvSpPr/>
          <p:nvPr>
            <p:custDataLst>
              <p:tags r:id="rId12"/>
            </p:custDataLst>
          </p:nvPr>
        </p:nvSpPr>
        <p:spPr>
          <a:xfrm>
            <a:off x="5268595" y="3710305"/>
            <a:ext cx="104140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1"/>
          <p:cNvSpPr/>
          <p:nvPr>
            <p:custDataLst>
              <p:tags r:id="rId13"/>
            </p:custDataLst>
          </p:nvPr>
        </p:nvSpPr>
        <p:spPr>
          <a:xfrm>
            <a:off x="6335395" y="3815715"/>
            <a:ext cx="559816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法律法规</a:t>
            </a:r>
            <a:r>
              <a:rPr lang="zh-CN" altLang="en-US" sz="24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要求</a:t>
            </a:r>
            <a:endParaRPr lang="zh-CN" altLang="en-US" sz="2400" b="1" dirty="0">
              <a:solidFill>
                <a:srgbClr val="40404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5" name="Shape 12"/>
          <p:cNvSpPr/>
          <p:nvPr>
            <p:custDataLst>
              <p:tags r:id="rId14"/>
            </p:custDataLst>
          </p:nvPr>
        </p:nvSpPr>
        <p:spPr>
          <a:xfrm flipH="1">
            <a:off x="6266815" y="4611370"/>
            <a:ext cx="12700" cy="575945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000000">
                    <a:alpha val="0"/>
                  </a:srgbClr>
                </a:gs>
                <a:gs pos="50000">
                  <a:srgbClr val="000000"/>
                </a:gs>
                <a:gs pos="100000">
                  <a:srgbClr val="000000">
                    <a:alpha val="0"/>
                  </a:srgb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</p:sp>
      <p:sp>
        <p:nvSpPr>
          <p:cNvPr id="16" name="Text 13"/>
          <p:cNvSpPr/>
          <p:nvPr>
            <p:custDataLst>
              <p:tags r:id="rId15"/>
            </p:custDataLst>
          </p:nvPr>
        </p:nvSpPr>
        <p:spPr>
          <a:xfrm>
            <a:off x="5268595" y="4545965"/>
            <a:ext cx="1041400" cy="5835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4"/>
          <p:cNvSpPr/>
          <p:nvPr>
            <p:custDataLst>
              <p:tags r:id="rId16"/>
            </p:custDataLst>
          </p:nvPr>
        </p:nvSpPr>
        <p:spPr>
          <a:xfrm>
            <a:off x="6335395" y="4651375"/>
            <a:ext cx="554736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4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案例</a:t>
            </a:r>
            <a:r>
              <a:rPr lang="zh-CN" altLang="en-US" sz="24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展示</a:t>
            </a:r>
            <a:endParaRPr lang="zh-CN" altLang="en-US" sz="2400" b="1" dirty="0">
              <a:solidFill>
                <a:srgbClr val="40404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351280" y="2143125"/>
            <a:ext cx="2235200" cy="12360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54305" y="3340100"/>
            <a:ext cx="4629150" cy="6896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pic>
        <p:nvPicPr>
          <p:cNvPr id="23" name="Image 1" descr="https://test-kimi-img.moonshot.cn/pub/slides/slides_tmpl/image/25-05-30-10:57:02-d0shsvk75iks832je9u0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4840" y="2279015"/>
            <a:ext cx="3980815" cy="212153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8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E0FAFF">
                <a:alpha val="83000"/>
              </a:srgbClr>
            </a:gs>
            <a:gs pos="100000">
              <a:srgbClr val="C2F5F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06-d0sht0k75iks832je9v0.png"/>
          <p:cNvPicPr>
            <a:picLocks noChangeAspect="1"/>
          </p:cNvPicPr>
          <p:nvPr/>
        </p:nvPicPr>
        <p:blipFill>
          <a:blip r:embed="rId1"/>
          <a:srcRect l="5876" t="9906"/>
          <a:stretch>
            <a:fillRect/>
          </a:stretch>
        </p:blipFill>
        <p:spPr>
          <a:xfrm>
            <a:off x="8255" y="-36830"/>
            <a:ext cx="11229340" cy="63468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8000" y="1278890"/>
            <a:ext cx="6096000" cy="13220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745105" y="2883535"/>
            <a:ext cx="6702425" cy="9207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网络安全基础知识</a:t>
            </a:r>
            <a:endParaRPr lang="en-US" sz="1600" dirty="0"/>
          </a:p>
        </p:txBody>
      </p:sp>
      <p:pic>
        <p:nvPicPr>
          <p:cNvPr id="5" name="Image 1" descr="https://test-kimi-img.moonshot.cn/pub/slides/slides_tmpl/image/25-05-30-10:57:06-d0sht0k75iks832je9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610995" y="509270"/>
            <a:ext cx="86398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5-30-10:56:46-d0shsrk75iks832je9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5-30-10:56:51-d0shsss75iks832je9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16" name="Image 8" descr="https://test-kimi-img.moonshot.cn/pub/slides/slides_tmpl/image/25-05-30-10:57:06-d0sht0k75iks832je9v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8580" y="1563370"/>
            <a:ext cx="2450465" cy="121920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8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alphaModFix amt="0"/>
          </a:blip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17" name="标题 16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8965" y="507435"/>
            <a:ext cx="10972800" cy="763200"/>
          </a:xfrm>
        </p:spPr>
        <p:txBody>
          <a:bodyPr/>
          <a:lstStyle/>
          <a:p>
            <a:pPr algn="l"/>
            <a:r>
              <a:rPr lang="en-US" altLang="zh-CN" sz="3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1.1</a:t>
            </a:r>
            <a:r>
              <a:rPr lang="zh-CN" altLang="en-US" sz="3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网络安全概念</a:t>
            </a:r>
            <a:endParaRPr lang="zh-CN" altLang="en-US" sz="3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圆角矩形 3"/>
          <p:cNvSpPr/>
          <p:nvPr>
            <p:custDataLst>
              <p:tags r:id="rId4"/>
            </p:custDataLst>
          </p:nvPr>
        </p:nvSpPr>
        <p:spPr>
          <a:xfrm>
            <a:off x="608965" y="1512429"/>
            <a:ext cx="10974070" cy="2308994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  <a:alpha val="25000"/>
            </a:schemeClr>
          </a:solidFill>
          <a:ln w="254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3" name="矩形 4"/>
          <p:cNvSpPr/>
          <p:nvPr>
            <p:custDataLst>
              <p:tags r:id="rId5"/>
            </p:custDataLst>
          </p:nvPr>
        </p:nvSpPr>
        <p:spPr>
          <a:xfrm>
            <a:off x="1341162" y="2334802"/>
            <a:ext cx="9509675" cy="117926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just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网络安全是指保护网络系统中的硬件、软件及数据免受攻击、破坏和泄露，确保网络系统的正常运行。它不仅是国家安全的重要组成部分，也与每个人的日常生活息息相关。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0" name="矩形 5"/>
          <p:cNvSpPr/>
          <p:nvPr>
            <p:custDataLst>
              <p:tags r:id="rId6"/>
            </p:custDataLst>
          </p:nvPr>
        </p:nvSpPr>
        <p:spPr>
          <a:xfrm>
            <a:off x="1341162" y="1821057"/>
            <a:ext cx="9509675" cy="466752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+mn-ea"/>
              </a:rPr>
              <a:t>网络安全定义</a:t>
            </a:r>
            <a:endParaRPr lang="zh-CN" altLang="en-US" sz="24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1" name="圆角矩形 8"/>
          <p:cNvSpPr/>
          <p:nvPr>
            <p:custDataLst>
              <p:tags r:id="rId7"/>
            </p:custDataLst>
          </p:nvPr>
        </p:nvSpPr>
        <p:spPr>
          <a:xfrm>
            <a:off x="608965" y="4063372"/>
            <a:ext cx="10974070" cy="230899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254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12" name="矩形 6"/>
          <p:cNvSpPr/>
          <p:nvPr>
            <p:custDataLst>
              <p:tags r:id="rId8"/>
            </p:custDataLst>
          </p:nvPr>
        </p:nvSpPr>
        <p:spPr>
          <a:xfrm>
            <a:off x="1341162" y="4885745"/>
            <a:ext cx="9509675" cy="117926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just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FFFFFF"/>
                </a:solidFill>
                <a:latin typeface="+mn-ea"/>
                <a:cs typeface="+mn-ea"/>
              </a:rPr>
              <a:t>在当今数字化时代，网络空间已成为国家竞争的新战场。网络安全直接关系到国家的政治、经济、军事等各个领域。对于个人而言，网络安全涉及财产安全、隐私保护等基本权益。</a:t>
            </a:r>
            <a:endParaRPr lang="zh-CN" altLang="en-US" dirty="0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13" name="矩形 7"/>
          <p:cNvSpPr/>
          <p:nvPr>
            <p:custDataLst>
              <p:tags r:id="rId9"/>
            </p:custDataLst>
          </p:nvPr>
        </p:nvSpPr>
        <p:spPr>
          <a:xfrm>
            <a:off x="1341162" y="4372000"/>
            <a:ext cx="9509675" cy="466752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cs typeface="+mn-ea"/>
              </a:rPr>
              <a:t>网络安全重要性</a:t>
            </a:r>
            <a:endParaRPr lang="zh-CN" altLang="en-US" sz="2400" b="1" dirty="0">
              <a:solidFill>
                <a:srgbClr val="FFFFFF"/>
              </a:solidFill>
              <a:latin typeface="+mn-ea"/>
              <a:cs typeface="+mn-ea"/>
            </a:endParaRPr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alphaModFix amt="0"/>
          </a:blip>
          <a:srcRect l="7185" t="13452" r="6989" b="11434"/>
          <a:stretch>
            <a:fillRect/>
          </a:stretch>
        </p:blipFill>
        <p:spPr>
          <a:xfrm>
            <a:off x="-27940" y="-41910"/>
            <a:ext cx="12219940" cy="6899910"/>
          </a:xfrm>
          <a:prstGeom prst="rect">
            <a:avLst/>
          </a:prstGeom>
        </p:spPr>
      </p:pic>
      <p:sp>
        <p:nvSpPr>
          <p:cNvPr id="17" name="标题 16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9600" y="608400"/>
            <a:ext cx="10972800" cy="763200"/>
          </a:xfrm>
        </p:spPr>
        <p:txBody>
          <a:bodyPr/>
          <a:lstStyle/>
          <a:p>
            <a:pPr algn="l"/>
            <a:r>
              <a:rPr lang="en-US" altLang="zh-CN" sz="3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1.2</a:t>
            </a:r>
            <a:r>
              <a:rPr lang="zh-CN" altLang="en-US" sz="3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常见网络威胁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圆角矩形 3"/>
          <p:cNvSpPr/>
          <p:nvPr>
            <p:custDataLst>
              <p:tags r:id="rId4"/>
            </p:custDataLst>
          </p:nvPr>
        </p:nvSpPr>
        <p:spPr>
          <a:xfrm>
            <a:off x="608965" y="1512429"/>
            <a:ext cx="10974070" cy="2308994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  <a:alpha val="25000"/>
            </a:schemeClr>
          </a:solidFill>
          <a:ln w="254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3" name="矩形 4"/>
          <p:cNvSpPr/>
          <p:nvPr>
            <p:custDataLst>
              <p:tags r:id="rId5"/>
            </p:custDataLst>
          </p:nvPr>
        </p:nvSpPr>
        <p:spPr>
          <a:xfrm>
            <a:off x="1341162" y="2334802"/>
            <a:ext cx="9509675" cy="117926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just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讲解病毒和木马的传播方式、危害以及防范措施。病毒和木马会破坏计算机系统、窃取用户信息，给用户带来巨大损失。定期更新系统、安装杀毒软件是有效的防范手段。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0" name="矩形 5"/>
          <p:cNvSpPr/>
          <p:nvPr>
            <p:custDataLst>
              <p:tags r:id="rId6"/>
            </p:custDataLst>
          </p:nvPr>
        </p:nvSpPr>
        <p:spPr>
          <a:xfrm>
            <a:off x="1341162" y="1821057"/>
            <a:ext cx="9509675" cy="466752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+mn-ea"/>
                <a:cs typeface="+mn-ea"/>
              </a:rPr>
              <a:t>病毒与木马</a:t>
            </a:r>
            <a:endParaRPr lang="zh-CN" altLang="en-US" sz="2400" b="1" dirty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1" name="圆角矩形 8"/>
          <p:cNvSpPr/>
          <p:nvPr>
            <p:custDataLst>
              <p:tags r:id="rId7"/>
            </p:custDataLst>
          </p:nvPr>
        </p:nvSpPr>
        <p:spPr>
          <a:xfrm>
            <a:off x="608965" y="4063372"/>
            <a:ext cx="10974070" cy="230899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254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12" name="矩形 6"/>
          <p:cNvSpPr/>
          <p:nvPr>
            <p:custDataLst>
              <p:tags r:id="rId8"/>
            </p:custDataLst>
          </p:nvPr>
        </p:nvSpPr>
        <p:spPr>
          <a:xfrm>
            <a:off x="1341162" y="4885745"/>
            <a:ext cx="9509675" cy="117926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indent="0" algn="just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FFFFFF"/>
                </a:solidFill>
                <a:latin typeface="+mn-ea"/>
                <a:cs typeface="+mn-ea"/>
              </a:rPr>
              <a:t>钓鱼攻击和电信诈骗是常见的网络诈骗手段。通过伪装成正规网站或冒充公检法等机构，诱骗用户输入个人信息或转账。提高警惕、不随意点击陌生链接是防范的关键。</a:t>
            </a:r>
            <a:endParaRPr lang="zh-CN" altLang="en-US" dirty="0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13" name="矩形 7"/>
          <p:cNvSpPr/>
          <p:nvPr>
            <p:custDataLst>
              <p:tags r:id="rId9"/>
            </p:custDataLst>
          </p:nvPr>
        </p:nvSpPr>
        <p:spPr>
          <a:xfrm>
            <a:off x="1341162" y="4372000"/>
            <a:ext cx="9509675" cy="466752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cs typeface="+mn-ea"/>
              </a:rPr>
              <a:t>钓鱼攻击和电信</a:t>
            </a:r>
            <a:r>
              <a:rPr lang="zh-CN" altLang="en-US" sz="2400" b="1" dirty="0">
                <a:solidFill>
                  <a:srgbClr val="FFFFFF"/>
                </a:solidFill>
                <a:latin typeface="+mn-ea"/>
                <a:cs typeface="+mn-ea"/>
              </a:rPr>
              <a:t>诈骗</a:t>
            </a:r>
            <a:endParaRPr lang="zh-CN" altLang="en-US" sz="2400" b="1" dirty="0">
              <a:solidFill>
                <a:srgbClr val="FFFFFF"/>
              </a:solidFill>
              <a:latin typeface="+mn-ea"/>
              <a:cs typeface="+mn-ea"/>
            </a:endParaRPr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E0FAFF">
                <a:alpha val="83000"/>
              </a:srgbClr>
            </a:gs>
            <a:gs pos="100000">
              <a:srgbClr val="C2F5F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06-d0sht0k75iks832je9v0.png"/>
          <p:cNvPicPr>
            <a:picLocks noChangeAspect="1"/>
          </p:cNvPicPr>
          <p:nvPr/>
        </p:nvPicPr>
        <p:blipFill>
          <a:blip r:embed="rId1"/>
          <a:srcRect l="5876" t="9906"/>
          <a:stretch>
            <a:fillRect/>
          </a:stretch>
        </p:blipFill>
        <p:spPr>
          <a:xfrm>
            <a:off x="8255" y="-36830"/>
            <a:ext cx="11229340" cy="63468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8000" y="1278890"/>
            <a:ext cx="6096000" cy="13220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745105" y="2883535"/>
            <a:ext cx="6702425" cy="10147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目的与意义</a:t>
            </a:r>
            <a:endParaRPr lang="en-US" sz="1600" dirty="0"/>
          </a:p>
        </p:txBody>
      </p:sp>
      <p:pic>
        <p:nvPicPr>
          <p:cNvPr id="5" name="Image 1" descr="https://test-kimi-img.moonshot.cn/pub/slides/slides_tmpl/image/25-05-30-10:57:06-d0sht0k75iks832je9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610995" y="509270"/>
            <a:ext cx="86398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5-30-10:56:46-d0shsrk75iks832je9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5-30-10:56:51-d0shsss75iks832je9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16" name="Image 8" descr="https://test-kimi-img.moonshot.cn/pub/slides/slides_tmpl/image/25-05-30-10:57:06-d0sht0k75iks832je9v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8580" y="1563370"/>
            <a:ext cx="2450465" cy="121920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8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/>
        </p:nvPicPr>
        <p:blipFill>
          <a:blip r:embed="rId1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V="1">
            <a:off x="971055" y="748041"/>
            <a:ext cx="292595" cy="291454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971055" y="748041"/>
            <a:ext cx="292595" cy="2914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flipV="1">
            <a:off x="594360" y="3803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 flipV="1">
            <a:off x="971055" y="748041"/>
            <a:ext cx="292595" cy="291454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8" name="Text 5"/>
          <p:cNvSpPr/>
          <p:nvPr/>
        </p:nvSpPr>
        <p:spPr>
          <a:xfrm>
            <a:off x="971055" y="748041"/>
            <a:ext cx="292595" cy="2914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flipV="1">
            <a:off x="594360" y="3803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10" name="Text 7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-635" y="-1905"/>
            <a:ext cx="4740275" cy="6859905"/>
          </a:xfrm>
          <a:prstGeom prst="rect">
            <a:avLst/>
          </a:prstGeom>
          <a:solidFill>
            <a:srgbClr val="5289ED"/>
          </a:solidFill>
        </p:spPr>
      </p:sp>
      <p:sp>
        <p:nvSpPr>
          <p:cNvPr id="12" name="Text 9"/>
          <p:cNvSpPr/>
          <p:nvPr/>
        </p:nvSpPr>
        <p:spPr>
          <a:xfrm>
            <a:off x="-635" y="-1905"/>
            <a:ext cx="4740275" cy="685990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06400" y="1508760"/>
            <a:ext cx="3535680" cy="4556760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175BD9"/>
                </a:gs>
                <a:gs pos="30000">
                  <a:srgbClr val="175BD9"/>
                </a:gs>
                <a:gs pos="100000">
                  <a:srgbClr val="5289ED"/>
                </a:gs>
              </a:gsLst>
              <a:lin ang="10800000" scaled="1"/>
            </a:gra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6400" y="1508760"/>
            <a:ext cx="3535680" cy="45567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25120" y="319405"/>
            <a:ext cx="378523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2.1 普及网络安全知识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68325" y="1746250"/>
            <a:ext cx="3178810" cy="3067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核心概念理解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68960" y="2586990"/>
            <a:ext cx="3182620" cy="34150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以总体国家安全观为指引，通过竞赛形式（以赛促学、以赛促教、以赛促用），核心目标是培养青少年的四大素养：</a:t>
            </a:r>
            <a:endParaRPr lang="zh-CN" altLang="en-US" sz="1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zh-CN" sz="1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 </a:t>
            </a: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信息安全意识：识别风险，保护自己。</a:t>
            </a:r>
            <a:endParaRPr lang="zh-CN" altLang="en-US" sz="1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zh-CN" sz="1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 </a:t>
            </a: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信息社会责任：规范言行，维护网络环境。</a:t>
            </a:r>
            <a:endParaRPr lang="zh-CN" altLang="en-US" sz="1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zh-CN" sz="1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 </a:t>
            </a: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计算思维：像程序员一样逻辑化解决问题。</a:t>
            </a:r>
            <a:endParaRPr lang="zh-CN" altLang="en-US" sz="1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zh-CN" sz="1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 </a:t>
            </a: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数字化学习与创新：利用数字工具高效学习与创造。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最终为国家培育、输出安全人才，筑牢安全防线。</a:t>
            </a:r>
            <a:endParaRPr lang="zh-CN" altLang="en-US" sz="1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94360" y="2431415"/>
            <a:ext cx="3178810" cy="0"/>
          </a:xfrm>
          <a:prstGeom prst="line">
            <a:avLst/>
          </a:prstGeom>
          <a:noFill/>
          <a:ln w="31750">
            <a:solidFill>
              <a:srgbClr val="5289ED"/>
            </a:solidFill>
            <a:prstDash val="solid"/>
            <a:headEnd type="none"/>
            <a:tailEnd type="none"/>
          </a:ln>
        </p:spPr>
      </p:sp>
      <p:sp>
        <p:nvSpPr>
          <p:cNvPr id="19" name="Shape 16"/>
          <p:cNvSpPr/>
          <p:nvPr/>
        </p:nvSpPr>
        <p:spPr>
          <a:xfrm>
            <a:off x="594360" y="2275840"/>
            <a:ext cx="3178810" cy="0"/>
          </a:xfrm>
          <a:prstGeom prst="line">
            <a:avLst/>
          </a:prstGeom>
          <a:noFill/>
          <a:ln w="12700">
            <a:solidFill>
              <a:srgbClr val="5289ED"/>
            </a:solidFill>
            <a:prstDash val="solid"/>
            <a:headEnd type="none"/>
            <a:tailEnd type="none"/>
          </a:ln>
        </p:spPr>
      </p:sp>
      <p:sp>
        <p:nvSpPr>
          <p:cNvPr id="20" name="Shape 17"/>
          <p:cNvSpPr/>
          <p:nvPr>
            <p:custDataLst>
              <p:tags r:id="rId2"/>
            </p:custDataLst>
          </p:nvPr>
        </p:nvSpPr>
        <p:spPr>
          <a:xfrm>
            <a:off x="5000625" y="1233805"/>
            <a:ext cx="6316980" cy="1905635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175BD9"/>
                </a:gs>
                <a:gs pos="30000">
                  <a:srgbClr val="175BD9"/>
                </a:gs>
                <a:gs pos="100000">
                  <a:srgbClr val="5289ED"/>
                </a:gs>
              </a:gsLst>
              <a:lin ang="10800000" scaled="1"/>
            </a:gra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00625" y="1233805"/>
            <a:ext cx="6316980" cy="19056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Shape 19"/>
          <p:cNvSpPr/>
          <p:nvPr>
            <p:custDataLst>
              <p:tags r:id="rId3"/>
            </p:custDataLst>
          </p:nvPr>
        </p:nvSpPr>
        <p:spPr>
          <a:xfrm rot="5400000">
            <a:off x="5269230" y="1395095"/>
            <a:ext cx="271145" cy="252730"/>
          </a:xfrm>
          <a:prstGeom prst="triangle">
            <a:avLst/>
          </a:prstGeom>
          <a:solidFill>
            <a:srgbClr val="175BD9"/>
          </a:solidFill>
        </p:spPr>
      </p:sp>
      <p:sp>
        <p:nvSpPr>
          <p:cNvPr id="23" name="Text 20"/>
          <p:cNvSpPr/>
          <p:nvPr/>
        </p:nvSpPr>
        <p:spPr>
          <a:xfrm rot="5400000">
            <a:off x="5269230" y="1395095"/>
            <a:ext cx="271145" cy="2527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4" name="Text 21"/>
          <p:cNvSpPr/>
          <p:nvPr>
            <p:custDataLst>
              <p:tags r:id="rId4"/>
            </p:custDataLst>
          </p:nvPr>
        </p:nvSpPr>
        <p:spPr>
          <a:xfrm>
            <a:off x="5586095" y="1362710"/>
            <a:ext cx="5475605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日常应用</a:t>
            </a:r>
            <a:endParaRPr lang="en-US" sz="1600" dirty="0"/>
          </a:p>
        </p:txBody>
      </p:sp>
      <p:sp>
        <p:nvSpPr>
          <p:cNvPr id="25" name="Text 22"/>
          <p:cNvSpPr/>
          <p:nvPr>
            <p:custDataLst>
              <p:tags r:id="rId5"/>
            </p:custDataLst>
          </p:nvPr>
        </p:nvSpPr>
        <p:spPr>
          <a:xfrm>
            <a:off x="5163185" y="1706245"/>
            <a:ext cx="5905500" cy="13830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40000"/>
              </a:lnSpc>
              <a:buNone/>
            </a:pP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防骗：不点陌生链接，设置强密码，防范电信诈骗。</a:t>
            </a:r>
            <a:endParaRPr lang="zh-CN" altLang="en-US" sz="1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just">
              <a:lnSpc>
                <a:spcPct val="140000"/>
              </a:lnSpc>
              <a:buNone/>
            </a:pP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护私：谨慎授权APP权限，不连陌生Wi-Fi进行支付。</a:t>
            </a:r>
            <a:endParaRPr lang="zh-CN" altLang="en-US" sz="1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just">
              <a:lnSpc>
                <a:spcPct val="140000"/>
              </a:lnSpc>
              <a:buNone/>
            </a:pP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辟谣：核实信息后再传播，拒绝网络暴力。</a:t>
            </a:r>
            <a:endParaRPr lang="zh-CN" altLang="en-US" sz="1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just">
              <a:lnSpc>
                <a:spcPct val="140000"/>
              </a:lnSpc>
              <a:buNone/>
            </a:pP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增效：使用数字工具（如办公软件、在线课程）提升学习工作效率。</a:t>
            </a:r>
            <a:endParaRPr lang="zh-CN" altLang="en-US" sz="1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just">
              <a:lnSpc>
                <a:spcPct val="140000"/>
              </a:lnSpc>
              <a:buNone/>
            </a:pP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助人：帮助家中长辈识别常见网络陷阱。</a:t>
            </a:r>
            <a:endParaRPr lang="zh-CN" altLang="en-US" sz="1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Shape 23"/>
          <p:cNvSpPr/>
          <p:nvPr>
            <p:custDataLst>
              <p:tags r:id="rId6"/>
            </p:custDataLst>
          </p:nvPr>
        </p:nvSpPr>
        <p:spPr>
          <a:xfrm>
            <a:off x="5000625" y="3707765"/>
            <a:ext cx="6316980" cy="1905635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175BD9"/>
                </a:gs>
                <a:gs pos="30000">
                  <a:srgbClr val="175BD9"/>
                </a:gs>
                <a:gs pos="100000">
                  <a:srgbClr val="5289ED"/>
                </a:gs>
              </a:gsLst>
              <a:lin ang="10800000" scaled="1"/>
            </a:gra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00625" y="3707765"/>
            <a:ext cx="6316980" cy="19056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8" name="Shape 25"/>
          <p:cNvSpPr/>
          <p:nvPr>
            <p:custDataLst>
              <p:tags r:id="rId7"/>
            </p:custDataLst>
          </p:nvPr>
        </p:nvSpPr>
        <p:spPr>
          <a:xfrm rot="5400000">
            <a:off x="5269230" y="3869055"/>
            <a:ext cx="271145" cy="252730"/>
          </a:xfrm>
          <a:prstGeom prst="triangle">
            <a:avLst/>
          </a:prstGeom>
          <a:solidFill>
            <a:srgbClr val="175BD9"/>
          </a:solidFill>
        </p:spPr>
      </p:sp>
      <p:sp>
        <p:nvSpPr>
          <p:cNvPr id="29" name="Text 26"/>
          <p:cNvSpPr/>
          <p:nvPr/>
        </p:nvSpPr>
        <p:spPr>
          <a:xfrm rot="5400000">
            <a:off x="5269230" y="3869055"/>
            <a:ext cx="271145" cy="2527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0" name="Text 27"/>
          <p:cNvSpPr/>
          <p:nvPr>
            <p:custDataLst>
              <p:tags r:id="rId8"/>
            </p:custDataLst>
          </p:nvPr>
        </p:nvSpPr>
        <p:spPr>
          <a:xfrm>
            <a:off x="5586095" y="3836670"/>
            <a:ext cx="5475605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知识</a:t>
            </a:r>
            <a:r>
              <a:rPr lang="zh-CN" alt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科普</a:t>
            </a:r>
            <a:endParaRPr lang="zh-CN" altLang="en-US" sz="18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1" name="Text 28"/>
          <p:cNvSpPr/>
          <p:nvPr>
            <p:custDataLst>
              <p:tags r:id="rId9"/>
            </p:custDataLst>
          </p:nvPr>
        </p:nvSpPr>
        <p:spPr>
          <a:xfrm>
            <a:off x="5163185" y="4180205"/>
            <a:ext cx="5905500" cy="11245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40000"/>
              </a:lnSpc>
              <a:buNone/>
            </a:pP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强密码：不要用“123456”或生日，应使用“字母+数字+符号”组合。</a:t>
            </a:r>
            <a:endParaRPr lang="zh-CN" altLang="en-US" sz="1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just">
              <a:lnSpc>
                <a:spcPct val="140000"/>
              </a:lnSpc>
              <a:buNone/>
            </a:pP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防钓鱼：仔细核对网址，不轻信索要账号密码的“紧急通知”。</a:t>
            </a:r>
            <a:endParaRPr lang="zh-CN" altLang="en-US" sz="1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just">
              <a:lnSpc>
                <a:spcPct val="140000"/>
              </a:lnSpc>
              <a:buNone/>
            </a:pP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勤更新：及时更新系统和软件，修补安全漏洞。</a:t>
            </a:r>
            <a:endParaRPr lang="zh-CN" altLang="en-US" sz="1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just">
              <a:lnSpc>
                <a:spcPct val="140000"/>
              </a:lnSpc>
              <a:buNone/>
            </a:pP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重责任：网络非法外之地，不造谣、不传谣，对自己的言行负责。</a:t>
            </a:r>
            <a:endParaRPr lang="zh-CN" altLang="en-US" sz="1600" dirty="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0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/>
        </p:nvPicPr>
        <p:blipFill>
          <a:blip r:embed="rId1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 rot="21000000">
            <a:off x="1001395" y="1683385"/>
            <a:ext cx="2458085" cy="3895725"/>
          </a:xfrm>
          <a:prstGeom prst="roundRect">
            <a:avLst/>
          </a:prstGeom>
          <a:solidFill>
            <a:srgbClr val="5289ED"/>
          </a:solidFill>
        </p:spPr>
      </p:sp>
      <p:sp>
        <p:nvSpPr>
          <p:cNvPr id="8" name="Text 5"/>
          <p:cNvSpPr/>
          <p:nvPr/>
        </p:nvSpPr>
        <p:spPr>
          <a:xfrm rot="21000000">
            <a:off x="1001395" y="1683385"/>
            <a:ext cx="2458085" cy="38957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9" name="Image 1" descr="https://test-kimi-img.moonshot.cn/pub/slides/slides_tmpl/image/25-05-30-10:57:52-d0shtc475iks832jea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" y="1897380"/>
            <a:ext cx="2682240" cy="39077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3375" y="380365"/>
            <a:ext cx="10633710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2.2 提升实践能力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084955" y="1574800"/>
            <a:ext cx="7435850" cy="1767840"/>
          </a:xfrm>
          <a:prstGeom prst="roundRect">
            <a:avLst/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DDE7FB"/>
                </a:gs>
                <a:gs pos="100000">
                  <a:srgbClr val="5289ED"/>
                </a:gs>
              </a:gsLst>
              <a:lin ang="2700000" scaled="1"/>
            </a:gra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084955" y="1574800"/>
            <a:ext cx="7435850" cy="17678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907405" y="1724660"/>
            <a:ext cx="5423535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实操演练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907405" y="2076450"/>
            <a:ext cx="5423535" cy="5457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组织参赛者进行实际操作演练，如设置安全密码、安装杀毒软件等。通过实践操作，加深参赛者对网络安全知识的理解和掌握。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323080" y="1795780"/>
            <a:ext cx="1325880" cy="1325880"/>
          </a:xfrm>
          <a:prstGeom prst="roundRect">
            <a:avLst/>
          </a:prstGeom>
          <a:solidFill>
            <a:srgbClr val="5289ED"/>
          </a:solidFill>
        </p:spPr>
      </p:sp>
      <p:sp>
        <p:nvSpPr>
          <p:cNvPr id="16" name="Text 12"/>
          <p:cNvSpPr/>
          <p:nvPr/>
        </p:nvSpPr>
        <p:spPr>
          <a:xfrm>
            <a:off x="4323080" y="1795780"/>
            <a:ext cx="1325880" cy="13258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499610" y="2058035"/>
            <a:ext cx="972185" cy="683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381125" y="2271395"/>
            <a:ext cx="2138971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案例分析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381125" y="2927985"/>
            <a:ext cx="2176145" cy="13644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通过分析真实的网络安全案例，让参赛者了解网络攻击的手段和防范方法。培养参赛者的分析问题和解决问题的能力。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4084955" y="3667760"/>
            <a:ext cx="7435850" cy="1767840"/>
          </a:xfrm>
          <a:prstGeom prst="roundRect">
            <a:avLst/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DDE7FB"/>
                </a:gs>
                <a:gs pos="100000">
                  <a:srgbClr val="5289ED"/>
                </a:gs>
              </a:gsLst>
              <a:lin ang="2700000" scaled="1"/>
            </a:gra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084955" y="3667760"/>
            <a:ext cx="7435850" cy="17678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5907405" y="3817620"/>
            <a:ext cx="5423535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技术创新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5907405" y="4169410"/>
            <a:ext cx="5423535" cy="5457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鼓励参赛者在实践中探索新的网络安全技术和方法，培养创新思维和实践能力，为网络安全领域的发展贡献力量。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4323080" y="3888740"/>
            <a:ext cx="1325880" cy="1325880"/>
          </a:xfrm>
          <a:prstGeom prst="roundRect">
            <a:avLst/>
          </a:prstGeom>
          <a:solidFill>
            <a:srgbClr val="5289ED"/>
          </a:solidFill>
        </p:spPr>
      </p:sp>
      <p:sp>
        <p:nvSpPr>
          <p:cNvPr id="25" name="Text 21"/>
          <p:cNvSpPr/>
          <p:nvPr/>
        </p:nvSpPr>
        <p:spPr>
          <a:xfrm>
            <a:off x="4323080" y="3888740"/>
            <a:ext cx="1325880" cy="13258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4499610" y="4150995"/>
            <a:ext cx="972185" cy="683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/>
        </p:nvPicPr>
        <p:blipFill>
          <a:blip r:embed="rId1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1055" y="748041"/>
            <a:ext cx="292595" cy="2914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34010" y="380365"/>
            <a:ext cx="106330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2.3 强化团队协作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86485" y="1710055"/>
            <a:ext cx="3119120" cy="4194175"/>
          </a:xfrm>
          <a:prstGeom prst="roundRect">
            <a:avLst>
              <a:gd name="adj" fmla="val 4788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175BD9"/>
                </a:gs>
                <a:gs pos="30000">
                  <a:srgbClr val="175BD9"/>
                </a:gs>
                <a:gs pos="100000">
                  <a:srgbClr val="5289ED"/>
                </a:gs>
              </a:gsLst>
              <a:lin ang="10800000" scaled="1"/>
            </a:gra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86485" y="1710055"/>
            <a:ext cx="3119120" cy="4194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13180" y="2498090"/>
            <a:ext cx="265557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75BD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分工协作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94130" y="3165475"/>
            <a:ext cx="2694940" cy="11947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4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针对团队参赛者，指导如何进行分工协作。明确每个成员的职责，发挥各自的优势，提高团队的整体效率。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63980" y="1902460"/>
            <a:ext cx="722630" cy="552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75BD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500880" y="1710055"/>
            <a:ext cx="3119120" cy="4194175"/>
          </a:xfrm>
          <a:prstGeom prst="roundRect">
            <a:avLst>
              <a:gd name="adj" fmla="val 4788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175BD9"/>
                </a:gs>
                <a:gs pos="30000">
                  <a:srgbClr val="175BD9"/>
                </a:gs>
                <a:gs pos="100000">
                  <a:srgbClr val="5289ED"/>
                </a:gs>
              </a:gsLst>
              <a:lin ang="10800000" scaled="1"/>
            </a:gra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00880" y="1710055"/>
            <a:ext cx="3119120" cy="4194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727575" y="2498090"/>
            <a:ext cx="265557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75BD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团队管理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708525" y="3165475"/>
            <a:ext cx="2694940" cy="11947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4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培养团队管理能力，包括项目进度管理、沟通协调等。通过有效的团队管理，确保参赛作品的顺利完成。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778375" y="1902460"/>
            <a:ext cx="912495" cy="552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75BD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915275" y="1710055"/>
            <a:ext cx="3119120" cy="4194175"/>
          </a:xfrm>
          <a:prstGeom prst="roundRect">
            <a:avLst>
              <a:gd name="adj" fmla="val 4788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175BD9"/>
                </a:gs>
                <a:gs pos="30000">
                  <a:srgbClr val="175BD9"/>
                </a:gs>
                <a:gs pos="100000">
                  <a:srgbClr val="5289ED"/>
                </a:gs>
              </a:gsLst>
              <a:lin ang="10800000" scaled="1"/>
            </a:gra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15275" y="1710055"/>
            <a:ext cx="3119120" cy="4194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141970" y="2498090"/>
            <a:ext cx="265557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75BD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协作能力提升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122920" y="3165475"/>
            <a:ext cx="2694940" cy="11947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4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通过团队协作项目，提升参赛者的沟通能力、协调能力和团队合作精神，培养未来网络安全领域的团队协作能力。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192770" y="1902460"/>
            <a:ext cx="912495" cy="552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75BD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E0FAFF">
                <a:alpha val="83000"/>
              </a:srgbClr>
            </a:gs>
            <a:gs pos="100000">
              <a:srgbClr val="C2F5F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06-d0sht0k75iks832je9v0.png"/>
          <p:cNvPicPr>
            <a:picLocks noChangeAspect="1"/>
          </p:cNvPicPr>
          <p:nvPr/>
        </p:nvPicPr>
        <p:blipFill>
          <a:blip r:embed="rId1"/>
          <a:srcRect l="5876" t="9906"/>
          <a:stretch>
            <a:fillRect/>
          </a:stretch>
        </p:blipFill>
        <p:spPr>
          <a:xfrm>
            <a:off x="8255" y="-36830"/>
            <a:ext cx="11229340" cy="63468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8000" y="1278890"/>
            <a:ext cx="6096000" cy="13220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745105" y="2883535"/>
            <a:ext cx="6702425" cy="9207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参赛作品创作指导</a:t>
            </a:r>
            <a:endParaRPr lang="en-US" sz="1600" dirty="0"/>
          </a:p>
        </p:txBody>
      </p:sp>
      <p:pic>
        <p:nvPicPr>
          <p:cNvPr id="5" name="Image 1" descr="https://test-kimi-img.moonshot.cn/pub/slides/slides_tmpl/image/25-05-30-10:57:06-d0sht0k75iks832je9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610995" y="509270"/>
            <a:ext cx="86398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5-30-10:56:46-d0shsrk75iks832je9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5-30-10:56:51-d0shsss75iks832je9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16" name="Image 8" descr="https://test-kimi-img.moonshot.cn/pub/slides/slides_tmpl/image/25-05-30-10:57:06-d0sht0k75iks832je9v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8580" y="1563370"/>
            <a:ext cx="2450465" cy="121920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8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/>
        </p:nvPicPr>
        <p:blipFill>
          <a:blip r:embed="rId1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55600" y="380365"/>
            <a:ext cx="1061148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3.1 作品内容</a:t>
            </a:r>
            <a:endParaRPr lang="en-US" sz="28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139190" y="1641475"/>
            <a:ext cx="3119120" cy="41941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5289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39190" y="1641475"/>
            <a:ext cx="3119120" cy="4194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65885" y="1803400"/>
            <a:ext cx="265557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作品主题选择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46835" y="2470785"/>
            <a:ext cx="2694940" cy="12799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指导参赛者选择贴近实际生活的主题，如“家庭无线网络安全优化方案”。这样的主题容易引起共鸣，也便于参赛者进行创作。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151255" y="5075555"/>
            <a:ext cx="3107690" cy="761365"/>
          </a:xfrm>
          <a:prstGeom prst="rtTriangle">
            <a:avLst/>
          </a:prstGeom>
          <a:solidFill>
            <a:srgbClr val="5289ED"/>
          </a:solidFill>
        </p:spPr>
      </p:sp>
      <p:sp>
        <p:nvSpPr>
          <p:cNvPr id="13" name="Text 10"/>
          <p:cNvSpPr/>
          <p:nvPr/>
        </p:nvSpPr>
        <p:spPr>
          <a:xfrm>
            <a:off x="1151255" y="5075555"/>
            <a:ext cx="3107690" cy="7613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 flipH="1">
            <a:off x="1150620" y="4772025"/>
            <a:ext cx="3107690" cy="1064895"/>
          </a:xfrm>
          <a:prstGeom prst="rtTriangle">
            <a:avLst/>
          </a:prstGeom>
          <a:solidFill>
            <a:srgbClr val="5289ED"/>
          </a:solidFill>
        </p:spPr>
      </p:sp>
      <p:sp>
        <p:nvSpPr>
          <p:cNvPr id="15" name="Text 12"/>
          <p:cNvSpPr/>
          <p:nvPr/>
        </p:nvSpPr>
        <p:spPr>
          <a:xfrm>
            <a:off x="1150620" y="4772025"/>
            <a:ext cx="3107690" cy="10648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580890" y="1641475"/>
            <a:ext cx="3119120" cy="41941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5289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80890" y="1641475"/>
            <a:ext cx="3119120" cy="4194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807585" y="1803400"/>
            <a:ext cx="265557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创新性与实用性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788535" y="2470785"/>
            <a:ext cx="2694940" cy="12799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强调作品的创新性和实用性。作品应具有独特的视角和实际应用价值，能够解决生活中的网络安全问题。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592955" y="5075555"/>
            <a:ext cx="3107690" cy="761365"/>
          </a:xfrm>
          <a:prstGeom prst="rtTriangle">
            <a:avLst/>
          </a:prstGeom>
          <a:solidFill>
            <a:srgbClr val="5289ED"/>
          </a:solidFill>
        </p:spPr>
      </p:sp>
      <p:sp>
        <p:nvSpPr>
          <p:cNvPr id="21" name="Text 18"/>
          <p:cNvSpPr/>
          <p:nvPr/>
        </p:nvSpPr>
        <p:spPr>
          <a:xfrm>
            <a:off x="4592955" y="5075555"/>
            <a:ext cx="3107690" cy="7613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 flipH="1">
            <a:off x="4592320" y="4772025"/>
            <a:ext cx="3107690" cy="1064895"/>
          </a:xfrm>
          <a:prstGeom prst="rtTriangle">
            <a:avLst/>
          </a:prstGeom>
          <a:solidFill>
            <a:srgbClr val="5289ED"/>
          </a:solidFill>
        </p:spPr>
      </p:sp>
      <p:sp>
        <p:nvSpPr>
          <p:cNvPr id="23" name="Text 20"/>
          <p:cNvSpPr/>
          <p:nvPr/>
        </p:nvSpPr>
        <p:spPr>
          <a:xfrm>
            <a:off x="4592320" y="4772025"/>
            <a:ext cx="3107690" cy="10648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022590" y="1641475"/>
            <a:ext cx="3119120" cy="41941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5289E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022590" y="1641475"/>
            <a:ext cx="3119120" cy="4194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249285" y="1803400"/>
            <a:ext cx="265557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主题拓展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230235" y="2470785"/>
            <a:ext cx="2694940" cy="12799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鼓励参赛者从生活中的网络安全问题出发，拓展思维，挖掘更多具有创新性和实用性的作品主题，提升作品的竞争力。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034655" y="5075555"/>
            <a:ext cx="3107690" cy="761365"/>
          </a:xfrm>
          <a:prstGeom prst="rtTriangle">
            <a:avLst/>
          </a:prstGeom>
          <a:solidFill>
            <a:srgbClr val="5289ED"/>
          </a:solidFill>
        </p:spPr>
      </p:sp>
      <p:sp>
        <p:nvSpPr>
          <p:cNvPr id="29" name="Text 26"/>
          <p:cNvSpPr/>
          <p:nvPr/>
        </p:nvSpPr>
        <p:spPr>
          <a:xfrm>
            <a:off x="8034655" y="5075555"/>
            <a:ext cx="3107690" cy="7613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 flipH="1">
            <a:off x="8034020" y="4772025"/>
            <a:ext cx="3107690" cy="1064895"/>
          </a:xfrm>
          <a:prstGeom prst="rtTriangle">
            <a:avLst/>
          </a:prstGeom>
          <a:solidFill>
            <a:srgbClr val="5289ED"/>
          </a:solidFill>
        </p:spPr>
      </p:sp>
      <p:sp>
        <p:nvSpPr>
          <p:cNvPr id="31" name="Text 28"/>
          <p:cNvSpPr/>
          <p:nvPr/>
        </p:nvSpPr>
        <p:spPr>
          <a:xfrm>
            <a:off x="8034020" y="4772025"/>
            <a:ext cx="3107690" cy="10648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/>
        </p:nvPicPr>
        <p:blipFill>
          <a:blip r:embed="rId1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47345" y="380365"/>
            <a:ext cx="10619740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3.2 作品形式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16000" y="1473200"/>
            <a:ext cx="334361" cy="335280"/>
          </a:xfrm>
          <a:prstGeom prst="chevron">
            <a:avLst/>
          </a:prstGeom>
          <a:solidFill>
            <a:srgbClr val="5289ED"/>
          </a:solidFill>
        </p:spPr>
      </p:sp>
      <p:sp>
        <p:nvSpPr>
          <p:cNvPr id="9" name="Text 6"/>
          <p:cNvSpPr/>
          <p:nvPr/>
        </p:nvSpPr>
        <p:spPr>
          <a:xfrm>
            <a:off x="1016000" y="1473200"/>
            <a:ext cx="334361" cy="335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342674" y="1473200"/>
            <a:ext cx="334361" cy="335280"/>
          </a:xfrm>
          <a:prstGeom prst="chevron">
            <a:avLst/>
          </a:prstGeom>
          <a:solidFill>
            <a:srgbClr val="5289ED"/>
          </a:solidFill>
        </p:spPr>
      </p:sp>
      <p:sp>
        <p:nvSpPr>
          <p:cNvPr id="11" name="Text 8"/>
          <p:cNvSpPr/>
          <p:nvPr/>
        </p:nvSpPr>
        <p:spPr>
          <a:xfrm>
            <a:off x="1342674" y="1473200"/>
            <a:ext cx="334361" cy="335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762125" y="1441133"/>
            <a:ext cx="464400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虚拟作品形式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16000" y="1960880"/>
            <a:ext cx="9794240" cy="7131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针对动画、微视频、交互HTML等虚拟作品形式，提供技术培训。如视频剪辑工具的使用、HTML基础等，帮助参赛者更好地展示作品。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38860" y="3398520"/>
            <a:ext cx="4571365" cy="2712720"/>
          </a:xfrm>
          <a:prstGeom prst="roundRect">
            <a:avLst>
              <a:gd name="adj" fmla="val 7677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97B8F4"/>
                </a:gs>
                <a:gs pos="100000">
                  <a:srgbClr val="5289ED"/>
                </a:gs>
              </a:gsLst>
              <a:lin ang="2700000" scaled="1"/>
            </a:gra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38860" y="3398520"/>
            <a:ext cx="4571365" cy="27127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31240" y="3383280"/>
            <a:ext cx="4586605" cy="640080"/>
          </a:xfrm>
          <a:prstGeom prst="round2SameRect">
            <a:avLst/>
          </a:prstGeom>
          <a:solidFill>
            <a:srgbClr val="5289ED"/>
          </a:solidFill>
        </p:spPr>
      </p:sp>
      <p:sp>
        <p:nvSpPr>
          <p:cNvPr id="17" name="Text 14"/>
          <p:cNvSpPr/>
          <p:nvPr/>
        </p:nvSpPr>
        <p:spPr>
          <a:xfrm>
            <a:off x="1031240" y="3383280"/>
            <a:ext cx="4586605" cy="6400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223645" y="3503930"/>
            <a:ext cx="4202430" cy="3067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作品制作介绍PPT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231900" y="4069080"/>
            <a:ext cx="4185920" cy="9509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指导参赛者制作作品介绍PPT，包括作品设计背景、创新理念、实现方法等。PPT应简洁明了，突出作品的重点。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134100" y="3398520"/>
            <a:ext cx="4571365" cy="2712720"/>
          </a:xfrm>
          <a:prstGeom prst="roundRect">
            <a:avLst>
              <a:gd name="adj" fmla="val 7677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97B8F4"/>
                </a:gs>
                <a:gs pos="100000">
                  <a:srgbClr val="5289ED"/>
                </a:gs>
              </a:gsLst>
              <a:lin ang="2700000" scaled="1"/>
            </a:gra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34100" y="3398520"/>
            <a:ext cx="4571365" cy="27127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126480" y="3383280"/>
            <a:ext cx="4586605" cy="640080"/>
          </a:xfrm>
          <a:prstGeom prst="round2SameRect">
            <a:avLst/>
          </a:prstGeom>
          <a:solidFill>
            <a:srgbClr val="5289ED"/>
          </a:solidFill>
        </p:spPr>
      </p:sp>
      <p:sp>
        <p:nvSpPr>
          <p:cNvPr id="23" name="Text 20"/>
          <p:cNvSpPr/>
          <p:nvPr/>
        </p:nvSpPr>
        <p:spPr>
          <a:xfrm>
            <a:off x="6126480" y="3383280"/>
            <a:ext cx="4586605" cy="6400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318885" y="3503930"/>
            <a:ext cx="4202430" cy="3067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形式创新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327140" y="4069080"/>
            <a:ext cx="4185920" cy="9509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鼓励参赛者在作品形式上进行创新，尝试新颖的表现手法和技术手段，使作品更具吸引力和影响力。</a:t>
            </a:r>
            <a:endParaRPr lang="en-US" sz="1600" dirty="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/>
        </p:nvPicPr>
        <p:blipFill>
          <a:blip r:embed="rId1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 rot="21000000">
            <a:off x="1001395" y="1683385"/>
            <a:ext cx="2458085" cy="3895725"/>
          </a:xfrm>
          <a:prstGeom prst="roundRect">
            <a:avLst/>
          </a:prstGeom>
          <a:solidFill>
            <a:srgbClr val="5289ED"/>
          </a:solidFill>
        </p:spPr>
      </p:sp>
      <p:sp>
        <p:nvSpPr>
          <p:cNvPr id="8" name="Text 5"/>
          <p:cNvSpPr/>
          <p:nvPr/>
        </p:nvSpPr>
        <p:spPr>
          <a:xfrm rot="21000000">
            <a:off x="1001395" y="1683385"/>
            <a:ext cx="2458085" cy="38957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>
            <p:custDataLst>
              <p:tags r:id="rId3"/>
            </p:custDataLst>
          </p:nvPr>
        </p:nvSpPr>
        <p:spPr>
          <a:xfrm rot="21000000">
            <a:off x="4618355" y="1683385"/>
            <a:ext cx="2458085" cy="3895725"/>
          </a:xfrm>
          <a:prstGeom prst="roundRect">
            <a:avLst/>
          </a:prstGeom>
          <a:solidFill>
            <a:srgbClr val="5289ED"/>
          </a:solidFill>
        </p:spPr>
      </p:sp>
      <p:sp>
        <p:nvSpPr>
          <p:cNvPr id="10" name="Text 7"/>
          <p:cNvSpPr/>
          <p:nvPr/>
        </p:nvSpPr>
        <p:spPr>
          <a:xfrm rot="21000000">
            <a:off x="4618355" y="1683385"/>
            <a:ext cx="2458085" cy="38957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>
            <p:custDataLst>
              <p:tags r:id="rId4"/>
            </p:custDataLst>
          </p:nvPr>
        </p:nvSpPr>
        <p:spPr>
          <a:xfrm rot="21000000">
            <a:off x="8235315" y="1683385"/>
            <a:ext cx="2458085" cy="3895725"/>
          </a:xfrm>
          <a:prstGeom prst="roundRect">
            <a:avLst/>
          </a:prstGeom>
          <a:solidFill>
            <a:srgbClr val="5289ED"/>
          </a:solidFill>
        </p:spPr>
      </p:sp>
      <p:sp>
        <p:nvSpPr>
          <p:cNvPr id="12" name="Text 9"/>
          <p:cNvSpPr/>
          <p:nvPr/>
        </p:nvSpPr>
        <p:spPr>
          <a:xfrm rot="21000000">
            <a:off x="8235315" y="1683385"/>
            <a:ext cx="2458085" cy="38957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3" name="Image 1" descr="https://test-kimi-img.moonshot.cn/pub/slides/slides_tmpl/image/25-05-30-10:57:52-d0shtc475iks832jea90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23950" y="1897380"/>
            <a:ext cx="2682240" cy="3907790"/>
          </a:xfrm>
          <a:prstGeom prst="rect">
            <a:avLst/>
          </a:prstGeom>
        </p:spPr>
      </p:pic>
      <p:pic>
        <p:nvPicPr>
          <p:cNvPr id="14" name="Image 2" descr="https://test-kimi-img.moonshot.cn/pub/slides/slides_tmpl/image/25-05-30-10:57:52-d0shtc475iks832jea90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740910" y="1897380"/>
            <a:ext cx="2682240" cy="3907790"/>
          </a:xfrm>
          <a:prstGeom prst="rect">
            <a:avLst/>
          </a:prstGeom>
        </p:spPr>
      </p:pic>
      <p:pic>
        <p:nvPicPr>
          <p:cNvPr id="15" name="Image 3" descr="https://test-kimi-img.moonshot.cn/pub/slides/slides_tmpl/image/25-05-30-10:57:52-d0shtc475iks832jea90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357870" y="1897380"/>
            <a:ext cx="2682240" cy="390779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87985" y="380365"/>
            <a:ext cx="10579100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3.3 作品核心要求</a:t>
            </a:r>
            <a:endParaRPr lang="en-US" sz="1600" dirty="0"/>
          </a:p>
        </p:txBody>
      </p:sp>
      <p:sp>
        <p:nvSpPr>
          <p:cNvPr id="17" name="Text 11"/>
          <p:cNvSpPr/>
          <p:nvPr>
            <p:custDataLst>
              <p:tags r:id="rId9"/>
            </p:custDataLst>
          </p:nvPr>
        </p:nvSpPr>
        <p:spPr>
          <a:xfrm>
            <a:off x="1381125" y="2271395"/>
            <a:ext cx="213868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科普性</a:t>
            </a:r>
            <a:endParaRPr lang="en-US" sz="1600" dirty="0"/>
          </a:p>
        </p:txBody>
      </p:sp>
      <p:sp>
        <p:nvSpPr>
          <p:cNvPr id="18" name="Text 12"/>
          <p:cNvSpPr/>
          <p:nvPr>
            <p:custDataLst>
              <p:tags r:id="rId10"/>
            </p:custDataLst>
          </p:nvPr>
        </p:nvSpPr>
        <p:spPr>
          <a:xfrm>
            <a:off x="1381125" y="2927985"/>
            <a:ext cx="2176145" cy="16375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作品需向非专业人士清晰传达技术本质，避免过度简化或复杂化。通过通俗易懂的语言和生动的案例，让观众理解网络安全知识。</a:t>
            </a:r>
            <a:endParaRPr lang="en-US" sz="1600" dirty="0"/>
          </a:p>
        </p:txBody>
      </p:sp>
      <p:sp>
        <p:nvSpPr>
          <p:cNvPr id="19" name="Text 13"/>
          <p:cNvSpPr/>
          <p:nvPr>
            <p:custDataLst>
              <p:tags r:id="rId11"/>
            </p:custDataLst>
          </p:nvPr>
        </p:nvSpPr>
        <p:spPr>
          <a:xfrm>
            <a:off x="4998085" y="2271395"/>
            <a:ext cx="213868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实用性与扩展性</a:t>
            </a:r>
            <a:endParaRPr lang="en-US" sz="1600" dirty="0"/>
          </a:p>
        </p:txBody>
      </p:sp>
      <p:sp>
        <p:nvSpPr>
          <p:cNvPr id="20" name="Text 14"/>
          <p:cNvSpPr/>
          <p:nvPr>
            <p:custDataLst>
              <p:tags r:id="rId12"/>
            </p:custDataLst>
          </p:nvPr>
        </p:nvSpPr>
        <p:spPr>
          <a:xfrm>
            <a:off x="4998085" y="2927985"/>
            <a:ext cx="2176145" cy="13644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鼓励作品具备实际应用价值，同时可尝试探索推广应用的潜力。如作品可应用于家庭、学校等场景，具有一定的推广价值。</a:t>
            </a:r>
            <a:endParaRPr lang="en-US" sz="1600" dirty="0"/>
          </a:p>
        </p:txBody>
      </p:sp>
      <p:sp>
        <p:nvSpPr>
          <p:cNvPr id="21" name="Text 15"/>
          <p:cNvSpPr/>
          <p:nvPr>
            <p:custDataLst>
              <p:tags r:id="rId13"/>
            </p:custDataLst>
          </p:nvPr>
        </p:nvSpPr>
        <p:spPr>
          <a:xfrm>
            <a:off x="8615045" y="2271395"/>
            <a:ext cx="213868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内容深度性</a:t>
            </a:r>
            <a:endParaRPr lang="en-US" sz="18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2" name="Text 16"/>
          <p:cNvSpPr/>
          <p:nvPr>
            <p:custDataLst>
              <p:tags r:id="rId14"/>
            </p:custDataLst>
          </p:nvPr>
        </p:nvSpPr>
        <p:spPr>
          <a:xfrm>
            <a:off x="8615045" y="2927985"/>
            <a:ext cx="2176145" cy="13644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对作品的科普性、实用性与扩展性进行细化和量化，明确评价标准，帮助参赛者更好地把握作品的核心要求。</a:t>
            </a:r>
            <a:endParaRPr lang="en-US" sz="1600" dirty="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5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E0FAFF">
                <a:alpha val="83000"/>
              </a:srgbClr>
            </a:gs>
            <a:gs pos="100000">
              <a:srgbClr val="C2F5F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06-d0sht0k75iks832je9v0.png"/>
          <p:cNvPicPr>
            <a:picLocks noChangeAspect="1"/>
          </p:cNvPicPr>
          <p:nvPr/>
        </p:nvPicPr>
        <p:blipFill>
          <a:blip r:embed="rId1"/>
          <a:srcRect l="5876" t="9906"/>
          <a:stretch>
            <a:fillRect/>
          </a:stretch>
        </p:blipFill>
        <p:spPr>
          <a:xfrm>
            <a:off x="8255" y="-36830"/>
            <a:ext cx="11229340" cy="63468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8000" y="1278890"/>
            <a:ext cx="6096000" cy="13220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745105" y="2883535"/>
            <a:ext cx="6702425" cy="10147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法律</a:t>
            </a:r>
            <a:r>
              <a:rPr lang="zh-CN" altLang="en-US" sz="60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法规</a:t>
            </a:r>
            <a:r>
              <a:rPr lang="zh-CN" altLang="en-US" sz="60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要求</a:t>
            </a:r>
            <a:endParaRPr lang="zh-CN" altLang="en-US" sz="6000" b="1" dirty="0">
              <a:solidFill>
                <a:srgbClr val="40404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5" name="Image 1" descr="https://test-kimi-img.moonshot.cn/pub/slides/slides_tmpl/image/25-05-30-10:57:06-d0sht0k75iks832je9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610995" y="509270"/>
            <a:ext cx="86398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5-30-10:56:46-d0shsrk75iks832je9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5-30-10:56:51-d0shsss75iks832je9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16" name="Image 8" descr="https://test-kimi-img.moonshot.cn/pub/slides/slides_tmpl/image/25-05-30-10:57:06-d0sht0k75iks832je9v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8580" y="1563370"/>
            <a:ext cx="2450465" cy="121920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8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/>
        </p:nvPicPr>
        <p:blipFill>
          <a:blip r:embed="rId1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22605" y="380365"/>
            <a:ext cx="10444480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4.1 相关法律法规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 rot="5400000">
            <a:off x="815975" y="2433955"/>
            <a:ext cx="3455035" cy="2957195"/>
          </a:xfrm>
          <a:custGeom>
            <a:avLst/>
            <a:gdLst/>
            <a:ahLst/>
            <a:cxnLst/>
            <a:rect l="l" t="t" r="r" b="b"/>
            <a:pathLst>
              <a:path w="3455035" h="2957195">
                <a:moveTo>
                  <a:pt x="1914525" y="0"/>
                </a:moveTo>
                <a:lnTo>
                  <a:pt x="2684780" y="0"/>
                </a:lnTo>
                <a:lnTo>
                  <a:pt x="3455035" y="1478597"/>
                </a:lnTo>
                <a:lnTo>
                  <a:pt x="2684780" y="2957195"/>
                </a:lnTo>
                <a:lnTo>
                  <a:pt x="0" y="2957195"/>
                </a:lnTo>
                <a:lnTo>
                  <a:pt x="0" y="0"/>
                </a:lnTo>
                <a:lnTo>
                  <a:pt x="1914525" y="0"/>
                </a:lnTo>
                <a:close/>
              </a:path>
            </a:pathLst>
          </a:custGeom>
          <a:solidFill>
            <a:srgbClr val="FFFFFF"/>
          </a:solidFill>
          <a:ln w="19050">
            <a:gradFill flip="none" rotWithShape="1">
              <a:gsLst>
                <a:gs pos="0">
                  <a:srgbClr val="175BD9"/>
                </a:gs>
                <a:gs pos="100000">
                  <a:srgbClr val="5289ED"/>
                </a:gs>
              </a:gsLst>
              <a:lin ang="2700000" scaled="1"/>
            </a:gradFill>
            <a:prstDash val="solid"/>
          </a:ln>
        </p:spPr>
      </p:sp>
      <p:sp>
        <p:nvSpPr>
          <p:cNvPr id="9" name="Text 6"/>
          <p:cNvSpPr/>
          <p:nvPr/>
        </p:nvSpPr>
        <p:spPr>
          <a:xfrm rot="5400000">
            <a:off x="815975" y="2433955"/>
            <a:ext cx="3455035" cy="29571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31240" y="1775460"/>
            <a:ext cx="3023870" cy="762000"/>
          </a:xfrm>
          <a:prstGeom prst="roundRect">
            <a:avLst>
              <a:gd name="adj" fmla="val 0"/>
            </a:avLst>
          </a:prstGeom>
          <a:solidFill>
            <a:srgbClr val="5289ED"/>
          </a:solidFill>
        </p:spPr>
      </p:sp>
      <p:sp>
        <p:nvSpPr>
          <p:cNvPr id="11" name="Text 8"/>
          <p:cNvSpPr/>
          <p:nvPr/>
        </p:nvSpPr>
        <p:spPr>
          <a:xfrm>
            <a:off x="1031240" y="1775460"/>
            <a:ext cx="3023870" cy="76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64920" y="1833880"/>
            <a:ext cx="255651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《网络安全法》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36015" y="2593340"/>
            <a:ext cx="2814320" cy="132913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普及《网络安全法》的相关内容，如网络运营者的义务、网络安全等级保护制度等。让参赛者了解网络安全的法律框架。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017395" y="5783580"/>
            <a:ext cx="1052195" cy="121920"/>
          </a:xfrm>
          <a:prstGeom prst="ellipse">
            <a:avLst/>
          </a:prstGeom>
          <a:solidFill>
            <a:srgbClr val="5289ED">
              <a:alpha val="65098"/>
            </a:srgbClr>
          </a:solidFill>
        </p:spPr>
      </p:sp>
      <p:sp>
        <p:nvSpPr>
          <p:cNvPr id="15" name="Text 12"/>
          <p:cNvSpPr/>
          <p:nvPr/>
        </p:nvSpPr>
        <p:spPr>
          <a:xfrm>
            <a:off x="2017395" y="5783580"/>
            <a:ext cx="1052195" cy="1219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 rot="5400000">
            <a:off x="4349115" y="2037715"/>
            <a:ext cx="3455035" cy="2957195"/>
          </a:xfrm>
          <a:custGeom>
            <a:avLst/>
            <a:gdLst/>
            <a:ahLst/>
            <a:cxnLst/>
            <a:rect l="l" t="t" r="r" b="b"/>
            <a:pathLst>
              <a:path w="3455035" h="2957195">
                <a:moveTo>
                  <a:pt x="1914525" y="0"/>
                </a:moveTo>
                <a:lnTo>
                  <a:pt x="2684780" y="0"/>
                </a:lnTo>
                <a:lnTo>
                  <a:pt x="3455035" y="1478597"/>
                </a:lnTo>
                <a:lnTo>
                  <a:pt x="2684780" y="2957195"/>
                </a:lnTo>
                <a:lnTo>
                  <a:pt x="0" y="2957195"/>
                </a:lnTo>
                <a:lnTo>
                  <a:pt x="0" y="0"/>
                </a:lnTo>
                <a:lnTo>
                  <a:pt x="1914525" y="0"/>
                </a:lnTo>
                <a:close/>
              </a:path>
            </a:pathLst>
          </a:custGeom>
          <a:solidFill>
            <a:srgbClr val="FFFFFF"/>
          </a:solidFill>
          <a:ln w="19050">
            <a:gradFill flip="none" rotWithShape="1">
              <a:gsLst>
                <a:gs pos="0">
                  <a:srgbClr val="175BD9"/>
                </a:gs>
                <a:gs pos="100000">
                  <a:srgbClr val="5289ED"/>
                </a:gs>
              </a:gsLst>
              <a:lin ang="2700000" scaled="1"/>
            </a:gradFill>
            <a:prstDash val="solid"/>
          </a:ln>
        </p:spPr>
      </p:sp>
      <p:sp>
        <p:nvSpPr>
          <p:cNvPr id="17" name="Text 14"/>
          <p:cNvSpPr/>
          <p:nvPr/>
        </p:nvSpPr>
        <p:spPr>
          <a:xfrm rot="5400000">
            <a:off x="4349115" y="2037715"/>
            <a:ext cx="3455035" cy="29571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564380" y="1379220"/>
            <a:ext cx="3023870" cy="762000"/>
          </a:xfrm>
          <a:prstGeom prst="roundRect">
            <a:avLst>
              <a:gd name="adj" fmla="val 0"/>
            </a:avLst>
          </a:prstGeom>
          <a:solidFill>
            <a:srgbClr val="5289ED"/>
          </a:solidFill>
        </p:spPr>
      </p:sp>
      <p:sp>
        <p:nvSpPr>
          <p:cNvPr id="19" name="Text 16"/>
          <p:cNvSpPr/>
          <p:nvPr/>
        </p:nvSpPr>
        <p:spPr>
          <a:xfrm>
            <a:off x="4564380" y="1379220"/>
            <a:ext cx="3023870" cy="76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798060" y="1437640"/>
            <a:ext cx="2556510" cy="5978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《未成年人网络保护条例》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669155" y="2197100"/>
            <a:ext cx="2814320" cy="132913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讲解《未成年人网络保护条例》对未成年人网络保护的要求，如网络素养教育、个人信息保护等。引导参赛者树立正确的网络行为观念。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550535" y="5387340"/>
            <a:ext cx="1052195" cy="121920"/>
          </a:xfrm>
          <a:prstGeom prst="ellipse">
            <a:avLst/>
          </a:prstGeom>
          <a:solidFill>
            <a:srgbClr val="5289ED">
              <a:alpha val="65098"/>
            </a:srgbClr>
          </a:solidFill>
        </p:spPr>
      </p:sp>
      <p:sp>
        <p:nvSpPr>
          <p:cNvPr id="23" name="Text 20"/>
          <p:cNvSpPr/>
          <p:nvPr/>
        </p:nvSpPr>
        <p:spPr>
          <a:xfrm>
            <a:off x="5550535" y="5387340"/>
            <a:ext cx="1052195" cy="1219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 rot="5400000">
            <a:off x="7882255" y="2433955"/>
            <a:ext cx="3455035" cy="2957195"/>
          </a:xfrm>
          <a:custGeom>
            <a:avLst/>
            <a:gdLst/>
            <a:ahLst/>
            <a:cxnLst/>
            <a:rect l="l" t="t" r="r" b="b"/>
            <a:pathLst>
              <a:path w="3455035" h="2957195">
                <a:moveTo>
                  <a:pt x="1914525" y="0"/>
                </a:moveTo>
                <a:lnTo>
                  <a:pt x="2684780" y="0"/>
                </a:lnTo>
                <a:lnTo>
                  <a:pt x="3455035" y="1478597"/>
                </a:lnTo>
                <a:lnTo>
                  <a:pt x="2684780" y="2957195"/>
                </a:lnTo>
                <a:lnTo>
                  <a:pt x="0" y="2957195"/>
                </a:lnTo>
                <a:lnTo>
                  <a:pt x="0" y="0"/>
                </a:lnTo>
                <a:lnTo>
                  <a:pt x="1914525" y="0"/>
                </a:lnTo>
                <a:close/>
              </a:path>
            </a:pathLst>
          </a:custGeom>
          <a:solidFill>
            <a:srgbClr val="FFFFFF"/>
          </a:solidFill>
          <a:ln w="19050">
            <a:gradFill flip="none" rotWithShape="1">
              <a:gsLst>
                <a:gs pos="0">
                  <a:srgbClr val="175BD9"/>
                </a:gs>
                <a:gs pos="100000">
                  <a:srgbClr val="5289ED"/>
                </a:gs>
              </a:gsLst>
              <a:lin ang="2700000" scaled="1"/>
            </a:gradFill>
            <a:prstDash val="solid"/>
          </a:ln>
        </p:spPr>
      </p:sp>
      <p:sp>
        <p:nvSpPr>
          <p:cNvPr id="25" name="Text 22"/>
          <p:cNvSpPr/>
          <p:nvPr/>
        </p:nvSpPr>
        <p:spPr>
          <a:xfrm rot="5400000">
            <a:off x="7882255" y="2433955"/>
            <a:ext cx="3455035" cy="29571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8097520" y="1775460"/>
            <a:ext cx="3023870" cy="762000"/>
          </a:xfrm>
          <a:prstGeom prst="roundRect">
            <a:avLst>
              <a:gd name="adj" fmla="val 0"/>
            </a:avLst>
          </a:prstGeom>
          <a:solidFill>
            <a:srgbClr val="5289ED"/>
          </a:solidFill>
        </p:spPr>
      </p:sp>
      <p:sp>
        <p:nvSpPr>
          <p:cNvPr id="27" name="Text 24"/>
          <p:cNvSpPr/>
          <p:nvPr/>
        </p:nvSpPr>
        <p:spPr>
          <a:xfrm>
            <a:off x="8097520" y="1775460"/>
            <a:ext cx="3023870" cy="762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331200" y="1833880"/>
            <a:ext cx="255651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法律法规应用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202295" y="2593340"/>
            <a:ext cx="2814320" cy="10582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通过实际案例分析，展示如何在网络安全实践中应用相关法律法规，提高参赛者的法律意识和合规能力。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9083675" y="5783580"/>
            <a:ext cx="1052195" cy="121920"/>
          </a:xfrm>
          <a:prstGeom prst="ellipse">
            <a:avLst/>
          </a:prstGeom>
          <a:solidFill>
            <a:srgbClr val="5289ED">
              <a:alpha val="65098"/>
            </a:srgbClr>
          </a:solidFill>
        </p:spPr>
      </p:sp>
      <p:sp>
        <p:nvSpPr>
          <p:cNvPr id="31" name="Text 28"/>
          <p:cNvSpPr/>
          <p:nvPr/>
        </p:nvSpPr>
        <p:spPr>
          <a:xfrm>
            <a:off x="9083675" y="5783580"/>
            <a:ext cx="1052195" cy="1219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/>
        </p:nvPicPr>
        <p:blipFill>
          <a:blip r:embed="rId1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V="1">
            <a:off x="971055" y="748041"/>
            <a:ext cx="292595" cy="291454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971055" y="748041"/>
            <a:ext cx="292595" cy="2914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flipV="1">
            <a:off x="594360" y="3803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 flipV="1">
            <a:off x="971055" y="748041"/>
            <a:ext cx="292595" cy="291454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8" name="Text 5"/>
          <p:cNvSpPr/>
          <p:nvPr/>
        </p:nvSpPr>
        <p:spPr>
          <a:xfrm>
            <a:off x="971055" y="748041"/>
            <a:ext cx="292595" cy="2914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flipV="1">
            <a:off x="594360" y="380365"/>
            <a:ext cx="438309" cy="436889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10" name="Text 7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-635" y="-1905"/>
            <a:ext cx="4740275" cy="6859905"/>
          </a:xfrm>
          <a:prstGeom prst="rect">
            <a:avLst/>
          </a:prstGeom>
          <a:solidFill>
            <a:srgbClr val="5289ED"/>
          </a:solidFill>
        </p:spPr>
      </p:sp>
      <p:sp>
        <p:nvSpPr>
          <p:cNvPr id="12" name="Text 9"/>
          <p:cNvSpPr/>
          <p:nvPr/>
        </p:nvSpPr>
        <p:spPr>
          <a:xfrm>
            <a:off x="-635" y="-1905"/>
            <a:ext cx="4740275" cy="685990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06400" y="1508760"/>
            <a:ext cx="3535680" cy="4556760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175BD9"/>
                </a:gs>
                <a:gs pos="30000">
                  <a:srgbClr val="175BD9"/>
                </a:gs>
                <a:gs pos="100000">
                  <a:srgbClr val="5289ED"/>
                </a:gs>
              </a:gsLst>
              <a:lin ang="10800000" scaled="1"/>
            </a:gra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6400" y="1508760"/>
            <a:ext cx="3535680" cy="45567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25120" y="319405"/>
            <a:ext cx="378523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4.2 禁止抄袭与代做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68325" y="1746250"/>
            <a:ext cx="3178810" cy="3067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原创性的重要性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68960" y="2661920"/>
            <a:ext cx="3182620" cy="1097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强调禁止抄袭、代做等行为，确保作品原创性。参赛者应独立完成作品，遵守学术道德规范。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68325" y="2587625"/>
            <a:ext cx="3178810" cy="0"/>
          </a:xfrm>
          <a:prstGeom prst="line">
            <a:avLst/>
          </a:prstGeom>
          <a:noFill/>
          <a:ln w="31750">
            <a:solidFill>
              <a:srgbClr val="5289ED"/>
            </a:solidFill>
            <a:prstDash val="solid"/>
            <a:headEnd type="none"/>
            <a:tailEnd type="none"/>
          </a:ln>
        </p:spPr>
      </p:sp>
      <p:sp>
        <p:nvSpPr>
          <p:cNvPr id="19" name="Shape 16"/>
          <p:cNvSpPr/>
          <p:nvPr/>
        </p:nvSpPr>
        <p:spPr>
          <a:xfrm>
            <a:off x="568325" y="2498725"/>
            <a:ext cx="3178810" cy="0"/>
          </a:xfrm>
          <a:prstGeom prst="line">
            <a:avLst/>
          </a:prstGeom>
          <a:noFill/>
          <a:ln w="12700">
            <a:solidFill>
              <a:srgbClr val="5289ED"/>
            </a:solidFill>
            <a:prstDash val="solid"/>
            <a:headEnd type="none"/>
            <a:tailEnd type="none"/>
          </a:ln>
        </p:spPr>
      </p:sp>
      <p:sp>
        <p:nvSpPr>
          <p:cNvPr id="20" name="Shape 17"/>
          <p:cNvSpPr/>
          <p:nvPr/>
        </p:nvSpPr>
        <p:spPr>
          <a:xfrm>
            <a:off x="5000625" y="1233805"/>
            <a:ext cx="6316980" cy="1905635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175BD9"/>
                </a:gs>
                <a:gs pos="30000">
                  <a:srgbClr val="175BD9"/>
                </a:gs>
                <a:gs pos="100000">
                  <a:srgbClr val="5289ED"/>
                </a:gs>
              </a:gsLst>
              <a:lin ang="10800000" scaled="1"/>
            </a:gra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00625" y="1233805"/>
            <a:ext cx="6316980" cy="19056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 rot="5400000">
            <a:off x="5269230" y="1395095"/>
            <a:ext cx="271145" cy="252730"/>
          </a:xfrm>
          <a:prstGeom prst="triangle">
            <a:avLst/>
          </a:prstGeom>
          <a:solidFill>
            <a:srgbClr val="175BD9"/>
          </a:solidFill>
        </p:spPr>
      </p:sp>
      <p:sp>
        <p:nvSpPr>
          <p:cNvPr id="23" name="Text 20"/>
          <p:cNvSpPr/>
          <p:nvPr/>
        </p:nvSpPr>
        <p:spPr>
          <a:xfrm rot="5400000">
            <a:off x="5269230" y="1395095"/>
            <a:ext cx="271145" cy="2527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586095" y="1362710"/>
            <a:ext cx="5475605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学术诚信教育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3185" y="1706245"/>
            <a:ext cx="5905500" cy="5972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4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讲解原创性的重要性，如培养创新能力、树立诚信意识等。鼓励参赛者发挥自己的创造力，创作出独特的作品。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000625" y="3707765"/>
            <a:ext cx="6316980" cy="1905635"/>
          </a:xfrm>
          <a:prstGeom prst="roundRect">
            <a:avLst>
              <a:gd name="adj" fmla="val 6321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175BD9"/>
                </a:gs>
                <a:gs pos="30000">
                  <a:srgbClr val="175BD9"/>
                </a:gs>
                <a:gs pos="100000">
                  <a:srgbClr val="5289ED"/>
                </a:gs>
              </a:gsLst>
              <a:lin ang="10800000" scaled="1"/>
            </a:gra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00625" y="3707765"/>
            <a:ext cx="6316980" cy="19056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 rot="5400000">
            <a:off x="5269230" y="3869055"/>
            <a:ext cx="271145" cy="252730"/>
          </a:xfrm>
          <a:prstGeom prst="triangle">
            <a:avLst/>
          </a:prstGeom>
          <a:solidFill>
            <a:srgbClr val="175BD9"/>
          </a:solidFill>
        </p:spPr>
      </p:sp>
      <p:sp>
        <p:nvSpPr>
          <p:cNvPr id="29" name="Text 26"/>
          <p:cNvSpPr/>
          <p:nvPr/>
        </p:nvSpPr>
        <p:spPr>
          <a:xfrm rot="5400000">
            <a:off x="5269230" y="3869055"/>
            <a:ext cx="271145" cy="2527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586095" y="3836670"/>
            <a:ext cx="5475605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违规后果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3185" y="4180205"/>
            <a:ext cx="5905500" cy="5972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4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明确抄袭、代做等违规行为的严重后果，包括取消参赛资格、影响个人信誉等，警示参赛者遵守比赛规则。</a:t>
            </a:r>
            <a:endParaRPr lang="en-US" sz="1600" dirty="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E0FAFF">
                <a:alpha val="83000"/>
              </a:srgbClr>
            </a:gs>
            <a:gs pos="100000">
              <a:srgbClr val="C2F5F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06-d0sht0k75iks832je9v0.png"/>
          <p:cNvPicPr>
            <a:picLocks noChangeAspect="1"/>
          </p:cNvPicPr>
          <p:nvPr/>
        </p:nvPicPr>
        <p:blipFill>
          <a:blip r:embed="rId1"/>
          <a:srcRect l="5876" t="9906"/>
          <a:stretch>
            <a:fillRect/>
          </a:stretch>
        </p:blipFill>
        <p:spPr>
          <a:xfrm>
            <a:off x="20320" y="-36830"/>
            <a:ext cx="11229340" cy="63468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8000" y="1278890"/>
            <a:ext cx="6096000" cy="13220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745105" y="2883535"/>
            <a:ext cx="6702425" cy="10147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60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案例</a:t>
            </a:r>
            <a:r>
              <a:rPr lang="zh-CN" altLang="en-US" sz="60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展示</a:t>
            </a:r>
            <a:endParaRPr lang="zh-CN" altLang="en-US" sz="6000" b="1" dirty="0">
              <a:solidFill>
                <a:srgbClr val="40404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5" name="Image 1" descr="https://test-kimi-img.moonshot.cn/pub/slides/slides_tmpl/image/25-05-30-10:57:06-d0sht0k75iks832je9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610995" y="509270"/>
            <a:ext cx="86398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5-30-10:56:46-d0shsrk75iks832je9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5-30-10:56:51-d0shsss75iks832je9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7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  <p:pic>
        <p:nvPicPr>
          <p:cNvPr id="16" name="Image 8" descr="https://test-kimi-img.moonshot.cn/pub/slides/slides_tmpl/image/25-05-30-10:57:06-d0sht0k75iks832je9v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4275" y="1563370"/>
            <a:ext cx="2450465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E0FAFF">
                <a:alpha val="83000"/>
              </a:srgbClr>
            </a:gs>
            <a:gs pos="100000">
              <a:srgbClr val="C2F5F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06-d0sht0k75iks832je9v0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5876" t="9906"/>
          <a:stretch>
            <a:fillRect/>
          </a:stretch>
        </p:blipFill>
        <p:spPr>
          <a:xfrm>
            <a:off x="8255" y="-36830"/>
            <a:ext cx="11229340" cy="634682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610995" y="509270"/>
            <a:ext cx="86398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5-30-10:56:46-d0shsrk75iks832je9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5-30-10:56:51-d0shsss75iks832je9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7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212850" y="407035"/>
            <a:ext cx="10441940" cy="5459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sz="24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371600" lvl="3" indent="457200">
              <a:lnSpc>
                <a:spcPct val="80000"/>
              </a:lnSpc>
            </a:pPr>
            <a:r>
              <a:rPr lang="en-US" sz="28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（</a:t>
            </a:r>
            <a:r>
              <a:rPr lang="en-US" sz="28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）</a:t>
            </a:r>
            <a:r>
              <a:rPr lang="en-US" sz="28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钓鱼猎人：网络安全教育模拟系统</a:t>
            </a:r>
            <a:endParaRPr lang="zh-CN" altLang="en-US" sz="32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indent="0">
              <a:lnSpc>
                <a:spcPct val="80000"/>
              </a:lnSpc>
              <a:buFont typeface="Wingdings" panose="05000000000000000000" charset="0"/>
              <a:buNone/>
            </a:pPr>
            <a:r>
              <a:rPr lang="en-US" altLang="zh-CN" sz="32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5.1</a:t>
            </a:r>
            <a:r>
              <a:rPr lang="zh-CN" altLang="en-US" sz="32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小学组</a:t>
            </a:r>
            <a:endParaRPr lang="en-US" altLang="zh-CN" sz="28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371600" lvl="3" indent="457200">
              <a:lnSpc>
                <a:spcPct val="80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（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2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）防诈电话模拟器</a:t>
            </a:r>
            <a:endParaRPr lang="zh-CN" altLang="en-US" sz="2800" b="1" dirty="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1371600" lvl="3" indent="457200">
              <a:lnSpc>
                <a:spcPct val="180000"/>
              </a:lnSpc>
            </a:pPr>
            <a:endParaRPr lang="zh-CN" altLang="en-US" sz="2800" b="1" dirty="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1371600" lvl="3" indent="457200" algn="l">
              <a:lnSpc>
                <a:spcPct val="80000"/>
              </a:lnSpc>
              <a:buClrTx/>
              <a:buSzTx/>
              <a:buFontTx/>
            </a:pPr>
            <a:r>
              <a:rPr lang="en-US" altLang="zh-CN" sz="28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（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）维吉尼亚密码工具</a:t>
            </a:r>
            <a:endParaRPr lang="zh-CN" altLang="en-US" sz="2800" b="1" dirty="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indent="0">
              <a:lnSpc>
                <a:spcPct val="80000"/>
              </a:lnSpc>
              <a:buFont typeface="Wingdings" panose="05000000000000000000" charset="0"/>
              <a:buNone/>
            </a:pPr>
            <a:r>
              <a:rPr lang="en-US" altLang="zh-CN" sz="32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5.2初中组</a:t>
            </a:r>
            <a:endParaRPr lang="en-US" altLang="zh-CN" sz="32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371600" lvl="3" indent="457200">
              <a:lnSpc>
                <a:spcPct val="80000"/>
              </a:lnSpc>
            </a:pPr>
            <a:r>
              <a:rPr lang="en-US" sz="28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（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2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）</a:t>
            </a:r>
            <a:r>
              <a:rPr lang="en-US" sz="28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数学与密码：矩阵密码转换器</a:t>
            </a:r>
            <a:endParaRPr lang="en-US" sz="2800" b="1" dirty="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1371600" lvl="3" indent="457200">
              <a:lnSpc>
                <a:spcPct val="80000"/>
              </a:lnSpc>
            </a:pPr>
            <a:endParaRPr lang="en-US" altLang="zh-CN" sz="2400" b="1" dirty="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1371600" lvl="3" indent="457200">
              <a:lnSpc>
                <a:spcPct val="80000"/>
              </a:lnSpc>
            </a:pPr>
            <a:endParaRPr lang="en-US" altLang="zh-CN" sz="2400" b="1" dirty="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1371600" lvl="3" indent="457200">
              <a:lnSpc>
                <a:spcPct val="80000"/>
              </a:lnSpc>
            </a:pPr>
            <a:endParaRPr lang="en-US" altLang="zh-CN" sz="2400" b="1" dirty="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marL="1371600" lvl="3" indent="457200">
              <a:lnSpc>
                <a:spcPct val="80000"/>
              </a:lnSpc>
            </a:pPr>
            <a:r>
              <a:rPr lang="en-US" sz="28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（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）</a:t>
            </a:r>
            <a:r>
              <a:rPr lang="en-US" sz="28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SSH暴力攻击实时对抗演示系统</a:t>
            </a:r>
            <a:endParaRPr lang="en-US" altLang="zh-CN" sz="32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indent="0">
              <a:lnSpc>
                <a:spcPct val="80000"/>
              </a:lnSpc>
              <a:buFont typeface="Wingdings" panose="05000000000000000000" charset="0"/>
              <a:buNone/>
            </a:pPr>
            <a:r>
              <a:rPr lang="en-US" altLang="zh-CN" sz="32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5.3高中组</a:t>
            </a:r>
            <a:endParaRPr lang="en-US" altLang="zh-CN" sz="2800" b="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371600" lvl="3" indent="457200">
              <a:lnSpc>
                <a:spcPct val="80000"/>
              </a:lnSpc>
            </a:pP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（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2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）基于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Wazuh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的网络安全威胁实时感知和防御系统</a:t>
            </a:r>
            <a:endParaRPr lang="zh-CN" altLang="en-US" sz="2800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E0FAFF">
                <a:alpha val="83000"/>
              </a:srgbClr>
            </a:gs>
            <a:gs pos="100000">
              <a:srgbClr val="C2F5F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06-d0sht0k75iks832je9v0.png"/>
          <p:cNvPicPr>
            <a:picLocks noChangeAspect="1"/>
          </p:cNvPicPr>
          <p:nvPr/>
        </p:nvPicPr>
        <p:blipFill>
          <a:blip r:embed="rId1"/>
          <a:srcRect l="5876" t="9906"/>
          <a:stretch>
            <a:fillRect/>
          </a:stretch>
        </p:blipFill>
        <p:spPr>
          <a:xfrm>
            <a:off x="8255" y="-36830"/>
            <a:ext cx="11229340" cy="63468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659130"/>
            <a:ext cx="6096000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5.1 </a:t>
            </a:r>
            <a:r>
              <a:rPr lang="zh-CN" alt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案例展示</a:t>
            </a:r>
            <a:r>
              <a:rPr lang="en-US" altLang="zh-CN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--</a:t>
            </a: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小学组</a:t>
            </a:r>
            <a:endParaRPr lang="en-US" sz="28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745105" y="2167890"/>
            <a:ext cx="6702425" cy="1568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钓鱼猎人：网络安全教育模拟系统</a:t>
            </a:r>
            <a:endParaRPr lang="en-US" sz="48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pic>
        <p:nvPicPr>
          <p:cNvPr id="5" name="Image 1" descr="https://test-kimi-img.moonshot.cn/pub/slides/slides_tmpl/image/25-05-30-10:57:06-d0sht0k75iks832je9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610995" y="509270"/>
            <a:ext cx="86398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5-30-10:56:46-d0shsrk75iks832je9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5-30-10:56:51-d0shsss75iks832je9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7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7266305" y="4916805"/>
            <a:ext cx="2555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by-0.2</a:t>
            </a:r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21640" y="380365"/>
            <a:ext cx="1054544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5.1.1 </a:t>
            </a:r>
            <a:r>
              <a:rPr lang="zh-CN" altLang="en-US" sz="20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小学</a:t>
            </a:r>
            <a:r>
              <a:rPr lang="en-US" sz="20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组——</a:t>
            </a:r>
            <a:r>
              <a:rPr lang="en-US" sz="20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钓鱼猎人：网络安全教育模拟系统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16000" y="1473200"/>
            <a:ext cx="334361" cy="335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38860" y="3398520"/>
            <a:ext cx="4571365" cy="27127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31240" y="3383280"/>
            <a:ext cx="4586605" cy="6400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134100" y="3398520"/>
            <a:ext cx="4571365" cy="27127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126480" y="3383280"/>
            <a:ext cx="4586605" cy="6400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318885" y="3503930"/>
            <a:ext cx="420243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作品介</a:t>
            </a:r>
            <a:endParaRPr lang="en-US" sz="1600" dirty="0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screen"/>
          <a:stretch>
            <a:fillRect/>
          </a:stretch>
        </p:blipFill>
        <p:spPr>
          <a:xfrm>
            <a:off x="8654266" y="5752096"/>
            <a:ext cx="3200399" cy="1066800"/>
          </a:xfrm>
          <a:prstGeom prst="rect">
            <a:avLst/>
          </a:prstGeom>
        </p:spPr>
      </p:pic>
      <p:sp>
        <p:nvSpPr>
          <p:cNvPr id="31" name="Shape 5"/>
          <p:cNvSpPr/>
          <p:nvPr>
            <p:custDataLst>
              <p:tags r:id="rId5"/>
            </p:custDataLst>
          </p:nvPr>
        </p:nvSpPr>
        <p:spPr>
          <a:xfrm>
            <a:off x="1054735" y="1393190"/>
            <a:ext cx="334361" cy="335280"/>
          </a:xfrm>
          <a:prstGeom prst="chevron">
            <a:avLst/>
          </a:prstGeom>
          <a:solidFill>
            <a:srgbClr val="5289ED"/>
          </a:solidFill>
        </p:spPr>
      </p:sp>
      <p:sp>
        <p:nvSpPr>
          <p:cNvPr id="32" name="Text 6"/>
          <p:cNvSpPr/>
          <p:nvPr/>
        </p:nvSpPr>
        <p:spPr>
          <a:xfrm>
            <a:off x="1016000" y="2650490"/>
            <a:ext cx="334361" cy="335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3" name="Shape 7"/>
          <p:cNvSpPr/>
          <p:nvPr>
            <p:custDataLst>
              <p:tags r:id="rId6"/>
            </p:custDataLst>
          </p:nvPr>
        </p:nvSpPr>
        <p:spPr>
          <a:xfrm>
            <a:off x="1448084" y="1402080"/>
            <a:ext cx="334361" cy="335280"/>
          </a:xfrm>
          <a:prstGeom prst="chevron">
            <a:avLst/>
          </a:prstGeom>
          <a:solidFill>
            <a:srgbClr val="5289ED"/>
          </a:solidFill>
        </p:spPr>
      </p:sp>
      <p:sp>
        <p:nvSpPr>
          <p:cNvPr id="34" name="Text 8"/>
          <p:cNvSpPr/>
          <p:nvPr/>
        </p:nvSpPr>
        <p:spPr>
          <a:xfrm>
            <a:off x="1389664" y="1393190"/>
            <a:ext cx="334361" cy="335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5" name="Text 9"/>
          <p:cNvSpPr/>
          <p:nvPr>
            <p:custDataLst>
              <p:tags r:id="rId7"/>
            </p:custDataLst>
          </p:nvPr>
        </p:nvSpPr>
        <p:spPr>
          <a:xfrm>
            <a:off x="1879600" y="1333183"/>
            <a:ext cx="464400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just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作品</a:t>
            </a:r>
            <a:r>
              <a:rPr lang="zh-CN" alt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目的</a:t>
            </a:r>
            <a:endParaRPr lang="zh-CN" altLang="en-US" sz="24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6" name="Text 10"/>
          <p:cNvSpPr/>
          <p:nvPr>
            <p:custDataLst>
              <p:tags r:id="rId8"/>
            </p:custDataLst>
          </p:nvPr>
        </p:nvSpPr>
        <p:spPr>
          <a:xfrm>
            <a:off x="1054735" y="2127250"/>
            <a:ext cx="9179560" cy="8655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just">
              <a:lnSpc>
                <a:spcPct val="140000"/>
              </a:lnSpc>
              <a:buNone/>
            </a:pPr>
            <a:r>
              <a:rPr lang="zh-CN" altLang="en-US" sz="1800" dirty="0"/>
              <a:t>通过模拟真实钓鱼攻击场景（邮件+网站），帮助用户（尤其是中小学生）直观理解钓鱼攻击的运作原理，提升识别能力。</a:t>
            </a:r>
            <a:endParaRPr lang="zh-CN" altLang="en-US" sz="1800" dirty="0"/>
          </a:p>
        </p:txBody>
      </p:sp>
      <p:sp>
        <p:nvSpPr>
          <p:cNvPr id="37" name="Shape 5"/>
          <p:cNvSpPr/>
          <p:nvPr>
            <p:custDataLst>
              <p:tags r:id="rId9"/>
            </p:custDataLst>
          </p:nvPr>
        </p:nvSpPr>
        <p:spPr>
          <a:xfrm>
            <a:off x="1113155" y="3391535"/>
            <a:ext cx="334361" cy="335280"/>
          </a:xfrm>
          <a:prstGeom prst="chevron">
            <a:avLst/>
          </a:prstGeom>
          <a:solidFill>
            <a:srgbClr val="5289ED"/>
          </a:solidFill>
        </p:spPr>
      </p:sp>
      <p:sp>
        <p:nvSpPr>
          <p:cNvPr id="38" name="Text 6"/>
          <p:cNvSpPr/>
          <p:nvPr/>
        </p:nvSpPr>
        <p:spPr>
          <a:xfrm>
            <a:off x="1000760" y="4005580"/>
            <a:ext cx="334361" cy="335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9" name="Shape 7"/>
          <p:cNvSpPr/>
          <p:nvPr>
            <p:custDataLst>
              <p:tags r:id="rId10"/>
            </p:custDataLst>
          </p:nvPr>
        </p:nvSpPr>
        <p:spPr>
          <a:xfrm>
            <a:off x="1448084" y="3391535"/>
            <a:ext cx="334361" cy="335280"/>
          </a:xfrm>
          <a:prstGeom prst="chevron">
            <a:avLst/>
          </a:prstGeom>
          <a:solidFill>
            <a:srgbClr val="5289ED"/>
          </a:solidFill>
        </p:spPr>
      </p:sp>
      <p:sp>
        <p:nvSpPr>
          <p:cNvPr id="40" name="Text 8"/>
          <p:cNvSpPr/>
          <p:nvPr/>
        </p:nvSpPr>
        <p:spPr>
          <a:xfrm>
            <a:off x="1327434" y="4005580"/>
            <a:ext cx="334361" cy="335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1" name="Text 9"/>
          <p:cNvSpPr/>
          <p:nvPr>
            <p:custDataLst>
              <p:tags r:id="rId11"/>
            </p:custDataLst>
          </p:nvPr>
        </p:nvSpPr>
        <p:spPr>
          <a:xfrm>
            <a:off x="1782445" y="3391218"/>
            <a:ext cx="464400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just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作品</a:t>
            </a:r>
            <a:r>
              <a:rPr lang="zh-CN" alt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内容</a:t>
            </a:r>
            <a:endParaRPr lang="zh-CN" altLang="en-US" sz="24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2" name="Text 14"/>
          <p:cNvSpPr/>
          <p:nvPr/>
        </p:nvSpPr>
        <p:spPr>
          <a:xfrm>
            <a:off x="1016000" y="5915660"/>
            <a:ext cx="4586605" cy="6400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4" name="Text 6"/>
          <p:cNvSpPr/>
          <p:nvPr/>
        </p:nvSpPr>
        <p:spPr>
          <a:xfrm>
            <a:off x="1000760" y="5182870"/>
            <a:ext cx="334361" cy="335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8" name="Text 10"/>
          <p:cNvSpPr/>
          <p:nvPr>
            <p:custDataLst>
              <p:tags r:id="rId12"/>
            </p:custDataLst>
          </p:nvPr>
        </p:nvSpPr>
        <p:spPr>
          <a:xfrm>
            <a:off x="1054735" y="3907790"/>
            <a:ext cx="9235440" cy="28022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just">
              <a:lnSpc>
                <a:spcPct val="140000"/>
              </a:lnSpc>
              <a:buNone/>
            </a:pPr>
            <a:r>
              <a:rPr lang="zh-CN" altLang="en-US" sz="1800" dirty="0"/>
              <a:t>嵌入演示视频，展示钓鱼邮件和网站的操作过程</a:t>
            </a:r>
            <a:endParaRPr lang="zh-CN" altLang="en-US" sz="1800" dirty="0"/>
          </a:p>
          <a:p>
            <a:pPr marL="0" indent="0" algn="just">
              <a:lnSpc>
                <a:spcPct val="140000"/>
              </a:lnSpc>
              <a:buNone/>
            </a:pPr>
            <a:endParaRPr lang="zh-CN" altLang="en-US" sz="1800" dirty="0"/>
          </a:p>
          <a:p>
            <a:pPr marL="0" indent="0" algn="just">
              <a:lnSpc>
                <a:spcPct val="140000"/>
              </a:lnSpc>
              <a:buNone/>
            </a:pPr>
            <a:r>
              <a:rPr lang="zh-CN" altLang="en-US" sz="1800" dirty="0"/>
              <a:t>设置模拟的“安全警告”页面，提示用户已遭遇钓鱼测试</a:t>
            </a:r>
            <a:endParaRPr lang="zh-CN" altLang="en-US" sz="1800" dirty="0"/>
          </a:p>
          <a:p>
            <a:pPr marL="0" indent="0" algn="just">
              <a:lnSpc>
                <a:spcPct val="140000"/>
              </a:lnSpc>
              <a:buNone/>
            </a:pPr>
            <a:endParaRPr lang="zh-CN" altLang="en-US" sz="1800" dirty="0"/>
          </a:p>
          <a:p>
            <a:pPr marL="0" indent="0" algn="just">
              <a:lnSpc>
                <a:spcPct val="140000"/>
              </a:lnSpc>
              <a:buNone/>
            </a:pPr>
            <a:r>
              <a:rPr lang="zh-CN" altLang="en-US" sz="1800" dirty="0"/>
              <a:t>提供具体防范建议（如不输入密码、报告IT部门等）</a:t>
            </a:r>
            <a:endParaRPr lang="zh-CN" altLang="en-US" sz="1800" dirty="0"/>
          </a:p>
          <a:p>
            <a:pPr marL="0" indent="0" algn="just">
              <a:lnSpc>
                <a:spcPct val="140000"/>
              </a:lnSpc>
              <a:buNone/>
            </a:pPr>
            <a:endParaRPr lang="zh-CN" altLang="en-US" sz="1800" dirty="0"/>
          </a:p>
          <a:p>
            <a:pPr marL="0" indent="0" algn="just">
              <a:lnSpc>
                <a:spcPct val="140000"/>
              </a:lnSpc>
              <a:buNone/>
            </a:pPr>
            <a:r>
              <a:rPr lang="zh-CN" altLang="en-US" sz="1800" dirty="0"/>
              <a:t>详细说明项目目的、教育价值及技术实现（Gophish平台+HTML网页+SMTP协议）</a:t>
            </a:r>
            <a:endParaRPr lang="zh-CN" altLang="en-US" sz="1800" dirty="0"/>
          </a:p>
        </p:txBody>
      </p:sp>
      <p:cxnSp>
        <p:nvCxnSpPr>
          <p:cNvPr id="14" name="直接连接符 13"/>
          <p:cNvCxnSpPr/>
          <p:nvPr/>
        </p:nvCxnSpPr>
        <p:spPr>
          <a:xfrm flipV="1">
            <a:off x="515620" y="817245"/>
            <a:ext cx="5910580" cy="51435"/>
          </a:xfrm>
          <a:prstGeom prst="line">
            <a:avLst/>
          </a:prstGeom>
          <a:ln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01320" y="380365"/>
            <a:ext cx="1056576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5.1.1 小学组——</a:t>
            </a:r>
            <a:r>
              <a:rPr lang="en-US" sz="20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钓鱼猎人：网络安全教育模拟系统</a:t>
            </a: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==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3"/>
            </p:custDataLst>
          </p:nvPr>
        </p:nvSpPr>
        <p:spPr>
          <a:xfrm>
            <a:off x="1139190" y="1641475"/>
            <a:ext cx="3119120" cy="41941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5289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39190" y="1641475"/>
            <a:ext cx="3119120" cy="4194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Text 7"/>
          <p:cNvSpPr/>
          <p:nvPr>
            <p:custDataLst>
              <p:tags r:id="rId4"/>
            </p:custDataLst>
          </p:nvPr>
        </p:nvSpPr>
        <p:spPr>
          <a:xfrm>
            <a:off x="1365885" y="1803400"/>
            <a:ext cx="2655570" cy="9220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钓鱼猎人：网络安全教育模拟系统</a:t>
            </a:r>
            <a:endParaRPr lang="en-US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US" b="1" dirty="0"/>
          </a:p>
        </p:txBody>
      </p:sp>
      <p:sp>
        <p:nvSpPr>
          <p:cNvPr id="11" name="Text 8"/>
          <p:cNvSpPr/>
          <p:nvPr>
            <p:custDataLst>
              <p:tags r:id="rId5"/>
            </p:custDataLst>
          </p:nvPr>
        </p:nvSpPr>
        <p:spPr>
          <a:xfrm>
            <a:off x="1346835" y="2135505"/>
            <a:ext cx="2694940" cy="23069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endParaRPr lang="en-US" sz="16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通过模拟真实钓鱼攻击场景（邮件+网站），帮助用户（尤其是中小学生）直观理解钓鱼攻击的运作原理，提升识别能力。</a:t>
            </a:r>
            <a:endParaRPr lang="en-US" sz="1600" dirty="0"/>
          </a:p>
        </p:txBody>
      </p:sp>
      <p:sp>
        <p:nvSpPr>
          <p:cNvPr id="12" name="Shape 9"/>
          <p:cNvSpPr/>
          <p:nvPr>
            <p:custDataLst>
              <p:tags r:id="rId6"/>
            </p:custDataLst>
          </p:nvPr>
        </p:nvSpPr>
        <p:spPr>
          <a:xfrm>
            <a:off x="1151255" y="5075555"/>
            <a:ext cx="3107690" cy="761365"/>
          </a:xfrm>
          <a:prstGeom prst="rtTriangle">
            <a:avLst/>
          </a:prstGeom>
          <a:solidFill>
            <a:srgbClr val="5289ED"/>
          </a:solidFill>
        </p:spPr>
      </p:sp>
      <p:sp>
        <p:nvSpPr>
          <p:cNvPr id="13" name="Text 10"/>
          <p:cNvSpPr/>
          <p:nvPr/>
        </p:nvSpPr>
        <p:spPr>
          <a:xfrm>
            <a:off x="1151255" y="5075555"/>
            <a:ext cx="3107690" cy="7613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1"/>
          <p:cNvSpPr/>
          <p:nvPr>
            <p:custDataLst>
              <p:tags r:id="rId7"/>
            </p:custDataLst>
          </p:nvPr>
        </p:nvSpPr>
        <p:spPr>
          <a:xfrm flipH="1">
            <a:off x="1150620" y="4772025"/>
            <a:ext cx="3107690" cy="1064895"/>
          </a:xfrm>
          <a:prstGeom prst="rtTriangle">
            <a:avLst/>
          </a:prstGeom>
          <a:solidFill>
            <a:srgbClr val="5289ED"/>
          </a:solidFill>
        </p:spPr>
      </p:sp>
      <p:sp>
        <p:nvSpPr>
          <p:cNvPr id="15" name="Text 12"/>
          <p:cNvSpPr/>
          <p:nvPr/>
        </p:nvSpPr>
        <p:spPr>
          <a:xfrm>
            <a:off x="1150620" y="4772025"/>
            <a:ext cx="3107690" cy="10648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8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  <p:pic>
        <p:nvPicPr>
          <p:cNvPr id="33" name="图片 32" descr="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0580" y="1803400"/>
            <a:ext cx="6991985" cy="3779520"/>
          </a:xfrm>
          <a:prstGeom prst="rect">
            <a:avLst/>
          </a:prstGeom>
        </p:spPr>
      </p:pic>
      <p:cxnSp>
        <p:nvCxnSpPr>
          <p:cNvPr id="16" name="直接连接符 15"/>
          <p:cNvCxnSpPr/>
          <p:nvPr/>
        </p:nvCxnSpPr>
        <p:spPr>
          <a:xfrm flipV="1">
            <a:off x="493395" y="817245"/>
            <a:ext cx="5961380" cy="18415"/>
          </a:xfrm>
          <a:prstGeom prst="line">
            <a:avLst/>
          </a:prstGeom>
          <a:ln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86105" y="380365"/>
            <a:ext cx="1038098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5.1.1 小学</a:t>
            </a:r>
            <a:r>
              <a:rPr lang="zh-CN" altLang="en-US" sz="20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组</a:t>
            </a:r>
            <a:r>
              <a:rPr lang="en-US" altLang="zh-CN" sz="20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——</a:t>
            </a:r>
            <a:r>
              <a:rPr lang="en-US" sz="20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钓鱼猎人：网络安全教育模拟系统</a:t>
            </a:r>
            <a:endParaRPr lang="en-US"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1139190" y="1641475"/>
            <a:ext cx="3119120" cy="4194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50620" y="4772025"/>
            <a:ext cx="3107690" cy="10648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graphicFrame>
        <p:nvGraphicFramePr>
          <p:cNvPr id="16" name="表格 15"/>
          <p:cNvGraphicFramePr/>
          <p:nvPr>
            <p:custDataLst>
              <p:tags r:id="rId3"/>
            </p:custDataLst>
          </p:nvPr>
        </p:nvGraphicFramePr>
        <p:xfrm>
          <a:off x="537210" y="1844040"/>
          <a:ext cx="4030980" cy="3211830"/>
        </p:xfrm>
        <a:graphic>
          <a:graphicData uri="http://schemas.openxmlformats.org/drawingml/2006/table">
            <a:tbl>
              <a:tblPr/>
              <a:tblGrid>
                <a:gridCol w="497840"/>
                <a:gridCol w="1661160"/>
                <a:gridCol w="1871980"/>
              </a:tblGrid>
              <a:tr h="29210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OSI</a:t>
                      </a: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层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作品中的技术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功能体现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应用层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SMTP</a:t>
                      </a: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HTTP</a:t>
                      </a: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Web</a:t>
                      </a: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界面、数据分析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邮件伪造、网站克隆、用户反馈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3565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表示层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邮件头解析、数据编码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邮件内容处理、表单数据格式化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会话层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Flask Session/Cookie</a:t>
                      </a:r>
                      <a:endParaRPr lang="en-US" altLang="zh-CN"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用户交互状态管理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3565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传输层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TCP</a:t>
                      </a: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HTTP</a:t>
                      </a: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请求）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可靠传输表单数据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网络层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IP</a:t>
                      </a: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路由、域名解析 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dirty="0">
                          <a:latin typeface="Calibri" panose="020F0502020204030204"/>
                          <a:ea typeface="宋体" panose="02010600030101010101" pitchFamily="2" charset="-122"/>
                        </a:rPr>
                        <a:t>虚假网站访问、本地网络隔离</a:t>
                      </a:r>
                      <a:endParaRPr lang="zh-CN" sz="1100" dirty="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7" name="图片 16" descr="C:/Users/伍芷颐/Desktop/2.png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t="11399" b="11399"/>
          <a:stretch>
            <a:fillRect/>
          </a:stretch>
        </p:blipFill>
        <p:spPr>
          <a:xfrm>
            <a:off x="4908550" y="918845"/>
            <a:ext cx="7105015" cy="2727960"/>
          </a:xfrm>
          <a:prstGeom prst="rect">
            <a:avLst/>
          </a:prstGeom>
        </p:spPr>
      </p:pic>
      <p:pic>
        <p:nvPicPr>
          <p:cNvPr id="20" name="图片 19" descr="C:/Users/伍芷颐/Desktop/3.png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t="14684" b="14684"/>
          <a:stretch>
            <a:fillRect/>
          </a:stretch>
        </p:blipFill>
        <p:spPr>
          <a:xfrm>
            <a:off x="4915535" y="3646805"/>
            <a:ext cx="7098030" cy="2853055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 cstate="screen"/>
          <a:stretch>
            <a:fillRect/>
          </a:stretch>
        </p:blipFill>
        <p:spPr>
          <a:xfrm>
            <a:off x="9083526" y="5731141"/>
            <a:ext cx="3200399" cy="106680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 flipV="1">
            <a:off x="647065" y="779145"/>
            <a:ext cx="5956300" cy="56515"/>
          </a:xfrm>
          <a:prstGeom prst="line">
            <a:avLst/>
          </a:prstGeom>
          <a:ln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E0FAFF">
                <a:alpha val="83000"/>
              </a:srgbClr>
            </a:gs>
            <a:gs pos="100000">
              <a:srgbClr val="C2F5F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06-d0sht0k75iks832je9v0.png"/>
          <p:cNvPicPr>
            <a:picLocks noChangeAspect="1"/>
          </p:cNvPicPr>
          <p:nvPr/>
        </p:nvPicPr>
        <p:blipFill>
          <a:blip r:embed="rId1"/>
          <a:srcRect l="5876" t="9906"/>
          <a:stretch>
            <a:fillRect/>
          </a:stretch>
        </p:blipFill>
        <p:spPr>
          <a:xfrm>
            <a:off x="8255" y="-36830"/>
            <a:ext cx="11229340" cy="63468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659130"/>
            <a:ext cx="6096000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5.1 </a:t>
            </a:r>
            <a:r>
              <a:rPr lang="zh-CN" alt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案例展示</a:t>
            </a:r>
            <a:r>
              <a:rPr lang="en-US" altLang="zh-CN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--</a:t>
            </a: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小学组</a:t>
            </a:r>
            <a:endParaRPr lang="en-US" sz="28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745105" y="2883535"/>
            <a:ext cx="6702425" cy="8299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48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MiSans" pitchFamily="34" charset="-120"/>
                <a:sym typeface="+mn-ea"/>
              </a:rPr>
              <a:t>防诈电话</a:t>
            </a:r>
            <a:r>
              <a:rPr lang="zh-CN" altLang="en-US" sz="48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MiSans" pitchFamily="34" charset="-120"/>
                <a:sym typeface="+mn-ea"/>
              </a:rPr>
              <a:t>模拟器</a:t>
            </a:r>
            <a:endParaRPr lang="zh-CN" altLang="en-US" sz="4800" b="1" dirty="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MiSans" pitchFamily="34" charset="-120"/>
              <a:sym typeface="+mn-ea"/>
            </a:endParaRPr>
          </a:p>
        </p:txBody>
      </p:sp>
      <p:pic>
        <p:nvPicPr>
          <p:cNvPr id="5" name="Image 1" descr="https://test-kimi-img.moonshot.cn/pub/slides/slides_tmpl/image/25-05-30-10:57:06-d0sht0k75iks832je9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610995" y="509270"/>
            <a:ext cx="86398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5-30-10:56:46-d0shsrk75iks832je9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5-30-10:56:51-d0shsss75iks832je9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7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7266305" y="4916805"/>
            <a:ext cx="29362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by-AAA</a:t>
            </a:r>
            <a:r>
              <a:rPr lang="zh-CN" altLang="en-US"/>
              <a:t>狂欢之椅黄金贵宾</a:t>
            </a:r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89280" y="380365"/>
            <a:ext cx="1037780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5.1.2 </a:t>
            </a:r>
            <a:r>
              <a:rPr lang="zh-CN" altLang="en-US" sz="20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小学</a:t>
            </a:r>
            <a:r>
              <a:rPr lang="en-US" sz="20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组——</a:t>
            </a:r>
            <a:r>
              <a:rPr lang="zh-CN" altLang="en-US" sz="20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防诈电话模拟器</a:t>
            </a: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3"/>
            </p:custDataLst>
          </p:nvPr>
        </p:nvSpPr>
        <p:spPr>
          <a:xfrm>
            <a:off x="1016000" y="1473200"/>
            <a:ext cx="334361" cy="335280"/>
          </a:xfrm>
          <a:prstGeom prst="chevron">
            <a:avLst/>
          </a:prstGeom>
          <a:solidFill>
            <a:srgbClr val="5289ED"/>
          </a:solidFill>
        </p:spPr>
      </p:sp>
      <p:sp>
        <p:nvSpPr>
          <p:cNvPr id="9" name="Text 6"/>
          <p:cNvSpPr/>
          <p:nvPr/>
        </p:nvSpPr>
        <p:spPr>
          <a:xfrm>
            <a:off x="1016000" y="1473200"/>
            <a:ext cx="334361" cy="335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7"/>
          <p:cNvSpPr/>
          <p:nvPr>
            <p:custDataLst>
              <p:tags r:id="rId4"/>
            </p:custDataLst>
          </p:nvPr>
        </p:nvSpPr>
        <p:spPr>
          <a:xfrm>
            <a:off x="1342674" y="1473200"/>
            <a:ext cx="334361" cy="335280"/>
          </a:xfrm>
          <a:prstGeom prst="chevron">
            <a:avLst/>
          </a:prstGeom>
          <a:solidFill>
            <a:srgbClr val="5289ED"/>
          </a:solidFill>
        </p:spPr>
      </p:sp>
      <p:sp>
        <p:nvSpPr>
          <p:cNvPr id="11" name="Text 8"/>
          <p:cNvSpPr/>
          <p:nvPr/>
        </p:nvSpPr>
        <p:spPr>
          <a:xfrm>
            <a:off x="1342674" y="1473200"/>
            <a:ext cx="334361" cy="335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Text 9"/>
          <p:cNvSpPr/>
          <p:nvPr>
            <p:custDataLst>
              <p:tags r:id="rId5"/>
            </p:custDataLst>
          </p:nvPr>
        </p:nvSpPr>
        <p:spPr>
          <a:xfrm>
            <a:off x="1762125" y="1441133"/>
            <a:ext cx="464400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作品示例</a:t>
            </a:r>
            <a:endParaRPr lang="en-US" sz="1600" dirty="0"/>
          </a:p>
        </p:txBody>
      </p:sp>
      <p:sp>
        <p:nvSpPr>
          <p:cNvPr id="13" name="Text 10"/>
          <p:cNvSpPr/>
          <p:nvPr>
            <p:custDataLst>
              <p:tags r:id="rId6"/>
            </p:custDataLst>
          </p:nvPr>
        </p:nvSpPr>
        <p:spPr>
          <a:xfrm>
            <a:off x="1016000" y="1960880"/>
            <a:ext cx="9794240" cy="4508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zh-CN" altLang="en-US" sz="1800" dirty="0">
                <a:solidFill>
                  <a:srgbClr val="000000"/>
                </a:solidFill>
                <a:latin typeface="等线 (正文)" charset="0"/>
                <a:ea typeface="等线 (正文)" charset="0"/>
                <a:cs typeface="MiSans" pitchFamily="34" charset="-120"/>
              </a:rPr>
              <a:t>防诈电话模拟器</a:t>
            </a:r>
            <a:endParaRPr lang="en-US" sz="1600" dirty="0">
              <a:latin typeface="等线 (正文)" charset="0"/>
              <a:ea typeface="等线 (正文)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38860" y="3398520"/>
            <a:ext cx="4571365" cy="27127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31240" y="3383280"/>
            <a:ext cx="4586605" cy="6400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134100" y="3398520"/>
            <a:ext cx="4571365" cy="27127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126480" y="3383280"/>
            <a:ext cx="4586605" cy="6400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318885" y="3503930"/>
            <a:ext cx="420243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作品介</a:t>
            </a:r>
            <a:endParaRPr lang="en-US" sz="1600" dirty="0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screen"/>
          <a:stretch>
            <a:fillRect/>
          </a:stretch>
        </p:blipFill>
        <p:spPr>
          <a:xfrm>
            <a:off x="8654266" y="5752096"/>
            <a:ext cx="3200399" cy="1066800"/>
          </a:xfrm>
          <a:prstGeom prst="rect">
            <a:avLst/>
          </a:prstGeom>
        </p:spPr>
      </p:pic>
      <p:sp>
        <p:nvSpPr>
          <p:cNvPr id="31" name="Shape 5"/>
          <p:cNvSpPr/>
          <p:nvPr>
            <p:custDataLst>
              <p:tags r:id="rId9"/>
            </p:custDataLst>
          </p:nvPr>
        </p:nvSpPr>
        <p:spPr>
          <a:xfrm>
            <a:off x="1016000" y="2650490"/>
            <a:ext cx="334361" cy="335280"/>
          </a:xfrm>
          <a:prstGeom prst="chevron">
            <a:avLst/>
          </a:prstGeom>
          <a:solidFill>
            <a:srgbClr val="5289ED"/>
          </a:solidFill>
        </p:spPr>
      </p:sp>
      <p:sp>
        <p:nvSpPr>
          <p:cNvPr id="32" name="Text 6"/>
          <p:cNvSpPr/>
          <p:nvPr/>
        </p:nvSpPr>
        <p:spPr>
          <a:xfrm>
            <a:off x="1016000" y="2650490"/>
            <a:ext cx="334361" cy="335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3" name="Shape 7"/>
          <p:cNvSpPr/>
          <p:nvPr>
            <p:custDataLst>
              <p:tags r:id="rId10"/>
            </p:custDataLst>
          </p:nvPr>
        </p:nvSpPr>
        <p:spPr>
          <a:xfrm>
            <a:off x="1342674" y="2650490"/>
            <a:ext cx="334361" cy="335280"/>
          </a:xfrm>
          <a:prstGeom prst="chevron">
            <a:avLst/>
          </a:prstGeom>
          <a:solidFill>
            <a:srgbClr val="5289ED"/>
          </a:solidFill>
        </p:spPr>
      </p:sp>
      <p:sp>
        <p:nvSpPr>
          <p:cNvPr id="34" name="Text 8"/>
          <p:cNvSpPr/>
          <p:nvPr/>
        </p:nvSpPr>
        <p:spPr>
          <a:xfrm>
            <a:off x="1342674" y="2650490"/>
            <a:ext cx="334361" cy="335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5" name="Text 9"/>
          <p:cNvSpPr/>
          <p:nvPr>
            <p:custDataLst>
              <p:tags r:id="rId11"/>
            </p:custDataLst>
          </p:nvPr>
        </p:nvSpPr>
        <p:spPr>
          <a:xfrm>
            <a:off x="1762125" y="2618423"/>
            <a:ext cx="464400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just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作品</a:t>
            </a:r>
            <a:r>
              <a:rPr lang="zh-CN" alt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目的</a:t>
            </a:r>
            <a:endParaRPr lang="zh-CN" altLang="en-US" sz="24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6" name="Text 10"/>
          <p:cNvSpPr/>
          <p:nvPr>
            <p:custDataLst>
              <p:tags r:id="rId12"/>
            </p:custDataLst>
          </p:nvPr>
        </p:nvSpPr>
        <p:spPr>
          <a:xfrm>
            <a:off x="1054735" y="3055620"/>
            <a:ext cx="4385310" cy="8655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just">
              <a:lnSpc>
                <a:spcPct val="140000"/>
              </a:lnSpc>
              <a:buNone/>
            </a:pPr>
            <a:r>
              <a:rPr lang="zh-CN" altLang="en-US" dirty="0">
                <a:sym typeface="+mn-ea"/>
              </a:rPr>
              <a:t>通过模拟真实来电场景，让用户在交互式挑战中学习识别并应对电话诈骗</a:t>
            </a:r>
            <a:endParaRPr lang="en-US" sz="1600" dirty="0"/>
          </a:p>
        </p:txBody>
      </p:sp>
      <p:sp>
        <p:nvSpPr>
          <p:cNvPr id="37" name="Shape 5"/>
          <p:cNvSpPr/>
          <p:nvPr>
            <p:custDataLst>
              <p:tags r:id="rId13"/>
            </p:custDataLst>
          </p:nvPr>
        </p:nvSpPr>
        <p:spPr>
          <a:xfrm>
            <a:off x="1000760" y="4005580"/>
            <a:ext cx="334361" cy="335280"/>
          </a:xfrm>
          <a:prstGeom prst="chevron">
            <a:avLst/>
          </a:prstGeom>
          <a:solidFill>
            <a:srgbClr val="5289ED"/>
          </a:solidFill>
        </p:spPr>
      </p:sp>
      <p:sp>
        <p:nvSpPr>
          <p:cNvPr id="38" name="Text 6"/>
          <p:cNvSpPr/>
          <p:nvPr/>
        </p:nvSpPr>
        <p:spPr>
          <a:xfrm>
            <a:off x="1000760" y="4005580"/>
            <a:ext cx="334361" cy="335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9" name="Shape 7"/>
          <p:cNvSpPr/>
          <p:nvPr>
            <p:custDataLst>
              <p:tags r:id="rId14"/>
            </p:custDataLst>
          </p:nvPr>
        </p:nvSpPr>
        <p:spPr>
          <a:xfrm>
            <a:off x="1327434" y="4005580"/>
            <a:ext cx="334361" cy="335280"/>
          </a:xfrm>
          <a:prstGeom prst="chevron">
            <a:avLst/>
          </a:prstGeom>
          <a:solidFill>
            <a:srgbClr val="5289ED"/>
          </a:solidFill>
        </p:spPr>
      </p:sp>
      <p:sp>
        <p:nvSpPr>
          <p:cNvPr id="40" name="Text 8"/>
          <p:cNvSpPr/>
          <p:nvPr/>
        </p:nvSpPr>
        <p:spPr>
          <a:xfrm>
            <a:off x="1327434" y="4005580"/>
            <a:ext cx="334361" cy="335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1" name="Text 9"/>
          <p:cNvSpPr/>
          <p:nvPr>
            <p:custDataLst>
              <p:tags r:id="rId15"/>
            </p:custDataLst>
          </p:nvPr>
        </p:nvSpPr>
        <p:spPr>
          <a:xfrm>
            <a:off x="1746885" y="3973513"/>
            <a:ext cx="464400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just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作品</a:t>
            </a:r>
            <a:r>
              <a:rPr lang="zh-CN" alt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内容</a:t>
            </a:r>
            <a:endParaRPr lang="zh-CN" altLang="en-US" sz="24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2" name="Text 14"/>
          <p:cNvSpPr/>
          <p:nvPr/>
        </p:nvSpPr>
        <p:spPr>
          <a:xfrm>
            <a:off x="1016000" y="5915660"/>
            <a:ext cx="4586605" cy="6400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4" name="Text 6"/>
          <p:cNvSpPr/>
          <p:nvPr/>
        </p:nvSpPr>
        <p:spPr>
          <a:xfrm>
            <a:off x="1000760" y="5182870"/>
            <a:ext cx="334361" cy="335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8" name="Text 10"/>
          <p:cNvSpPr/>
          <p:nvPr>
            <p:custDataLst>
              <p:tags r:id="rId16"/>
            </p:custDataLst>
          </p:nvPr>
        </p:nvSpPr>
        <p:spPr>
          <a:xfrm>
            <a:off x="1032510" y="4439920"/>
            <a:ext cx="4359910" cy="12528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just">
              <a:lnSpc>
                <a:spcPct val="140000"/>
              </a:lnSpc>
              <a:buNone/>
            </a:pPr>
            <a:r>
              <a:rPr lang="zh-CN" altLang="en-US" dirty="0">
                <a:sym typeface="+mn-ea"/>
              </a:rPr>
              <a:t>提升对陌生电话的警惕性，训练快速判断危险场景的能力，普及</a:t>
            </a:r>
            <a:r>
              <a:rPr lang="en-US" altLang="zh-CN" dirty="0">
                <a:sym typeface="+mn-ea"/>
              </a:rPr>
              <a:t>"</a:t>
            </a:r>
            <a:r>
              <a:rPr lang="zh-CN" altLang="en-US" dirty="0">
                <a:sym typeface="+mn-ea"/>
              </a:rPr>
              <a:t>不透露个人信息、不转账</a:t>
            </a:r>
            <a:r>
              <a:rPr lang="en-US" altLang="zh-CN" dirty="0">
                <a:sym typeface="+mn-ea"/>
              </a:rPr>
              <a:t>"</a:t>
            </a:r>
            <a:r>
              <a:rPr lang="zh-CN" altLang="en-US" dirty="0">
                <a:sym typeface="+mn-ea"/>
              </a:rPr>
              <a:t>的安全原则</a:t>
            </a:r>
            <a:endParaRPr lang="en-US" sz="1600" dirty="0"/>
          </a:p>
        </p:txBody>
      </p:sp>
      <p:graphicFrame>
        <p:nvGraphicFramePr>
          <p:cNvPr id="49" name="对象 48"/>
          <p:cNvGraphicFramePr/>
          <p:nvPr/>
        </p:nvGraphicFramePr>
        <p:xfrm>
          <a:off x="6605270" y="748030"/>
          <a:ext cx="4932045" cy="5116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" name="" r:id="rId17" imgW="3691890" imgH="3827780" progId="Visio.Drawing.15">
                  <p:embed/>
                </p:oleObj>
              </mc:Choice>
              <mc:Fallback>
                <p:oleObj name="" r:id="rId17" imgW="3691890" imgH="3827780" progId="Visio.Drawing.15">
                  <p:embed/>
                  <p:pic>
                    <p:nvPicPr>
                      <p:cNvPr id="0" name="图片 18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605270" y="748030"/>
                        <a:ext cx="4932045" cy="51161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Text 1"/>
          <p:cNvSpPr/>
          <p:nvPr/>
        </p:nvSpPr>
        <p:spPr>
          <a:xfrm>
            <a:off x="8597265" y="2524125"/>
            <a:ext cx="2940050" cy="5340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l">
              <a:lnSpc>
                <a:spcPct val="160000"/>
              </a:lnSpc>
              <a:buNone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  <a:sym typeface="+mn-ea"/>
              </a:rPr>
              <a:t>整体流程思路</a:t>
            </a:r>
            <a:endParaRPr lang="zh-CN" altLang="en-US" sz="1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flipV="1">
            <a:off x="657860" y="817245"/>
            <a:ext cx="3956050" cy="40640"/>
          </a:xfrm>
          <a:prstGeom prst="line">
            <a:avLst/>
          </a:prstGeom>
          <a:ln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17"/>
          <p:cNvSpPr/>
          <p:nvPr/>
        </p:nvSpPr>
        <p:spPr>
          <a:xfrm>
            <a:off x="4704080" y="1561465"/>
            <a:ext cx="7198360" cy="5135880"/>
          </a:xfrm>
          <a:prstGeom prst="roundRect">
            <a:avLst>
              <a:gd name="adj" fmla="val 7677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97B8F4"/>
                </a:gs>
                <a:gs pos="100000">
                  <a:srgbClr val="5289ED"/>
                </a:gs>
              </a:gsLst>
              <a:lin ang="2700000" scaled="1"/>
            </a:gradFill>
            <a:prstDash val="solid"/>
          </a:ln>
        </p:spPr>
      </p:sp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1055" y="748041"/>
            <a:ext cx="292595" cy="2914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3405" y="380365"/>
            <a:ext cx="10393680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5.1.2 </a:t>
            </a:r>
            <a:r>
              <a:rPr lang="zh-CN" altLang="en-US" sz="20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小学</a:t>
            </a:r>
            <a:r>
              <a:rPr lang="en-US" sz="20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组——</a:t>
            </a:r>
            <a:r>
              <a:rPr lang="zh-CN" altLang="en-US" sz="20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防诈电话模拟器</a:t>
            </a: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</a:t>
            </a:r>
            <a:endParaRPr lang="en-US" sz="1600" dirty="0"/>
          </a:p>
        </p:txBody>
      </p:sp>
      <p:sp>
        <p:nvSpPr>
          <p:cNvPr id="14" name="Text 4"/>
          <p:cNvSpPr/>
          <p:nvPr/>
        </p:nvSpPr>
        <p:spPr>
          <a:xfrm>
            <a:off x="573405" y="946150"/>
            <a:ext cx="11049635" cy="5708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ctr">
              <a:lnSpc>
                <a:spcPct val="120000"/>
              </a:lnSpc>
              <a:buNone/>
            </a:pPr>
            <a:r>
              <a:rPr lang="en-US" altLang="zh-CN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Visual Studio Code (VS Code)</a:t>
            </a:r>
            <a:endParaRPr lang="en-US" altLang="zh-CN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pic>
        <p:nvPicPr>
          <p:cNvPr id="16" name="图片 15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298575" y="2032000"/>
            <a:ext cx="2165350" cy="133858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3820" y="3862070"/>
            <a:ext cx="4458970" cy="2642235"/>
          </a:xfrm>
          <a:prstGeom prst="rect">
            <a:avLst/>
          </a:prstGeom>
        </p:spPr>
      </p:pic>
      <p:sp>
        <p:nvSpPr>
          <p:cNvPr id="20" name="Text 1"/>
          <p:cNvSpPr/>
          <p:nvPr>
            <p:custDataLst>
              <p:tags r:id="rId7"/>
            </p:custDataLst>
          </p:nvPr>
        </p:nvSpPr>
        <p:spPr>
          <a:xfrm>
            <a:off x="4810760" y="1812290"/>
            <a:ext cx="6985635" cy="478980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p>
            <a:pPr marL="0" indent="0" algn="l">
              <a:lnSpc>
                <a:spcPct val="140000"/>
              </a:lnSpc>
              <a:buNone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轻量级但强大：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微软开发的免费、开源、跨平台（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Win/Mac/Linux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）代码编辑器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核心优势：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 algn="l">
              <a:lnSpc>
                <a:spcPct val="140000"/>
              </a:lnSpc>
              <a:buNone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智能感知：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代码自动补全、语法高亮、错误提示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(IntelliSense)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 algn="l">
              <a:lnSpc>
                <a:spcPct val="140000"/>
              </a:lnSpc>
              <a:buNone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海量扩展：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通过插件市场安装各种工具（语言支持、调试器、主题等）。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 algn="l">
              <a:lnSpc>
                <a:spcPct val="140000"/>
              </a:lnSpc>
              <a:buNone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内置终端：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直接在编辑器里运行命令。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 algn="l">
              <a:lnSpc>
                <a:spcPct val="140000"/>
              </a:lnSpc>
              <a:buNone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集成调试：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方便地设置断点、检查变量。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 algn="l">
              <a:lnSpc>
                <a:spcPct val="140000"/>
              </a:lnSpc>
              <a:buNone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版本控制集成：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内置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支持，方便管理代码变更。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适用场景：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几乎适用于所有编程语言（尤其前端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开发如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JavaScript/HTML/CSS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的绝佳选择）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 cstate="screen"/>
          <a:stretch>
            <a:fillRect/>
          </a:stretch>
        </p:blipFill>
        <p:spPr>
          <a:xfrm>
            <a:off x="8637756" y="5892431"/>
            <a:ext cx="3200399" cy="106680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 flipV="1">
            <a:off x="668655" y="817245"/>
            <a:ext cx="3874135" cy="10160"/>
          </a:xfrm>
          <a:prstGeom prst="line">
            <a:avLst/>
          </a:prstGeom>
          <a:ln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17"/>
          <p:cNvSpPr/>
          <p:nvPr/>
        </p:nvSpPr>
        <p:spPr>
          <a:xfrm>
            <a:off x="4704080" y="1561465"/>
            <a:ext cx="7198360" cy="5135880"/>
          </a:xfrm>
          <a:prstGeom prst="roundRect">
            <a:avLst>
              <a:gd name="adj" fmla="val 7677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97B8F4"/>
                </a:gs>
                <a:gs pos="100000">
                  <a:srgbClr val="5289ED"/>
                </a:gs>
              </a:gsLst>
              <a:lin ang="2700000" scaled="1"/>
            </a:gradFill>
            <a:prstDash val="solid"/>
          </a:ln>
        </p:spPr>
      </p:sp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4360" y="380365"/>
            <a:ext cx="1037272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5.1.2 </a:t>
            </a:r>
            <a:r>
              <a:rPr lang="zh-CN" altLang="en-US" sz="20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小学</a:t>
            </a:r>
            <a:r>
              <a:rPr lang="en-US" sz="20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组——</a:t>
            </a:r>
            <a:r>
              <a:rPr lang="zh-CN" altLang="en-US" sz="20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防诈电话模拟器</a:t>
            </a: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</a:t>
            </a:r>
            <a:endParaRPr lang="en-US" sz="1600" dirty="0"/>
          </a:p>
        </p:txBody>
      </p:sp>
      <p:sp>
        <p:nvSpPr>
          <p:cNvPr id="14" name="Text 4"/>
          <p:cNvSpPr/>
          <p:nvPr/>
        </p:nvSpPr>
        <p:spPr>
          <a:xfrm>
            <a:off x="574040" y="876300"/>
            <a:ext cx="11049635" cy="5708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ctr">
              <a:lnSpc>
                <a:spcPct val="120000"/>
              </a:lnSpc>
              <a:buNone/>
            </a:pPr>
            <a:r>
              <a:rPr lang="en-US" altLang="zh-CN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  <a:sym typeface="+mn-ea"/>
              </a:rPr>
              <a:t>JavaScript</a:t>
            </a:r>
            <a:endParaRPr lang="en-US" altLang="zh-CN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0" name="Text 1"/>
          <p:cNvSpPr/>
          <p:nvPr>
            <p:custDataLst>
              <p:tags r:id="rId3"/>
            </p:custDataLst>
          </p:nvPr>
        </p:nvSpPr>
        <p:spPr>
          <a:xfrm>
            <a:off x="4810760" y="1506855"/>
            <a:ext cx="6985635" cy="478980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p>
            <a:pPr marL="0" indent="0" algn="l">
              <a:lnSpc>
                <a:spcPct val="140000"/>
              </a:lnSpc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定位：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主要用于网页交互性的脚本编程语言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核心特性：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 algn="l">
              <a:lnSpc>
                <a:spcPct val="140000"/>
              </a:lnSpc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运行环境：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主要在浏览器中执行（如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Chrome, Firefox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），也可在服务器端（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Node.js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）或桌面端运行。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 algn="l">
              <a:lnSpc>
                <a:spcPct val="140000"/>
              </a:lnSpc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作用：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让网页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动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起来！处理用户点击、输入、动画、数据更新等。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 algn="l">
              <a:lnSpc>
                <a:spcPct val="140000"/>
              </a:lnSpc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与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HTML/CSS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关系：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网页的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骨架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”(HTML) + “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样式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”(CSS) + “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行为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”(JavaScript)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 algn="l">
              <a:lnSpc>
                <a:spcPct val="140000"/>
              </a:lnSpc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动态类型：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变量类型灵活（无需提前声明类型）。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 algn="l">
              <a:lnSpc>
                <a:spcPct val="140000"/>
              </a:lnSpc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事件驱动：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响应用户或系统发生的事件（如点击按钮、页面加载完成）。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 algn="l">
              <a:lnSpc>
                <a:spcPct val="140000"/>
              </a:lnSpc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异步编程：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擅长处理耗时操作（如网络请求）而不阻塞页面。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基础用途举例：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表单验证（检查输入是否正确）、创建动态内容（如更新新闻列表）、操作网页元素（显示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隐藏、改变样式）、响应用户操作（点击、鼠标移动）、与服务器通信（获取或发送数据）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8" name="图片 7"/>
          <p:cNvPicPr/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263650" y="2336800"/>
            <a:ext cx="2472690" cy="1965325"/>
          </a:xfrm>
          <a:prstGeom prst="rect">
            <a:avLst/>
          </a:prstGeom>
        </p:spPr>
      </p:pic>
      <p:cxnSp>
        <p:nvCxnSpPr>
          <p:cNvPr id="9" name="直接连接符 8"/>
          <p:cNvCxnSpPr/>
          <p:nvPr/>
        </p:nvCxnSpPr>
        <p:spPr>
          <a:xfrm flipV="1">
            <a:off x="680085" y="876300"/>
            <a:ext cx="3818255" cy="14605"/>
          </a:xfrm>
          <a:prstGeom prst="line">
            <a:avLst/>
          </a:prstGeom>
          <a:ln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185" t="13452" r="6989" b="11434"/>
          <a:stretch>
            <a:fillRect/>
          </a:stretch>
        </p:blipFill>
        <p:spPr>
          <a:xfrm>
            <a:off x="-4445" y="0"/>
            <a:ext cx="12219940" cy="68999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8485" y="380365"/>
            <a:ext cx="10388600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5.1.2 </a:t>
            </a:r>
            <a:r>
              <a:rPr lang="zh-CN" altLang="en-US" sz="20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小学</a:t>
            </a:r>
            <a:r>
              <a:rPr lang="en-US" sz="20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组——</a:t>
            </a:r>
            <a:r>
              <a:rPr lang="zh-CN" altLang="en-US" sz="20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防诈电话模拟器</a:t>
            </a: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</a:t>
            </a:r>
            <a:endParaRPr lang="en-US" sz="1600" dirty="0"/>
          </a:p>
        </p:txBody>
      </p:sp>
      <p:sp>
        <p:nvSpPr>
          <p:cNvPr id="14" name="Text 4"/>
          <p:cNvSpPr/>
          <p:nvPr/>
        </p:nvSpPr>
        <p:spPr>
          <a:xfrm>
            <a:off x="574040" y="830580"/>
            <a:ext cx="11049635" cy="5708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ctr">
              <a:lnSpc>
                <a:spcPct val="120000"/>
              </a:lnSpc>
              <a:buNone/>
            </a:pPr>
            <a:r>
              <a:rPr lang="zh-CN" altLang="en-US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  <a:sym typeface="+mn-ea"/>
              </a:rPr>
              <a:t>最终界面</a:t>
            </a:r>
            <a:r>
              <a:rPr lang="zh-CN" altLang="en-US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  <a:sym typeface="+mn-ea"/>
              </a:rPr>
              <a:t>展示</a:t>
            </a: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040" y="1329055"/>
            <a:ext cx="4437380" cy="129794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040" y="2840990"/>
            <a:ext cx="4455795" cy="201485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040" y="5069840"/>
            <a:ext cx="4431030" cy="172021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7065" y="1932305"/>
            <a:ext cx="5574030" cy="437515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 flipV="1">
            <a:off x="680085" y="830580"/>
            <a:ext cx="3983990" cy="24765"/>
          </a:xfrm>
          <a:prstGeom prst="line">
            <a:avLst/>
          </a:prstGeom>
          <a:ln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E0FAFF">
                <a:alpha val="83000"/>
              </a:srgbClr>
            </a:gs>
            <a:gs pos="100000">
              <a:srgbClr val="C2F5F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06-d0sht0k75iks832je9v0.png"/>
          <p:cNvPicPr>
            <a:picLocks noChangeAspect="1"/>
          </p:cNvPicPr>
          <p:nvPr/>
        </p:nvPicPr>
        <p:blipFill>
          <a:blip r:embed="rId1"/>
          <a:srcRect l="5876" t="9906"/>
          <a:stretch>
            <a:fillRect/>
          </a:stretch>
        </p:blipFill>
        <p:spPr>
          <a:xfrm>
            <a:off x="8255" y="-36830"/>
            <a:ext cx="11229340" cy="63468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659130"/>
            <a:ext cx="6096000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5.2 </a:t>
            </a:r>
            <a:r>
              <a:rPr lang="zh-CN" alt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案例展示</a:t>
            </a:r>
            <a:r>
              <a:rPr lang="en-US" altLang="zh-CN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--</a:t>
            </a:r>
            <a:r>
              <a:rPr lang="zh-CN" alt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初中</a:t>
            </a: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</a:t>
            </a:r>
            <a:endParaRPr lang="en-US" sz="28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745105" y="2883535"/>
            <a:ext cx="6702425" cy="8299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4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维吉尼亚密码</a:t>
            </a:r>
            <a:r>
              <a:rPr lang="zh-CN" altLang="en-US" sz="4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工具</a:t>
            </a:r>
            <a:endParaRPr lang="zh-CN" altLang="en-US" sz="48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pic>
        <p:nvPicPr>
          <p:cNvPr id="5" name="Image 1" descr="https://test-kimi-img.moonshot.cn/pub/slides/slides_tmpl/image/25-05-30-10:57:06-d0sht0k75iks832je9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610995" y="509270"/>
            <a:ext cx="86398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5-30-10:56:46-d0shsrk75iks832je9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5-30-10:56:51-d0shsss75iks832je9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7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7266305" y="4916805"/>
            <a:ext cx="35102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by-</a:t>
            </a:r>
            <a:r>
              <a:rPr lang="zh-CN" altLang="en-US"/>
              <a:t>史上最伟大的库洛洛团长大人</a:t>
            </a:r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32460" y="380365"/>
            <a:ext cx="1033462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5.2.1 </a:t>
            </a:r>
            <a:r>
              <a:rPr lang="en-US" sz="20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初中组——</a:t>
            </a:r>
            <a:r>
              <a:rPr lang="en-US" sz="20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维吉尼亚密码工具</a:t>
            </a:r>
            <a:endParaRPr lang="en-US" sz="2000" b="1" dirty="0">
              <a:solidFill>
                <a:srgbClr val="0000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16000" y="1473200"/>
            <a:ext cx="334361" cy="335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8827621" y="5950216"/>
            <a:ext cx="3200399" cy="1066800"/>
          </a:xfrm>
          <a:prstGeom prst="rect">
            <a:avLst/>
          </a:prstGeom>
        </p:spPr>
      </p:pic>
      <p:pic>
        <p:nvPicPr>
          <p:cNvPr id="43" name="图片 42"/>
          <p:cNvPicPr/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61060" y="1407160"/>
            <a:ext cx="4941570" cy="5441950"/>
          </a:xfrm>
          <a:prstGeom prst="rect">
            <a:avLst/>
          </a:prstGeom>
        </p:spPr>
      </p:pic>
      <p:sp>
        <p:nvSpPr>
          <p:cNvPr id="44" name="TextBox 28"/>
          <p:cNvSpPr txBox="1"/>
          <p:nvPr>
            <p:custDataLst>
              <p:tags r:id="rId6"/>
            </p:custDataLst>
          </p:nvPr>
        </p:nvSpPr>
        <p:spPr>
          <a:xfrm>
            <a:off x="6189266" y="1288432"/>
            <a:ext cx="3679000" cy="59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>
              <a:lnSpc>
                <a:spcPts val="4640"/>
              </a:lnSpc>
            </a:pPr>
            <a:r>
              <a:rPr lang="zh-CN" altLang="en-US" sz="2400" b="1" dirty="0">
                <a:solidFill>
                  <a:srgbClr val="65B7C7"/>
                </a:solidFill>
                <a:ea typeface="字由点字典黑 55J" panose="00020600040101010101" charset="-122"/>
              </a:rPr>
              <a:t>项目</a:t>
            </a:r>
            <a:r>
              <a:rPr lang="zh-CN" altLang="en-US" sz="2400" b="1" dirty="0">
                <a:solidFill>
                  <a:srgbClr val="65B7C7"/>
                </a:solidFill>
                <a:ea typeface="字由点字典黑 55J" panose="00020600040101010101" charset="-122"/>
              </a:rPr>
              <a:t>背景</a:t>
            </a:r>
            <a:endParaRPr lang="zh-CN" altLang="en-US" sz="2400" b="1" dirty="0">
              <a:solidFill>
                <a:srgbClr val="65B7C7"/>
              </a:solidFill>
              <a:ea typeface="字由点字典黑 55J" panose="00020600040101010101" charset="-122"/>
            </a:endParaRPr>
          </a:p>
        </p:txBody>
      </p:sp>
      <p:sp>
        <p:nvSpPr>
          <p:cNvPr id="45" name="TextBox 30"/>
          <p:cNvSpPr txBox="1"/>
          <p:nvPr>
            <p:custDataLst>
              <p:tags r:id="rId7"/>
            </p:custDataLst>
          </p:nvPr>
        </p:nvSpPr>
        <p:spPr>
          <a:xfrm>
            <a:off x="6189345" y="1783080"/>
            <a:ext cx="4922520" cy="15690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>
              <a:lnSpc>
                <a:spcPts val="3060"/>
              </a:lnSpc>
            </a:pP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古典密码学是密码学的基础，维吉尼亚密码是多表替换密码的典型代表。同时，</a:t>
            </a: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  <a:sym typeface="+mn-ea"/>
              </a:rPr>
              <a:t>维吉尼亚密码是</a:t>
            </a: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由法国密码学家布莱斯</a:t>
            </a:r>
            <a:r>
              <a:rPr lang="ja-JP" altLang="en-US" spc="44">
                <a:solidFill>
                  <a:srgbClr val="545454"/>
                </a:solidFill>
                <a:ea typeface="字由点字典黑 45J" panose="00020600040101010101" charset="-122"/>
              </a:rPr>
              <a:t>・</a:t>
            </a: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德</a:t>
            </a:r>
            <a:r>
              <a:rPr lang="ja-JP" altLang="en-US" spc="44">
                <a:solidFill>
                  <a:srgbClr val="545454"/>
                </a:solidFill>
                <a:ea typeface="字由点字典黑 45J" panose="00020600040101010101" charset="-122"/>
              </a:rPr>
              <a:t>・</a:t>
            </a: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维吉尼亚于</a:t>
            </a:r>
            <a:r>
              <a:rPr lang="en-US" altLang="zh-CN" spc="44">
                <a:solidFill>
                  <a:srgbClr val="545454"/>
                </a:solidFill>
                <a:ea typeface="字由点字典黑 45J" panose="00020600040101010101" charset="-122"/>
              </a:rPr>
              <a:t> 1586 </a:t>
            </a: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年发明。</a:t>
            </a:r>
            <a:endParaRPr lang="zh-CN" altLang="en-US" spc="44">
              <a:solidFill>
                <a:srgbClr val="545454"/>
              </a:solidFill>
              <a:ea typeface="字由点字典黑 45J" panose="00020600040101010101" charset="-122"/>
            </a:endParaRPr>
          </a:p>
        </p:txBody>
      </p:sp>
      <p:sp>
        <p:nvSpPr>
          <p:cNvPr id="46" name="TextBox 28"/>
          <p:cNvSpPr txBox="1"/>
          <p:nvPr>
            <p:custDataLst>
              <p:tags r:id="rId8"/>
            </p:custDataLst>
          </p:nvPr>
        </p:nvSpPr>
        <p:spPr>
          <a:xfrm>
            <a:off x="6189266" y="3289317"/>
            <a:ext cx="3679000" cy="59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>
              <a:lnSpc>
                <a:spcPts val="4640"/>
              </a:lnSpc>
            </a:pPr>
            <a:r>
              <a:rPr lang="zh-CN" altLang="en-US" sz="2400" b="1" dirty="0">
                <a:solidFill>
                  <a:srgbClr val="65B7C7"/>
                </a:solidFill>
                <a:ea typeface="字由点字典黑 55J" panose="00020600040101010101" charset="-122"/>
              </a:rPr>
              <a:t>算法原理</a:t>
            </a:r>
            <a:endParaRPr lang="zh-CN" altLang="en-US" sz="2400" b="1" dirty="0">
              <a:solidFill>
                <a:srgbClr val="65B7C7"/>
              </a:solidFill>
              <a:ea typeface="字由点字典黑 55J" panose="00020600040101010101" charset="-122"/>
            </a:endParaRPr>
          </a:p>
        </p:txBody>
      </p:sp>
      <p:sp>
        <p:nvSpPr>
          <p:cNvPr id="47" name="TextBox 30"/>
          <p:cNvSpPr txBox="1"/>
          <p:nvPr>
            <p:custDataLst>
              <p:tags r:id="rId9"/>
            </p:custDataLst>
          </p:nvPr>
        </p:nvSpPr>
        <p:spPr>
          <a:xfrm>
            <a:off x="6164501" y="4051546"/>
            <a:ext cx="7955436" cy="1176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marL="342900" indent="-342900">
              <a:lnSpc>
                <a:spcPts val="3060"/>
              </a:lnSpc>
              <a:buFont typeface="Arial" panose="020B0604020202020204" pitchFamily="34" charset="0"/>
              <a:buChar char="•"/>
            </a:pP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多表替换密码，相比凯撒密码更安全；</a:t>
            </a:r>
            <a:endParaRPr lang="zh-CN" altLang="en-US" spc="44">
              <a:solidFill>
                <a:srgbClr val="545454"/>
              </a:solidFill>
              <a:ea typeface="字由点字典黑 45J" panose="00020600040101010101" charset="-122"/>
            </a:endParaRPr>
          </a:p>
          <a:p>
            <a:pPr marL="342900" indent="-342900">
              <a:lnSpc>
                <a:spcPts val="3060"/>
              </a:lnSpc>
              <a:buFont typeface="Arial" panose="020B0604020202020204" pitchFamily="34" charset="0"/>
              <a:buChar char="•"/>
            </a:pP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加密公式：</a:t>
            </a:r>
            <a:r>
              <a:rPr lang="en-US" altLang="zh-CN" spc="44">
                <a:solidFill>
                  <a:srgbClr val="545454"/>
                </a:solidFill>
                <a:ea typeface="字由点字典黑 45J" panose="00020600040101010101" charset="-122"/>
              </a:rPr>
              <a:t>C</a:t>
            </a:r>
            <a:r>
              <a:rPr lang="en-US" altLang="en-US" spc="44">
                <a:solidFill>
                  <a:srgbClr val="545454"/>
                </a:solidFill>
                <a:ea typeface="字由点字典黑 45J" panose="00020600040101010101" charset="-122"/>
              </a:rPr>
              <a:t>ᵢ</a:t>
            </a:r>
            <a:r>
              <a:rPr lang="en-US" altLang="zh-CN" spc="44">
                <a:solidFill>
                  <a:srgbClr val="545454"/>
                </a:solidFill>
                <a:ea typeface="字由点字典黑 45J" panose="00020600040101010101" charset="-122"/>
              </a:rPr>
              <a:t> = (P</a:t>
            </a:r>
            <a:r>
              <a:rPr lang="en-US" altLang="en-US" spc="44">
                <a:solidFill>
                  <a:srgbClr val="545454"/>
                </a:solidFill>
                <a:ea typeface="字由点字典黑 45J" panose="00020600040101010101" charset="-122"/>
              </a:rPr>
              <a:t>ᵢ</a:t>
            </a:r>
            <a:r>
              <a:rPr lang="en-US" altLang="zh-CN" spc="44">
                <a:solidFill>
                  <a:srgbClr val="545454"/>
                </a:solidFill>
                <a:ea typeface="字由点字典黑 45J" panose="00020600040101010101" charset="-122"/>
              </a:rPr>
              <a:t> + K</a:t>
            </a:r>
            <a:r>
              <a:rPr lang="en-US" altLang="en-US" spc="44">
                <a:solidFill>
                  <a:srgbClr val="545454"/>
                </a:solidFill>
                <a:ea typeface="字由点字典黑 45J" panose="00020600040101010101" charset="-122"/>
              </a:rPr>
              <a:t>ᵢₘₒ</a:t>
            </a: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𝒹</a:t>
            </a:r>
            <a:r>
              <a:rPr lang="en-US" altLang="en-US" spc="44">
                <a:solidFill>
                  <a:srgbClr val="545454"/>
                </a:solidFill>
                <a:ea typeface="字由点字典黑 45J" panose="00020600040101010101" charset="-122"/>
              </a:rPr>
              <a:t>ₗₑₙ</a:t>
            </a:r>
            <a:r>
              <a:rPr lang="en-US" altLang="zh-CN" spc="44">
                <a:solidFill>
                  <a:srgbClr val="545454"/>
                </a:solidFill>
                <a:ea typeface="字由点字典黑 45J" panose="00020600040101010101" charset="-122"/>
              </a:rPr>
              <a:t>(K)) mod 26</a:t>
            </a: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；</a:t>
            </a:r>
            <a:endParaRPr lang="en-US" altLang="zh-CN" spc="44">
              <a:solidFill>
                <a:srgbClr val="545454"/>
              </a:solidFill>
              <a:ea typeface="字由点字典黑 45J" panose="00020600040101010101" charset="-122"/>
            </a:endParaRPr>
          </a:p>
          <a:p>
            <a:pPr marL="342900" indent="-342900">
              <a:lnSpc>
                <a:spcPts val="3060"/>
              </a:lnSpc>
              <a:buFont typeface="Arial" panose="020B0604020202020204" pitchFamily="34" charset="0"/>
              <a:buChar char="•"/>
            </a:pP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解密公式：</a:t>
            </a:r>
            <a:r>
              <a:rPr lang="en-US" altLang="zh-CN" spc="44">
                <a:solidFill>
                  <a:srgbClr val="545454"/>
                </a:solidFill>
                <a:ea typeface="字由点字典黑 45J" panose="00020600040101010101" charset="-122"/>
              </a:rPr>
              <a:t>P</a:t>
            </a:r>
            <a:r>
              <a:rPr lang="en-US" altLang="en-US" spc="44">
                <a:solidFill>
                  <a:srgbClr val="545454"/>
                </a:solidFill>
                <a:ea typeface="字由点字典黑 45J" panose="00020600040101010101" charset="-122"/>
              </a:rPr>
              <a:t>ᵢ</a:t>
            </a:r>
            <a:r>
              <a:rPr lang="en-US" altLang="zh-CN" spc="44">
                <a:solidFill>
                  <a:srgbClr val="545454"/>
                </a:solidFill>
                <a:ea typeface="字由点字典黑 45J" panose="00020600040101010101" charset="-122"/>
              </a:rPr>
              <a:t> = (C</a:t>
            </a:r>
            <a:r>
              <a:rPr lang="en-US" altLang="en-US" spc="44">
                <a:solidFill>
                  <a:srgbClr val="545454"/>
                </a:solidFill>
                <a:ea typeface="字由点字典黑 45J" panose="00020600040101010101" charset="-122"/>
              </a:rPr>
              <a:t>ᵢ</a:t>
            </a:r>
            <a:r>
              <a:rPr lang="en-US" altLang="zh-CN" spc="44">
                <a:solidFill>
                  <a:srgbClr val="545454"/>
                </a:solidFill>
                <a:ea typeface="字由点字典黑 45J" panose="00020600040101010101" charset="-122"/>
              </a:rPr>
              <a:t> - K</a:t>
            </a:r>
            <a:r>
              <a:rPr lang="en-US" altLang="en-US" spc="44">
                <a:solidFill>
                  <a:srgbClr val="545454"/>
                </a:solidFill>
                <a:ea typeface="字由点字典黑 45J" panose="00020600040101010101" charset="-122"/>
              </a:rPr>
              <a:t>ᵢₘₒ</a:t>
            </a: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𝒹</a:t>
            </a:r>
            <a:r>
              <a:rPr lang="en-US" altLang="en-US" spc="44">
                <a:solidFill>
                  <a:srgbClr val="545454"/>
                </a:solidFill>
                <a:ea typeface="字由点字典黑 45J" panose="00020600040101010101" charset="-122"/>
              </a:rPr>
              <a:t>ₗₑₙ</a:t>
            </a:r>
            <a:r>
              <a:rPr lang="en-US" altLang="zh-CN" spc="44">
                <a:solidFill>
                  <a:srgbClr val="545454"/>
                </a:solidFill>
                <a:ea typeface="字由点字典黑 45J" panose="00020600040101010101" charset="-122"/>
              </a:rPr>
              <a:t>(K)) mod 26</a:t>
            </a: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。</a:t>
            </a:r>
            <a:endParaRPr lang="zh-CN" altLang="en-US" spc="44">
              <a:solidFill>
                <a:srgbClr val="545454"/>
              </a:solidFill>
              <a:ea typeface="字由点字典黑 45J" panose="00020600040101010101" charset="-122"/>
            </a:endParaRPr>
          </a:p>
        </p:txBody>
      </p:sp>
      <p:sp>
        <p:nvSpPr>
          <p:cNvPr id="48" name="TextBox 28"/>
          <p:cNvSpPr txBox="1"/>
          <p:nvPr>
            <p:custDataLst>
              <p:tags r:id="rId10"/>
            </p:custDataLst>
          </p:nvPr>
        </p:nvSpPr>
        <p:spPr>
          <a:xfrm>
            <a:off x="6189266" y="5368942"/>
            <a:ext cx="3679000" cy="59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>
              <a:lnSpc>
                <a:spcPts val="4640"/>
              </a:lnSpc>
            </a:pPr>
            <a:r>
              <a:rPr lang="zh-CN" altLang="en-US" sz="2400" b="1" dirty="0">
                <a:solidFill>
                  <a:srgbClr val="65B7C7"/>
                </a:solidFill>
                <a:ea typeface="字由点字典黑 55J" panose="00020600040101010101" charset="-122"/>
              </a:rPr>
              <a:t>应用场景</a:t>
            </a:r>
            <a:endParaRPr lang="zh-CN" altLang="en-US" sz="2400" b="1" dirty="0">
              <a:solidFill>
                <a:srgbClr val="65B7C7"/>
              </a:solidFill>
              <a:ea typeface="字由点字典黑 55J" panose="00020600040101010101" charset="-122"/>
            </a:endParaRPr>
          </a:p>
        </p:txBody>
      </p:sp>
      <p:sp>
        <p:nvSpPr>
          <p:cNvPr id="49" name="TextBox 30"/>
          <p:cNvSpPr txBox="1"/>
          <p:nvPr>
            <p:custDataLst>
              <p:tags r:id="rId11"/>
            </p:custDataLst>
          </p:nvPr>
        </p:nvSpPr>
        <p:spPr>
          <a:xfrm>
            <a:off x="6147991" y="6030841"/>
            <a:ext cx="7955436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>
              <a:lnSpc>
                <a:spcPts val="3060"/>
              </a:lnSpc>
            </a:pP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历史上曾广泛用于军事和外交通信。</a:t>
            </a:r>
            <a:endParaRPr lang="zh-CN" altLang="en-US" spc="44">
              <a:solidFill>
                <a:srgbClr val="545454"/>
              </a:solidFill>
              <a:ea typeface="字由点字典黑 45J" panose="00020600040101010101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690245" y="817245"/>
            <a:ext cx="3833495" cy="65405"/>
          </a:xfrm>
          <a:prstGeom prst="line">
            <a:avLst/>
          </a:prstGeom>
          <a:ln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4660" y="380365"/>
            <a:ext cx="1051242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5.2.1 初中组——</a:t>
            </a:r>
            <a:r>
              <a:rPr lang="en-US" sz="20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维吉尼亚密码工具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16000" y="1473200"/>
            <a:ext cx="334361" cy="335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8827621" y="5950216"/>
            <a:ext cx="3200399" cy="10668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50215" y="1178560"/>
            <a:ext cx="6129020" cy="5113655"/>
          </a:xfrm>
          <a:prstGeom prst="rect">
            <a:avLst/>
          </a:prstGeom>
        </p:spPr>
      </p:pic>
      <p:sp>
        <p:nvSpPr>
          <p:cNvPr id="25" name="TextBox 22"/>
          <p:cNvSpPr txBox="1"/>
          <p:nvPr>
            <p:custDataLst>
              <p:tags r:id="rId6"/>
            </p:custDataLst>
          </p:nvPr>
        </p:nvSpPr>
        <p:spPr>
          <a:xfrm>
            <a:off x="7230842" y="1116732"/>
            <a:ext cx="3679000" cy="59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>
              <a:lnSpc>
                <a:spcPts val="4640"/>
              </a:lnSpc>
            </a:pPr>
            <a:r>
              <a:rPr lang="zh-CN" altLang="en-US" sz="2400" b="1" dirty="0">
                <a:solidFill>
                  <a:srgbClr val="65B7C7"/>
                </a:solidFill>
                <a:ea typeface="字由点字典黑 55J" panose="00020600040101010101" charset="-122"/>
              </a:rPr>
              <a:t>前端技术栈</a:t>
            </a:r>
            <a:endParaRPr lang="zh-CN" altLang="en-US" sz="2400" b="1" dirty="0">
              <a:solidFill>
                <a:srgbClr val="65B7C7"/>
              </a:solidFill>
              <a:ea typeface="字由点字典黑 55J" panose="00020600040101010101" charset="-122"/>
            </a:endParaRPr>
          </a:p>
        </p:txBody>
      </p:sp>
      <p:sp>
        <p:nvSpPr>
          <p:cNvPr id="26" name="TextBox 23"/>
          <p:cNvSpPr txBox="1"/>
          <p:nvPr>
            <p:custDataLst>
              <p:tags r:id="rId7"/>
            </p:custDataLst>
          </p:nvPr>
        </p:nvSpPr>
        <p:spPr>
          <a:xfrm>
            <a:off x="6976842" y="1808270"/>
            <a:ext cx="7252733" cy="156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marL="342900" indent="-342900">
              <a:lnSpc>
                <a:spcPts val="3060"/>
              </a:lnSpc>
              <a:buFont typeface="Arial" panose="020B0604020202020204" pitchFamily="34" charset="0"/>
              <a:buChar char="•"/>
            </a:pPr>
            <a:r>
              <a:rPr lang="en-US" altLang="zh-CN" spc="44">
                <a:solidFill>
                  <a:srgbClr val="545454"/>
                </a:solidFill>
                <a:ea typeface="字由点字典黑 45J" panose="00020600040101010101" charset="-122"/>
              </a:rPr>
              <a:t>HTML5 </a:t>
            </a: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语义化结构</a:t>
            </a:r>
            <a:endParaRPr lang="zh-CN" altLang="en-US" spc="44">
              <a:solidFill>
                <a:srgbClr val="545454"/>
              </a:solidFill>
              <a:ea typeface="字由点字典黑 45J" panose="00020600040101010101" charset="-122"/>
            </a:endParaRPr>
          </a:p>
          <a:p>
            <a:pPr marL="342900" indent="-342900">
              <a:lnSpc>
                <a:spcPts val="3060"/>
              </a:lnSpc>
              <a:buFont typeface="Arial" panose="020B0604020202020204" pitchFamily="34" charset="0"/>
              <a:buChar char="•"/>
            </a:pPr>
            <a:r>
              <a:rPr lang="en-US" altLang="zh-CN" spc="44">
                <a:solidFill>
                  <a:srgbClr val="545454"/>
                </a:solidFill>
                <a:ea typeface="字由点字典黑 45J" panose="00020600040101010101" charset="-122"/>
              </a:rPr>
              <a:t>Tailwind CSS </a:t>
            </a: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样式框架</a:t>
            </a:r>
            <a:endParaRPr lang="zh-CN" altLang="en-US" spc="44">
              <a:solidFill>
                <a:srgbClr val="545454"/>
              </a:solidFill>
              <a:ea typeface="字由点字典黑 45J" panose="00020600040101010101" charset="-122"/>
            </a:endParaRPr>
          </a:p>
          <a:p>
            <a:pPr marL="342900" indent="-342900">
              <a:lnSpc>
                <a:spcPts val="3060"/>
              </a:lnSpc>
              <a:buFont typeface="Arial" panose="020B0604020202020204" pitchFamily="34" charset="0"/>
              <a:buChar char="•"/>
            </a:pPr>
            <a:r>
              <a:rPr lang="en-US" altLang="zh-CN" spc="44">
                <a:solidFill>
                  <a:srgbClr val="545454"/>
                </a:solidFill>
                <a:ea typeface="字由点字典黑 45J" panose="00020600040101010101" charset="-122"/>
              </a:rPr>
              <a:t>JavaScript </a:t>
            </a: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逻辑实现</a:t>
            </a:r>
            <a:endParaRPr lang="zh-CN" altLang="en-US" spc="44">
              <a:solidFill>
                <a:srgbClr val="545454"/>
              </a:solidFill>
              <a:ea typeface="字由点字典黑 45J" panose="00020600040101010101" charset="-122"/>
            </a:endParaRPr>
          </a:p>
          <a:p>
            <a:pPr marL="342900" indent="-342900">
              <a:lnSpc>
                <a:spcPts val="3060"/>
              </a:lnSpc>
              <a:buFont typeface="Arial" panose="020B0604020202020204" pitchFamily="34" charset="0"/>
              <a:buChar char="•"/>
            </a:pPr>
            <a:r>
              <a:rPr lang="en-US" altLang="zh-CN" spc="44">
                <a:solidFill>
                  <a:srgbClr val="545454"/>
                </a:solidFill>
                <a:ea typeface="字由点字典黑 45J" panose="00020600040101010101" charset="-122"/>
              </a:rPr>
              <a:t>Font Awesome </a:t>
            </a: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图标库</a:t>
            </a:r>
            <a:endParaRPr lang="zh-CN" altLang="en-US" spc="44">
              <a:solidFill>
                <a:srgbClr val="545454"/>
              </a:solidFill>
              <a:ea typeface="字由点字典黑 45J" panose="00020600040101010101" charset="-122"/>
            </a:endParaRPr>
          </a:p>
        </p:txBody>
      </p:sp>
      <p:sp>
        <p:nvSpPr>
          <p:cNvPr id="27" name="TextBox 22"/>
          <p:cNvSpPr txBox="1"/>
          <p:nvPr>
            <p:custDataLst>
              <p:tags r:id="rId8"/>
            </p:custDataLst>
          </p:nvPr>
        </p:nvSpPr>
        <p:spPr>
          <a:xfrm>
            <a:off x="7230842" y="3932322"/>
            <a:ext cx="3679000" cy="59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>
              <a:lnSpc>
                <a:spcPts val="4640"/>
              </a:lnSpc>
            </a:pPr>
            <a:r>
              <a:rPr lang="zh-CN" altLang="en-US" sz="2400" b="1" dirty="0">
                <a:solidFill>
                  <a:srgbClr val="65B7C7"/>
                </a:solidFill>
                <a:ea typeface="字由点字典黑 55J" panose="00020600040101010101" charset="-122"/>
              </a:rPr>
              <a:t>核心算法</a:t>
            </a:r>
            <a:endParaRPr lang="zh-CN" altLang="en-US" sz="2400" b="1" dirty="0">
              <a:solidFill>
                <a:srgbClr val="65B7C7"/>
              </a:solidFill>
              <a:ea typeface="字由点字典黑 55J" panose="00020600040101010101" charset="-122"/>
            </a:endParaRPr>
          </a:p>
        </p:txBody>
      </p:sp>
      <p:sp>
        <p:nvSpPr>
          <p:cNvPr id="28" name="TextBox 23"/>
          <p:cNvSpPr txBox="1"/>
          <p:nvPr>
            <p:custDataLst>
              <p:tags r:id="rId9"/>
            </p:custDataLst>
          </p:nvPr>
        </p:nvSpPr>
        <p:spPr>
          <a:xfrm>
            <a:off x="6976842" y="4880400"/>
            <a:ext cx="7252733" cy="156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marL="342900" indent="-342900">
              <a:lnSpc>
                <a:spcPts val="3060"/>
              </a:lnSpc>
              <a:buFont typeface="Arial" panose="020B0604020202020204" pitchFamily="34" charset="0"/>
              <a:buChar char="•"/>
            </a:pP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字符编码转换（</a:t>
            </a:r>
            <a:r>
              <a:rPr lang="en-US" altLang="zh-CN" spc="44">
                <a:solidFill>
                  <a:srgbClr val="545454"/>
                </a:solidFill>
                <a:ea typeface="字由点字典黑 45J" panose="00020600040101010101" charset="-122"/>
              </a:rPr>
              <a:t>A-Z </a:t>
            </a:r>
            <a:r>
              <a:rPr lang="en-US" altLang="en-US" spc="44">
                <a:solidFill>
                  <a:srgbClr val="545454"/>
                </a:solidFill>
                <a:ea typeface="字由点字典黑 45J" panose="00020600040101010101" charset="-122"/>
              </a:rPr>
              <a:t>↔</a:t>
            </a:r>
            <a:r>
              <a:rPr lang="en-US" altLang="zh-CN" spc="44">
                <a:solidFill>
                  <a:srgbClr val="545454"/>
                </a:solidFill>
                <a:ea typeface="字由点字典黑 45J" panose="00020600040101010101" charset="-122"/>
              </a:rPr>
              <a:t> 0-25</a:t>
            </a: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）</a:t>
            </a:r>
            <a:endParaRPr lang="zh-CN" altLang="en-US" spc="44">
              <a:solidFill>
                <a:srgbClr val="545454"/>
              </a:solidFill>
              <a:ea typeface="字由点字典黑 45J" panose="00020600040101010101" charset="-122"/>
            </a:endParaRPr>
          </a:p>
          <a:p>
            <a:pPr marL="342900" indent="-342900">
              <a:lnSpc>
                <a:spcPts val="3060"/>
              </a:lnSpc>
              <a:buFont typeface="Arial" panose="020B0604020202020204" pitchFamily="34" charset="0"/>
              <a:buChar char="•"/>
            </a:pP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密钥循环匹配机制</a:t>
            </a:r>
            <a:endParaRPr lang="zh-CN" altLang="en-US" spc="44">
              <a:solidFill>
                <a:srgbClr val="545454"/>
              </a:solidFill>
              <a:ea typeface="字由点字典黑 45J" panose="00020600040101010101" charset="-122"/>
            </a:endParaRPr>
          </a:p>
          <a:p>
            <a:pPr marL="342900" indent="-342900">
              <a:lnSpc>
                <a:spcPts val="3060"/>
              </a:lnSpc>
              <a:buFont typeface="Arial" panose="020B0604020202020204" pitchFamily="34" charset="0"/>
              <a:buChar char="•"/>
            </a:pP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模</a:t>
            </a:r>
            <a:r>
              <a:rPr lang="en-US" altLang="zh-CN" spc="44">
                <a:solidFill>
                  <a:srgbClr val="545454"/>
                </a:solidFill>
                <a:ea typeface="字由点字典黑 45J" panose="00020600040101010101" charset="-122"/>
              </a:rPr>
              <a:t>26</a:t>
            </a: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运算实现</a:t>
            </a:r>
            <a:endParaRPr lang="zh-CN" altLang="en-US" spc="44">
              <a:solidFill>
                <a:srgbClr val="545454"/>
              </a:solidFill>
              <a:ea typeface="字由点字典黑 45J" panose="00020600040101010101" charset="-122"/>
            </a:endParaRPr>
          </a:p>
          <a:p>
            <a:pPr marL="342900" indent="-342900">
              <a:lnSpc>
                <a:spcPts val="3060"/>
              </a:lnSpc>
              <a:buFont typeface="Arial" panose="020B0604020202020204" pitchFamily="34" charset="0"/>
              <a:buChar char="•"/>
            </a:pPr>
            <a:r>
              <a:rPr lang="zh-CN" altLang="en-US" spc="44">
                <a:solidFill>
                  <a:srgbClr val="545454"/>
                </a:solidFill>
                <a:ea typeface="字由点字典黑 45J" panose="00020600040101010101" charset="-122"/>
              </a:rPr>
              <a:t>历史记录管理</a:t>
            </a:r>
            <a:endParaRPr lang="zh-CN" altLang="en-US" spc="44">
              <a:solidFill>
                <a:srgbClr val="545454"/>
              </a:solidFill>
              <a:ea typeface="字由点字典黑 45J" panose="00020600040101010101" charset="-122"/>
            </a:endParaRPr>
          </a:p>
        </p:txBody>
      </p:sp>
      <p:sp>
        <p:nvSpPr>
          <p:cNvPr id="29" name="Text 9"/>
          <p:cNvSpPr/>
          <p:nvPr/>
        </p:nvSpPr>
        <p:spPr>
          <a:xfrm>
            <a:off x="6976745" y="758190"/>
            <a:ext cx="675386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just">
              <a:lnSpc>
                <a:spcPct val="100000"/>
              </a:lnSpc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技术实现</a:t>
            </a:r>
            <a:r>
              <a:rPr lang="zh-CN" altLang="en-US" sz="2400" b="1" dirty="0">
                <a:solidFill>
                  <a:schemeClr val="accent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细节</a:t>
            </a:r>
            <a:endParaRPr lang="zh-CN" altLang="en-US" sz="2400" b="1" dirty="0">
              <a:solidFill>
                <a:schemeClr val="accent2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559435" y="817245"/>
            <a:ext cx="4166235" cy="32385"/>
          </a:xfrm>
          <a:prstGeom prst="line">
            <a:avLst/>
          </a:prstGeom>
          <a:ln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185" t="13452" r="6989" b="11434"/>
          <a:stretch>
            <a:fillRect/>
          </a:stretch>
        </p:blipFill>
        <p:spPr>
          <a:xfrm>
            <a:off x="0" y="-41910"/>
            <a:ext cx="12219940" cy="68999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42" name="图片 4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screen"/>
          <a:stretch>
            <a:fillRect/>
          </a:stretch>
        </p:blipFill>
        <p:spPr>
          <a:xfrm>
            <a:off x="8827621" y="5950216"/>
            <a:ext cx="3200399" cy="10668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94360" y="1039495"/>
            <a:ext cx="10309225" cy="473265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894445" y="730250"/>
            <a:ext cx="140525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sz="2400" b="1" dirty="0">
                <a:solidFill>
                  <a:schemeClr val="accent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界面</a:t>
            </a:r>
            <a:r>
              <a:rPr lang="zh-CN" altLang="en-US" sz="2400" b="1" dirty="0">
                <a:solidFill>
                  <a:schemeClr val="accent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说明</a:t>
            </a:r>
            <a:endParaRPr lang="zh-CN" altLang="en-US" sz="2400" b="1" dirty="0">
              <a:solidFill>
                <a:schemeClr val="accent2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723900" y="817245"/>
            <a:ext cx="4112895" cy="43180"/>
          </a:xfrm>
          <a:prstGeom prst="line">
            <a:avLst/>
          </a:prstGeom>
          <a:ln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Text 4"/>
          <p:cNvSpPr/>
          <p:nvPr/>
        </p:nvSpPr>
        <p:spPr>
          <a:xfrm>
            <a:off x="621030" y="380365"/>
            <a:ext cx="1034605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5.2.1 初中组——维吉尼亚密码工具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185" t="13452" r="6989" b="11434"/>
          <a:stretch>
            <a:fillRect/>
          </a:stretch>
        </p:blipFill>
        <p:spPr>
          <a:xfrm>
            <a:off x="-27940" y="0"/>
            <a:ext cx="12219940" cy="68999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7985" y="380365"/>
            <a:ext cx="1057910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5.2.1 初中组——维吉尼亚密码工具</a:t>
            </a:r>
            <a:endParaRPr lang="en-US" sz="2000" dirty="0"/>
          </a:p>
        </p:txBody>
      </p:sp>
      <p:pic>
        <p:nvPicPr>
          <p:cNvPr id="42" name="图片 4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screen"/>
          <a:stretch>
            <a:fillRect/>
          </a:stretch>
        </p:blipFill>
        <p:spPr>
          <a:xfrm>
            <a:off x="8827621" y="5950216"/>
            <a:ext cx="3200399" cy="10668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8745" y="1059815"/>
            <a:ext cx="6340475" cy="587502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423660" y="1527810"/>
            <a:ext cx="7028180" cy="537210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449580" y="743585"/>
            <a:ext cx="4196715" cy="0"/>
          </a:xfrm>
          <a:prstGeom prst="line">
            <a:avLst/>
          </a:prstGeom>
          <a:ln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8805" y="380365"/>
            <a:ext cx="1036828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5.2.1 初中组——维吉尼亚密码工具</a:t>
            </a:r>
            <a:endParaRPr lang="en-US" sz="2000" dirty="0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53035" y="1049020"/>
            <a:ext cx="10138410" cy="5426710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screen"/>
          <a:stretch>
            <a:fillRect/>
          </a:stretch>
        </p:blipFill>
        <p:spPr>
          <a:xfrm>
            <a:off x="8827621" y="5950216"/>
            <a:ext cx="3200399" cy="1066800"/>
          </a:xfrm>
          <a:prstGeom prst="rect">
            <a:avLst/>
          </a:prstGeom>
        </p:spPr>
      </p:pic>
      <p:cxnSp>
        <p:nvCxnSpPr>
          <p:cNvPr id="2" name="直接连接符 1"/>
          <p:cNvCxnSpPr/>
          <p:nvPr/>
        </p:nvCxnSpPr>
        <p:spPr>
          <a:xfrm flipV="1">
            <a:off x="647065" y="817245"/>
            <a:ext cx="4147185" cy="43180"/>
          </a:xfrm>
          <a:prstGeom prst="line">
            <a:avLst/>
          </a:prstGeom>
          <a:ln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3415" y="380365"/>
            <a:ext cx="1031367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5.2.1 初中组——维吉尼亚密码工具</a:t>
            </a:r>
            <a:endParaRPr lang="en-US" sz="2000" dirty="0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65430" y="1443990"/>
            <a:ext cx="9784080" cy="5196205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screen"/>
          <a:stretch>
            <a:fillRect/>
          </a:stretch>
        </p:blipFill>
        <p:spPr>
          <a:xfrm>
            <a:off x="8827621" y="5950216"/>
            <a:ext cx="3200399" cy="106680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 flipV="1">
            <a:off x="713105" y="817245"/>
            <a:ext cx="4212590" cy="32385"/>
          </a:xfrm>
          <a:prstGeom prst="line">
            <a:avLst/>
          </a:prstGeom>
          <a:ln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E0FAFF">
                <a:alpha val="83000"/>
              </a:srgbClr>
            </a:gs>
            <a:gs pos="100000">
              <a:srgbClr val="C2F5F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06-d0sht0k75iks832je9v0.png"/>
          <p:cNvPicPr>
            <a:picLocks noChangeAspect="1"/>
          </p:cNvPicPr>
          <p:nvPr/>
        </p:nvPicPr>
        <p:blipFill>
          <a:blip r:embed="rId1"/>
          <a:srcRect l="5876" t="9906"/>
          <a:stretch>
            <a:fillRect/>
          </a:stretch>
        </p:blipFill>
        <p:spPr>
          <a:xfrm>
            <a:off x="8255" y="-36830"/>
            <a:ext cx="11229340" cy="63468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659130"/>
            <a:ext cx="6096000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5.2 </a:t>
            </a:r>
            <a:r>
              <a:rPr lang="zh-CN" alt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案例展示</a:t>
            </a:r>
            <a:r>
              <a:rPr lang="en-US" altLang="zh-CN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--</a:t>
            </a:r>
            <a:r>
              <a:rPr lang="zh-CN" alt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初中</a:t>
            </a: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</a:t>
            </a:r>
            <a:endParaRPr lang="en-US" sz="28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745105" y="2172335"/>
            <a:ext cx="6702425" cy="1568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数学与密码：</a:t>
            </a:r>
            <a:endParaRPr lang="en-US" sz="48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矩阵密码转换器</a:t>
            </a:r>
            <a:endParaRPr lang="zh-CN" altLang="en-US" sz="48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pic>
        <p:nvPicPr>
          <p:cNvPr id="5" name="Image 1" descr="https://test-kimi-img.moonshot.cn/pub/slides/slides_tmpl/image/25-05-30-10:57:06-d0sht0k75iks832je9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610995" y="509270"/>
            <a:ext cx="86398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5-30-10:56:46-d0shsrk75iks832je9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5-30-10:56:51-d0shsss75iks832je9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7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7266305" y="4916805"/>
            <a:ext cx="2555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by-</a:t>
            </a:r>
            <a:r>
              <a:rPr lang="zh-CN" altLang="en-US"/>
              <a:t>菠萝吹雪大菠萝</a:t>
            </a:r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55625" y="380365"/>
            <a:ext cx="10411460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5.2.2 初中组——</a:t>
            </a:r>
            <a:r>
              <a:rPr lang="en-US" sz="2000" b="1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数学与密码：矩阵密码转换器</a:t>
            </a: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16000" y="1473200"/>
            <a:ext cx="334361" cy="335280"/>
          </a:xfrm>
          <a:prstGeom prst="chevron">
            <a:avLst/>
          </a:prstGeom>
          <a:solidFill>
            <a:srgbClr val="5289ED"/>
          </a:solidFill>
        </p:spPr>
      </p:sp>
      <p:sp>
        <p:nvSpPr>
          <p:cNvPr id="9" name="Text 6"/>
          <p:cNvSpPr/>
          <p:nvPr/>
        </p:nvSpPr>
        <p:spPr>
          <a:xfrm>
            <a:off x="1016000" y="1473200"/>
            <a:ext cx="334361" cy="335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342674" y="1473200"/>
            <a:ext cx="334361" cy="335280"/>
          </a:xfrm>
          <a:prstGeom prst="chevron">
            <a:avLst/>
          </a:prstGeom>
          <a:solidFill>
            <a:srgbClr val="5289ED"/>
          </a:solidFill>
        </p:spPr>
      </p:sp>
      <p:sp>
        <p:nvSpPr>
          <p:cNvPr id="11" name="Text 8"/>
          <p:cNvSpPr/>
          <p:nvPr/>
        </p:nvSpPr>
        <p:spPr>
          <a:xfrm>
            <a:off x="1342674" y="1473200"/>
            <a:ext cx="334361" cy="335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16000" y="1868170"/>
            <a:ext cx="9794240" cy="11703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位字符（数字、大小写字母）的编码解码功能，包含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en-US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矩阵构建、行列转置操作、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ASCII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值加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1/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转换（含边界循环处理），并同步展示原始矩阵、转置矩阵、转换后矩阵的动态变化过程，附详细规则说明与示例演示。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 6"/>
          <p:cNvSpPr/>
          <p:nvPr/>
        </p:nvSpPr>
        <p:spPr>
          <a:xfrm>
            <a:off x="1086485" y="3157855"/>
            <a:ext cx="3119120" cy="33902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9" name="Text 8"/>
          <p:cNvSpPr/>
          <p:nvPr>
            <p:custDataLst>
              <p:tags r:id="rId3"/>
            </p:custDataLst>
          </p:nvPr>
        </p:nvSpPr>
        <p:spPr>
          <a:xfrm>
            <a:off x="1032510" y="3867150"/>
            <a:ext cx="9777730" cy="4851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60000"/>
              </a:lnSpc>
              <a:buNone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通过可视化的方式展示一个基于矩阵操作和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ASCII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转换的密码编码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解码算法，帮助大家理解什么是密码转换</a:t>
            </a:r>
            <a:endParaRPr 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 11"/>
          <p:cNvSpPr/>
          <p:nvPr/>
        </p:nvSpPr>
        <p:spPr>
          <a:xfrm>
            <a:off x="4500880" y="2353945"/>
            <a:ext cx="3119120" cy="4194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8" name="Text 16"/>
          <p:cNvSpPr/>
          <p:nvPr/>
        </p:nvSpPr>
        <p:spPr>
          <a:xfrm>
            <a:off x="7915275" y="3098165"/>
            <a:ext cx="3119120" cy="346900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文本框 13"/>
          <p:cNvSpPr txBox="1"/>
          <p:nvPr/>
        </p:nvSpPr>
        <p:spPr>
          <a:xfrm>
            <a:off x="1824990" y="1428750"/>
            <a:ext cx="33807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作品内容</a:t>
            </a:r>
            <a:endParaRPr lang="zh-CN" altLang="en-US" sz="2000"/>
          </a:p>
        </p:txBody>
      </p:sp>
      <p:sp>
        <p:nvSpPr>
          <p:cNvPr id="51" name="Shape 5"/>
          <p:cNvSpPr/>
          <p:nvPr/>
        </p:nvSpPr>
        <p:spPr>
          <a:xfrm>
            <a:off x="1086485" y="3157855"/>
            <a:ext cx="334361" cy="335280"/>
          </a:xfrm>
          <a:prstGeom prst="chevron">
            <a:avLst/>
          </a:prstGeom>
          <a:solidFill>
            <a:srgbClr val="5289ED"/>
          </a:solidFill>
        </p:spPr>
      </p:sp>
      <p:sp>
        <p:nvSpPr>
          <p:cNvPr id="52" name="Shape 5"/>
          <p:cNvSpPr/>
          <p:nvPr/>
        </p:nvSpPr>
        <p:spPr>
          <a:xfrm>
            <a:off x="1421130" y="3157855"/>
            <a:ext cx="334361" cy="335280"/>
          </a:xfrm>
          <a:prstGeom prst="chevron">
            <a:avLst/>
          </a:prstGeom>
          <a:solidFill>
            <a:srgbClr val="5289ED"/>
          </a:solidFill>
        </p:spPr>
      </p:sp>
      <p:sp>
        <p:nvSpPr>
          <p:cNvPr id="53" name="文本框 52"/>
          <p:cNvSpPr txBox="1"/>
          <p:nvPr/>
        </p:nvSpPr>
        <p:spPr>
          <a:xfrm>
            <a:off x="1951990" y="3157855"/>
            <a:ext cx="33807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作品</a:t>
            </a:r>
            <a:r>
              <a:rPr lang="zh-CN" alt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目的</a:t>
            </a:r>
            <a:endParaRPr lang="zh-CN" altLang="en-US" sz="20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cxnSp>
        <p:nvCxnSpPr>
          <p:cNvPr id="54" name="直接连接符 53"/>
          <p:cNvCxnSpPr/>
          <p:nvPr/>
        </p:nvCxnSpPr>
        <p:spPr>
          <a:xfrm flipV="1">
            <a:off x="636270" y="817245"/>
            <a:ext cx="5463540" cy="40640"/>
          </a:xfrm>
          <a:prstGeom prst="line">
            <a:avLst/>
          </a:prstGeom>
          <a:ln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185" t="13452" r="6989" b="11434"/>
          <a:stretch>
            <a:fillRect/>
          </a:stretch>
        </p:blipFill>
        <p:spPr>
          <a:xfrm>
            <a:off x="-27940" y="-27940"/>
            <a:ext cx="12219940" cy="6899910"/>
          </a:xfrm>
          <a:prstGeom prst="rect">
            <a:avLst/>
          </a:prstGeom>
        </p:spPr>
      </p:pic>
      <p:sp>
        <p:nvSpPr>
          <p:cNvPr id="3" name="Shape 0"/>
          <p:cNvSpPr/>
          <p:nvPr>
            <p:custDataLst>
              <p:tags r:id="rId3"/>
            </p:custDataLst>
          </p:nvPr>
        </p:nvSpPr>
        <p:spPr>
          <a:xfrm flipV="1">
            <a:off x="971055" y="748041"/>
            <a:ext cx="292595" cy="291454"/>
          </a:xfrm>
          <a:prstGeom prst="plaque">
            <a:avLst>
              <a:gd name="adj" fmla="val 50000"/>
            </a:avLst>
          </a:prstGeom>
          <a:solidFill>
            <a:srgbClr val="000000"/>
          </a:solidFill>
        </p:spPr>
      </p:sp>
      <p:sp>
        <p:nvSpPr>
          <p:cNvPr id="4" name="Text 1"/>
          <p:cNvSpPr/>
          <p:nvPr/>
        </p:nvSpPr>
        <p:spPr>
          <a:xfrm>
            <a:off x="971055" y="748041"/>
            <a:ext cx="292595" cy="2914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>
            <p:custDataLst>
              <p:tags r:id="rId4"/>
            </p:custDataLst>
          </p:nvPr>
        </p:nvSpPr>
        <p:spPr>
          <a:xfrm>
            <a:off x="447675" y="266700"/>
            <a:ext cx="1051941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5.2.2 初中组——</a:t>
            </a:r>
            <a:r>
              <a:rPr lang="en-US" sz="2000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数学与密码：矩阵密码转换器</a:t>
            </a:r>
            <a:endParaRPr lang="en-US" sz="2000" dirty="0"/>
          </a:p>
        </p:txBody>
      </p:sp>
      <p:pic>
        <p:nvPicPr>
          <p:cNvPr id="27" name="图片 26"/>
          <p:cNvPicPr/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09575" y="788670"/>
            <a:ext cx="2872800" cy="28800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143875" y="788670"/>
            <a:ext cx="2872800" cy="303710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09575" y="3829050"/>
            <a:ext cx="2872800" cy="3043229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8143875" y="3978275"/>
            <a:ext cx="2872796" cy="2880000"/>
          </a:xfrm>
          <a:prstGeom prst="rect">
            <a:avLst/>
          </a:prstGeom>
        </p:spPr>
      </p:pic>
      <p:sp>
        <p:nvSpPr>
          <p:cNvPr id="32" name="文本框 31"/>
          <p:cNvSpPr txBox="1"/>
          <p:nvPr>
            <p:custDataLst>
              <p:tags r:id="rId13"/>
            </p:custDataLst>
          </p:nvPr>
        </p:nvSpPr>
        <p:spPr>
          <a:xfrm>
            <a:off x="3357880" y="1629410"/>
            <a:ext cx="21259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1.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进入页面，根据右侧规则说明输入想要加密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/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解密的密码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14"/>
            </p:custDataLst>
          </p:nvPr>
        </p:nvSpPr>
        <p:spPr>
          <a:xfrm>
            <a:off x="5813425" y="1629410"/>
            <a:ext cx="212598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2.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对密码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AZkl9863e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进行加密，得到加密内容为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Bm7A04l9f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，根据右侧转换过程可以清晰看到密码的加密过程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15"/>
            </p:custDataLst>
          </p:nvPr>
        </p:nvSpPr>
        <p:spPr>
          <a:xfrm>
            <a:off x="5813425" y="4156710"/>
            <a:ext cx="212598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4.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当输入无效字符（此处为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@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）时，页面会给出错误提示，可以根据提示重新输入自己的密码</a:t>
            </a:r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16"/>
            </p:custDataLst>
          </p:nvPr>
        </p:nvSpPr>
        <p:spPr>
          <a:xfrm>
            <a:off x="3357880" y="4156710"/>
            <a:ext cx="212598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3.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对密码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Bm7A04l9f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进行解密，得到解密内容为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AZkl9863e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，与第二步的加密步骤互为逆过程</a:t>
            </a:r>
            <a:endParaRPr lang="en-US" altLang="zh-CN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537210" y="726440"/>
            <a:ext cx="5276215" cy="0"/>
          </a:xfrm>
          <a:prstGeom prst="line">
            <a:avLst/>
          </a:prstGeom>
          <a:ln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E0FAFF">
                <a:alpha val="83000"/>
              </a:srgbClr>
            </a:gs>
            <a:gs pos="100000">
              <a:srgbClr val="C2F5F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06-d0sht0k75iks832je9v0.png"/>
          <p:cNvPicPr>
            <a:picLocks noChangeAspect="1"/>
          </p:cNvPicPr>
          <p:nvPr/>
        </p:nvPicPr>
        <p:blipFill>
          <a:blip r:embed="rId1"/>
          <a:srcRect l="5876" t="9906"/>
          <a:stretch>
            <a:fillRect/>
          </a:stretch>
        </p:blipFill>
        <p:spPr>
          <a:xfrm>
            <a:off x="8255" y="-36830"/>
            <a:ext cx="11229340" cy="63468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659130"/>
            <a:ext cx="6096000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5.3 </a:t>
            </a:r>
            <a:r>
              <a:rPr lang="zh-CN" alt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案例展示</a:t>
            </a:r>
            <a:r>
              <a:rPr lang="en-US" altLang="zh-CN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--</a:t>
            </a:r>
            <a:r>
              <a:rPr lang="zh-CN" alt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高中</a:t>
            </a: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</a:t>
            </a:r>
            <a:endParaRPr lang="en-US" sz="28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745105" y="2560955"/>
            <a:ext cx="6702425" cy="1568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SSH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暴力攻击实时对抗演示系统</a:t>
            </a:r>
            <a:endParaRPr lang="zh-CN" altLang="en-US" sz="48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  <a:sym typeface="+mn-ea"/>
            </a:endParaRPr>
          </a:p>
        </p:txBody>
      </p:sp>
      <p:pic>
        <p:nvPicPr>
          <p:cNvPr id="5" name="Image 1" descr="https://test-kimi-img.moonshot.cn/pub/slides/slides_tmpl/image/25-05-30-10:57:06-d0sht0k75iks832je9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610995" y="509270"/>
            <a:ext cx="86398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5-30-10:56:46-d0shsrk75iks832je9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5-30-10:56:51-d0shsss75iks832je9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7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7266305" y="4916805"/>
            <a:ext cx="2755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by-AAA</a:t>
            </a:r>
            <a:r>
              <a:rPr lang="zh-CN" altLang="en-US"/>
              <a:t>狂欢之椅黄金贵宾</a:t>
            </a:r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1055" y="748041"/>
            <a:ext cx="292595" cy="29145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32460" y="380365"/>
            <a:ext cx="1033462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5.3.1 高中组——</a:t>
            </a:r>
            <a:r>
              <a:rPr lang="en-US" altLang="zh-CN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SSH</a:t>
            </a:r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暴力攻击实时对抗演示系统</a:t>
            </a: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348355" y="1479550"/>
            <a:ext cx="2606040" cy="44437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76580" y="1479550"/>
            <a:ext cx="2606040" cy="44437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98195" y="2116455"/>
            <a:ext cx="213868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作品简介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79145" y="2773045"/>
            <a:ext cx="2176145" cy="18497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作品名称：SSH暴力攻击实时对抗演示系统</a:t>
            </a:r>
            <a:endParaRPr lang="en-US" sz="12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0" indent="0" algn="just">
              <a:lnSpc>
                <a:spcPct val="130000"/>
              </a:lnSpc>
              <a:buNone/>
            </a:pPr>
            <a:endParaRPr lang="en-US" sz="1600" dirty="0"/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作品目的：可视化展示SSH暴力攻击原理、实时检测技术及自动化防御机制，提升学生对网络安全防护的实践认知。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095365" y="1407795"/>
            <a:ext cx="2606040" cy="44437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316980" y="2044700"/>
            <a:ext cx="213868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防御机制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297930" y="2701290"/>
            <a:ext cx="2176145" cy="27158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Wazuh安全监控。功能定位：开源安全监控（XDR/SIEM），实时日志分析 + 文件完整性检测 + 漏洞扫描。检测逻辑：监控认证日志（如/var/log/auth.log），识别异常：高频失败登录、非常规IP访问。告警机制：触发规则 → 生成安全事件 → 实时告警。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891905" y="1479550"/>
            <a:ext cx="2606040" cy="44437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screen"/>
          <a:stretch>
            <a:fillRect/>
          </a:stretch>
        </p:blipFill>
        <p:spPr>
          <a:xfrm>
            <a:off x="8637756" y="5892431"/>
            <a:ext cx="3200399" cy="10668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837565" y="2216785"/>
            <a:ext cx="5042535" cy="779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just">
              <a:lnSpc>
                <a:spcPct val="140000"/>
              </a:lnSpc>
              <a:buNone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可视化展示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SSH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暴力攻击原理、实时检测技术及自动化防御机制，提升学生对网络安全防护的实践认知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 1"/>
          <p:cNvSpPr/>
          <p:nvPr/>
        </p:nvSpPr>
        <p:spPr>
          <a:xfrm>
            <a:off x="658495" y="1513840"/>
            <a:ext cx="2940050" cy="5340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algn="l">
              <a:lnSpc>
                <a:spcPct val="160000"/>
              </a:lnSpc>
              <a:buClrTx/>
              <a:buSzTx/>
              <a:buFontTx/>
              <a:buNone/>
            </a:pPr>
            <a:r>
              <a:rPr lang="en-US" sz="18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作品目的</a:t>
            </a:r>
            <a:endParaRPr lang="en-US" sz="18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8" name="Text 0"/>
          <p:cNvSpPr/>
          <p:nvPr/>
        </p:nvSpPr>
        <p:spPr>
          <a:xfrm>
            <a:off x="1052195" y="3824605"/>
            <a:ext cx="8373110" cy="779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just">
              <a:lnSpc>
                <a:spcPct val="140000"/>
              </a:lnSpc>
              <a:buNone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教学价值：为学校网络安全课程提供互动教学案例，直观理解攻击检测与主动防御流程。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just">
              <a:lnSpc>
                <a:spcPct val="140000"/>
              </a:lnSpc>
              <a:buNone/>
            </a:pP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实用价值：演示的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Wazuh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防御方案可直接应用于校园服务器防护，抵御暴力破解攻击。</a:t>
            </a:r>
            <a:endParaRPr lang="zh-CN" altLang="en-US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 1"/>
          <p:cNvSpPr/>
          <p:nvPr/>
        </p:nvSpPr>
        <p:spPr>
          <a:xfrm>
            <a:off x="658495" y="3172460"/>
            <a:ext cx="2940050" cy="5340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algn="l">
              <a:lnSpc>
                <a:spcPct val="160000"/>
              </a:lnSpc>
              <a:buClrTx/>
              <a:buSzTx/>
              <a:buFontTx/>
              <a:buNone/>
            </a:pPr>
            <a:r>
              <a:rPr lang="en-US" sz="18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应用价值</a:t>
            </a:r>
            <a:endParaRPr lang="en-US" sz="18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pic>
        <p:nvPicPr>
          <p:cNvPr id="31" name="图片 1" descr="deepseek_mermaid_20250723_cd840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94005" y="5432425"/>
            <a:ext cx="11190605" cy="55753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 flipV="1">
            <a:off x="713105" y="817245"/>
            <a:ext cx="5584825" cy="43180"/>
          </a:xfrm>
          <a:prstGeom prst="line">
            <a:avLst/>
          </a:prstGeom>
          <a:ln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185" t="13452" r="6989" b="11434"/>
          <a:stretch>
            <a:fillRect/>
          </a:stretch>
        </p:blipFill>
        <p:spPr>
          <a:xfrm>
            <a:off x="0" y="0"/>
            <a:ext cx="12219940" cy="68999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21945" y="380365"/>
            <a:ext cx="10645140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5.3.1 高中组——</a:t>
            </a:r>
            <a:r>
              <a:rPr lang="en-US" altLang="zh-CN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SSH</a:t>
            </a:r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暴力攻击实时对抗演示系统</a:t>
            </a: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</a:t>
            </a:r>
            <a:endParaRPr lang="en-US" sz="1600" dirty="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95910" y="1713230"/>
            <a:ext cx="6720205" cy="4199255"/>
          </a:xfrm>
          <a:prstGeom prst="rect">
            <a:avLst/>
          </a:prstGeom>
        </p:spPr>
      </p:pic>
      <p:sp>
        <p:nvSpPr>
          <p:cNvPr id="26" name="Shape 5"/>
          <p:cNvSpPr/>
          <p:nvPr>
            <p:custDataLst>
              <p:tags r:id="rId6"/>
            </p:custDataLst>
          </p:nvPr>
        </p:nvSpPr>
        <p:spPr>
          <a:xfrm>
            <a:off x="7325995" y="1713230"/>
            <a:ext cx="4366260" cy="4583430"/>
          </a:xfrm>
          <a:prstGeom prst="roundRect">
            <a:avLst>
              <a:gd name="adj" fmla="val 4788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175BD9"/>
                </a:gs>
                <a:gs pos="30000">
                  <a:srgbClr val="175BD9"/>
                </a:gs>
                <a:gs pos="100000">
                  <a:srgbClr val="5289ED"/>
                </a:gs>
              </a:gsLst>
              <a:lin ang="10800000" scaled="1"/>
            </a:gradFill>
            <a:prstDash val="solid"/>
          </a:ln>
        </p:spPr>
      </p:sp>
      <p:sp>
        <p:nvSpPr>
          <p:cNvPr id="24" name="Text 1"/>
          <p:cNvSpPr/>
          <p:nvPr>
            <p:custDataLst>
              <p:tags r:id="rId7"/>
            </p:custDataLst>
          </p:nvPr>
        </p:nvSpPr>
        <p:spPr>
          <a:xfrm>
            <a:off x="7412355" y="1713230"/>
            <a:ext cx="4399280" cy="475615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p>
            <a:pPr marL="0" indent="0" algn="l">
              <a:lnSpc>
                <a:spcPct val="200000"/>
              </a:lnSpc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工具：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Kali Linux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（渗透测试标准平台）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手段：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 algn="l">
              <a:lnSpc>
                <a:spcPct val="200000"/>
              </a:lnSpc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字典爆破：通过预生成密码库（如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rockyou.txt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）暴力破解认证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 algn="l">
              <a:lnSpc>
                <a:spcPct val="200000"/>
              </a:lnSpc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常用工具：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hydra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john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hashcat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攻击流程：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 algn="l">
              <a:lnSpc>
                <a:spcPct val="200000"/>
              </a:lnSpc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收集目标信息（如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SSH/FTP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端口）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 algn="l">
              <a:lnSpc>
                <a:spcPct val="200000"/>
              </a:lnSpc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选择密码字典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lvl="1" indent="0" algn="l">
              <a:lnSpc>
                <a:spcPct val="200000"/>
              </a:lnSpc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发起爆破攻击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获取权限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 4"/>
          <p:cNvSpPr/>
          <p:nvPr/>
        </p:nvSpPr>
        <p:spPr>
          <a:xfrm>
            <a:off x="594360" y="1031875"/>
            <a:ext cx="11049635" cy="10502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ctr">
              <a:lnSpc>
                <a:spcPct val="120000"/>
              </a:lnSpc>
              <a:buNone/>
            </a:pPr>
            <a:r>
              <a:rPr lang="en-US" altLang="zh-CN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Kali Linux </a:t>
            </a:r>
            <a:r>
              <a:rPr lang="zh-CN" altLang="en-US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密码爆破</a:t>
            </a: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416560" y="817245"/>
            <a:ext cx="5520055" cy="38100"/>
          </a:xfrm>
          <a:prstGeom prst="line">
            <a:avLst/>
          </a:prstGeom>
          <a:ln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4360" y="380365"/>
            <a:ext cx="1037272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5.3.1 高中组——</a:t>
            </a:r>
            <a:r>
              <a:rPr lang="en-US" altLang="zh-CN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SSH</a:t>
            </a:r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暴力攻击实时对抗演示系统</a:t>
            </a:r>
            <a:endParaRPr lang="en-US" sz="2000" dirty="0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  <p:sp>
        <p:nvSpPr>
          <p:cNvPr id="26" name="Shape 5"/>
          <p:cNvSpPr/>
          <p:nvPr>
            <p:custDataLst>
              <p:tags r:id="rId5"/>
            </p:custDataLst>
          </p:nvPr>
        </p:nvSpPr>
        <p:spPr>
          <a:xfrm>
            <a:off x="7341235" y="1405890"/>
            <a:ext cx="4366260" cy="4583430"/>
          </a:xfrm>
          <a:prstGeom prst="roundRect">
            <a:avLst>
              <a:gd name="adj" fmla="val 4788"/>
            </a:avLst>
          </a:prstGeom>
          <a:solidFill>
            <a:srgbClr val="FFFFFF"/>
          </a:solidFill>
          <a:ln w="19050">
            <a:gradFill flip="none" rotWithShape="1">
              <a:gsLst>
                <a:gs pos="0">
                  <a:srgbClr val="175BD9"/>
                </a:gs>
                <a:gs pos="30000">
                  <a:srgbClr val="175BD9"/>
                </a:gs>
                <a:gs pos="100000">
                  <a:srgbClr val="5289ED"/>
                </a:gs>
              </a:gsLst>
              <a:lin ang="10800000" scaled="1"/>
            </a:gradFill>
            <a:prstDash val="solid"/>
          </a:ln>
        </p:spPr>
      </p:sp>
      <p:sp>
        <p:nvSpPr>
          <p:cNvPr id="24" name="Text 1"/>
          <p:cNvSpPr/>
          <p:nvPr>
            <p:custDataLst>
              <p:tags r:id="rId6"/>
            </p:custDataLst>
          </p:nvPr>
        </p:nvSpPr>
        <p:spPr>
          <a:xfrm>
            <a:off x="7341235" y="1405890"/>
            <a:ext cx="4399280" cy="475615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p>
            <a:pPr marL="0" indent="0" algn="l">
              <a:lnSpc>
                <a:spcPct val="200000"/>
              </a:lnSpc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功能定位：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开源安全监控（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XDR/SIEM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实时日志分析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+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文件完整性检测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+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漏洞扫描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检测逻辑：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监控认证日志（如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/var/log/auth.log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识别异常：高频失败登录、非常规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IP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访问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告警机制：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触发规则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生成安全事件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实时告警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3" name="图片 3" descr="3b050bf732130b1a63ec10b54e84c2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t="547" b="23977"/>
          <a:stretch>
            <a:fillRect/>
          </a:stretch>
        </p:blipFill>
        <p:spPr>
          <a:xfrm>
            <a:off x="1032510" y="1315085"/>
            <a:ext cx="5266690" cy="236791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032510" y="3683000"/>
            <a:ext cx="5266690" cy="3107055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Text 4"/>
          <p:cNvSpPr/>
          <p:nvPr/>
        </p:nvSpPr>
        <p:spPr>
          <a:xfrm>
            <a:off x="594360" y="711200"/>
            <a:ext cx="11049635" cy="15297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ctr">
              <a:lnSpc>
                <a:spcPct val="120000"/>
              </a:lnSpc>
              <a:buNone/>
            </a:pPr>
            <a:r>
              <a:rPr lang="en-US" altLang="zh-CN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Wazuh</a:t>
            </a:r>
            <a:r>
              <a:rPr lang="zh-CN" altLang="en-US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安全监控</a:t>
            </a: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24840" y="802640"/>
            <a:ext cx="5674360" cy="0"/>
          </a:xfrm>
          <a:prstGeom prst="line">
            <a:avLst/>
          </a:prstGeom>
          <a:ln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88010" y="380365"/>
            <a:ext cx="1037907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5.3.1 高中组——</a:t>
            </a:r>
            <a:r>
              <a:rPr lang="en-US" altLang="zh-CN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SSH</a:t>
            </a:r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暴力攻击实时对抗演示系统</a:t>
            </a:r>
            <a:endParaRPr lang="en-US" sz="2000" dirty="0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  <p:sp>
        <p:nvSpPr>
          <p:cNvPr id="25" name="Text 4"/>
          <p:cNvSpPr/>
          <p:nvPr/>
        </p:nvSpPr>
        <p:spPr>
          <a:xfrm>
            <a:off x="574040" y="1100455"/>
            <a:ext cx="11049635" cy="2009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ctr">
              <a:lnSpc>
                <a:spcPct val="120000"/>
              </a:lnSpc>
              <a:buNone/>
            </a:pPr>
            <a:r>
              <a:rPr lang="zh-CN" altLang="en-US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通过</a:t>
            </a:r>
            <a:r>
              <a:rPr lang="en-US" altLang="zh-CN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SSH</a:t>
            </a:r>
            <a:r>
              <a:rPr lang="zh-CN" altLang="en-US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爆破</a:t>
            </a:r>
            <a:r>
              <a:rPr lang="en-US" altLang="zh-CN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Ubuntu</a:t>
            </a: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Text 1"/>
          <p:cNvSpPr/>
          <p:nvPr>
            <p:custDataLst>
              <p:tags r:id="rId5"/>
            </p:custDataLst>
          </p:nvPr>
        </p:nvSpPr>
        <p:spPr>
          <a:xfrm>
            <a:off x="111125" y="1278890"/>
            <a:ext cx="3816350" cy="4851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l">
              <a:lnSpc>
                <a:spcPct val="160000"/>
              </a:lnSpc>
              <a:buNone/>
            </a:pPr>
            <a:r>
              <a:rPr lang="zh-CN" altLang="en-US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查看威胁日志</a:t>
            </a:r>
            <a:endParaRPr lang="zh-CN" altLang="en-US" sz="1600" b="1" dirty="0">
              <a:solidFill>
                <a:schemeClr val="bg1"/>
              </a:solidFill>
              <a:highlight>
                <a:srgbClr val="8080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3" descr="3b050bf732130b1a63ec10b54e84c2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t="547" b="23977"/>
          <a:stretch>
            <a:fillRect/>
          </a:stretch>
        </p:blipFill>
        <p:spPr>
          <a:xfrm>
            <a:off x="189865" y="1871345"/>
            <a:ext cx="5038090" cy="2265045"/>
          </a:xfrm>
          <a:prstGeom prst="rect">
            <a:avLst/>
          </a:prstGeom>
        </p:spPr>
      </p:pic>
      <p:sp>
        <p:nvSpPr>
          <p:cNvPr id="10" name="Text 1"/>
          <p:cNvSpPr/>
          <p:nvPr>
            <p:custDataLst>
              <p:tags r:id="rId8"/>
            </p:custDataLst>
          </p:nvPr>
        </p:nvSpPr>
        <p:spPr>
          <a:xfrm>
            <a:off x="189865" y="4342765"/>
            <a:ext cx="3816350" cy="4851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l">
              <a:lnSpc>
                <a:spcPct val="160000"/>
              </a:lnSpc>
              <a:buNone/>
            </a:pPr>
            <a:r>
              <a:rPr lang="zh-CN" altLang="en-US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wazuh-agent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，实现对靶机的监测</a:t>
            </a:r>
            <a:endParaRPr lang="zh-CN" altLang="en-US" sz="1600" b="1" dirty="0">
              <a:solidFill>
                <a:schemeClr val="bg1"/>
              </a:solidFill>
              <a:highlight>
                <a:srgbClr val="8080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图片 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89865" y="4881245"/>
            <a:ext cx="5038090" cy="192341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 1"/>
          <p:cNvSpPr/>
          <p:nvPr/>
        </p:nvSpPr>
        <p:spPr>
          <a:xfrm>
            <a:off x="6285865" y="2113280"/>
            <a:ext cx="5313680" cy="4851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l">
              <a:lnSpc>
                <a:spcPct val="160000"/>
              </a:lnSpc>
              <a:buNone/>
            </a:pPr>
            <a:r>
              <a:rPr lang="zh-CN" altLang="en-US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使用账号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root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和密码字典组合方式进行爆破，攻击成功</a:t>
            </a:r>
            <a:endParaRPr lang="zh-CN" altLang="en-US" sz="1600" b="1" dirty="0">
              <a:solidFill>
                <a:schemeClr val="bg1"/>
              </a:solidFill>
              <a:highlight>
                <a:srgbClr val="8080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" name="图片 10" descr="屏幕截图 2025-07-14 152806"/>
          <p:cNvPicPr>
            <a:picLocks noChangeAspect="1"/>
          </p:cNvPicPr>
          <p:nvPr/>
        </p:nvPicPr>
        <p:blipFill>
          <a:blip r:embed="rId11"/>
          <a:srcRect l="13160" t="65106"/>
          <a:stretch>
            <a:fillRect/>
          </a:stretch>
        </p:blipFill>
        <p:spPr>
          <a:xfrm>
            <a:off x="5985510" y="2999105"/>
            <a:ext cx="6138545" cy="1474470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 flipV="1">
            <a:off x="668655" y="817245"/>
            <a:ext cx="5617210" cy="18415"/>
          </a:xfrm>
          <a:prstGeom prst="line">
            <a:avLst/>
          </a:prstGeom>
          <a:ln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4360" y="380365"/>
            <a:ext cx="1037272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5.3.1 高中组——</a:t>
            </a:r>
            <a:r>
              <a:rPr lang="en-US" altLang="zh-CN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SSH</a:t>
            </a:r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暴力攻击实时对抗演示系统</a:t>
            </a:r>
            <a:endParaRPr lang="en-US" sz="2000" dirty="0"/>
          </a:p>
        </p:txBody>
      </p:sp>
      <p:sp>
        <p:nvSpPr>
          <p:cNvPr id="25" name="Text 4"/>
          <p:cNvSpPr/>
          <p:nvPr/>
        </p:nvSpPr>
        <p:spPr>
          <a:xfrm>
            <a:off x="574040" y="902335"/>
            <a:ext cx="11049635" cy="7778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p>
            <a:pPr marL="0" indent="0" algn="ctr">
              <a:lnSpc>
                <a:spcPct val="120000"/>
              </a:lnSpc>
              <a:buNone/>
            </a:pPr>
            <a:r>
              <a:rPr lang="zh-CN" altLang="en-US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查看</a:t>
            </a:r>
            <a:r>
              <a:rPr lang="en-US" altLang="zh-CN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Wazuh</a:t>
            </a:r>
            <a:r>
              <a:rPr lang="zh-CN" altLang="en-US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爆破日志</a:t>
            </a: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Text 1"/>
          <p:cNvSpPr/>
          <p:nvPr>
            <p:custDataLst>
              <p:tags r:id="rId3"/>
            </p:custDataLst>
          </p:nvPr>
        </p:nvSpPr>
        <p:spPr>
          <a:xfrm>
            <a:off x="220345" y="1514475"/>
            <a:ext cx="3816350" cy="4851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p>
            <a:pPr marL="0" indent="0" algn="l">
              <a:lnSpc>
                <a:spcPct val="160000"/>
              </a:lnSpc>
              <a:buNone/>
            </a:pPr>
            <a:r>
              <a:rPr lang="zh-CN" altLang="en-US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wazuh-agent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，实现对靶机的监测</a:t>
            </a:r>
            <a:endParaRPr lang="zh-CN" altLang="en-US" sz="1600" b="1" dirty="0">
              <a:solidFill>
                <a:schemeClr val="bg1"/>
              </a:solidFill>
              <a:highlight>
                <a:srgbClr val="8080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12" descr="485ff993eba6829d1063022f298cf5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34645" y="2211705"/>
            <a:ext cx="7721600" cy="4584065"/>
          </a:xfrm>
          <a:prstGeom prst="rect">
            <a:avLst/>
          </a:prstGeom>
        </p:spPr>
      </p:pic>
      <p:pic>
        <p:nvPicPr>
          <p:cNvPr id="16" name="图片 13" descr="57ff4de23c607ae97cf1fea97fea4b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t="48875" b="24893"/>
          <a:stretch>
            <a:fillRect/>
          </a:stretch>
        </p:blipFill>
        <p:spPr>
          <a:xfrm>
            <a:off x="2809240" y="4264025"/>
            <a:ext cx="9294495" cy="145097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V="1">
            <a:off x="680085" y="817245"/>
            <a:ext cx="5585460" cy="40640"/>
          </a:xfrm>
          <a:prstGeom prst="line">
            <a:avLst/>
          </a:prstGeom>
          <a:ln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91515" y="380365"/>
            <a:ext cx="1027557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5.3.1 高中组——</a:t>
            </a:r>
            <a:r>
              <a:rPr lang="en-US" altLang="zh-CN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SSH</a:t>
            </a:r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暴力攻击实时对抗演示系统</a:t>
            </a:r>
            <a:endParaRPr lang="en-US" sz="2000" dirty="0"/>
          </a:p>
        </p:txBody>
      </p:sp>
      <p:sp>
        <p:nvSpPr>
          <p:cNvPr id="25" name="Text 4"/>
          <p:cNvSpPr/>
          <p:nvPr/>
        </p:nvSpPr>
        <p:spPr>
          <a:xfrm>
            <a:off x="574040" y="902335"/>
            <a:ext cx="11049635" cy="7778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p>
            <a:pPr marL="0" indent="0" algn="ctr">
              <a:lnSpc>
                <a:spcPct val="120000"/>
              </a:lnSpc>
              <a:buNone/>
            </a:pPr>
            <a:r>
              <a:rPr lang="zh-CN" altLang="en-US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启用</a:t>
            </a:r>
            <a:r>
              <a:rPr lang="en-US" altLang="zh-CN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Active Response </a:t>
            </a:r>
            <a:r>
              <a:rPr lang="zh-CN" altLang="en-US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自动封禁攻击</a:t>
            </a:r>
            <a:r>
              <a:rPr lang="en-US" altLang="zh-CN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IP</a:t>
            </a:r>
            <a:endParaRPr lang="en-US" altLang="zh-CN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Text 1"/>
          <p:cNvSpPr/>
          <p:nvPr>
            <p:custDataLst>
              <p:tags r:id="rId3"/>
            </p:custDataLst>
          </p:nvPr>
        </p:nvSpPr>
        <p:spPr>
          <a:xfrm>
            <a:off x="675640" y="1514475"/>
            <a:ext cx="10063480" cy="11264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p>
            <a:pPr marL="0" indent="0" algn="l">
              <a:lnSpc>
                <a:spcPct val="160000"/>
              </a:lnSpc>
              <a:buNone/>
            </a:pPr>
            <a:r>
              <a:rPr lang="zh-CN" altLang="en-US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添加防御规则：当规则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ID  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被触发时，系统会在本地主机上执行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firewall-drop 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命令，临时阻止攻击源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IP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，持续时间为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180 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</a:t>
            </a:r>
            <a:endParaRPr lang="zh-CN" altLang="en-US" sz="1600" b="1" dirty="0">
              <a:solidFill>
                <a:schemeClr val="bg1"/>
              </a:solidFill>
              <a:highlight>
                <a:srgbClr val="8080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16" descr="eee75d140fd75a969dc328be6800da9"/>
          <p:cNvPicPr>
            <a:picLocks noChangeAspect="1"/>
          </p:cNvPicPr>
          <p:nvPr/>
        </p:nvPicPr>
        <p:blipFill>
          <a:blip r:embed="rId4"/>
          <a:srcRect l="15983" t="42527"/>
          <a:stretch>
            <a:fillRect/>
          </a:stretch>
        </p:blipFill>
        <p:spPr>
          <a:xfrm>
            <a:off x="734695" y="2524760"/>
            <a:ext cx="10434320" cy="4252595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 flipH="1">
            <a:off x="734695" y="779145"/>
            <a:ext cx="5584825" cy="38100"/>
          </a:xfrm>
          <a:prstGeom prst="line">
            <a:avLst/>
          </a:prstGeom>
          <a:ln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22935" y="387350"/>
            <a:ext cx="1034415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5.3.1 高中组——</a:t>
            </a:r>
            <a:r>
              <a:rPr lang="en-US" altLang="zh-CN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SSH</a:t>
            </a:r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暴力攻击实时对抗演示系统</a:t>
            </a:r>
            <a:endParaRPr lang="en-US" sz="2000" dirty="0"/>
          </a:p>
        </p:txBody>
      </p:sp>
      <p:sp>
        <p:nvSpPr>
          <p:cNvPr id="25" name="Text 4"/>
          <p:cNvSpPr/>
          <p:nvPr/>
        </p:nvSpPr>
        <p:spPr>
          <a:xfrm>
            <a:off x="574040" y="817245"/>
            <a:ext cx="11049635" cy="7778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p>
            <a:pPr marL="0" indent="0" algn="ctr">
              <a:lnSpc>
                <a:spcPct val="120000"/>
              </a:lnSpc>
              <a:buNone/>
            </a:pPr>
            <a:r>
              <a:rPr lang="zh-CN" altLang="en-US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启用</a:t>
            </a:r>
            <a:r>
              <a:rPr lang="en-US" altLang="zh-CN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Active Response </a:t>
            </a:r>
            <a:r>
              <a:rPr lang="zh-CN" altLang="en-US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自动封禁攻击</a:t>
            </a:r>
            <a:r>
              <a:rPr lang="en-US" altLang="zh-CN" sz="2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IP</a:t>
            </a:r>
            <a:endParaRPr lang="en-US" altLang="zh-CN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zh-CN" altLang="en-US" sz="2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Text 1"/>
          <p:cNvSpPr/>
          <p:nvPr>
            <p:custDataLst>
              <p:tags r:id="rId3"/>
            </p:custDataLst>
          </p:nvPr>
        </p:nvSpPr>
        <p:spPr>
          <a:xfrm>
            <a:off x="675640" y="1514475"/>
            <a:ext cx="10063480" cy="11264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p>
            <a:pPr marL="0" indent="0" algn="l">
              <a:lnSpc>
                <a:spcPct val="160000"/>
              </a:lnSpc>
              <a:buNone/>
            </a:pPr>
            <a:r>
              <a:rPr lang="zh-CN" altLang="en-US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更新系统，重启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wazuh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</a:t>
            </a:r>
            <a:endParaRPr lang="zh-CN" altLang="en-US" sz="1600" b="1" dirty="0">
              <a:solidFill>
                <a:schemeClr val="bg1"/>
              </a:solidFill>
              <a:highlight>
                <a:srgbClr val="8080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22270577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220" y="2065655"/>
            <a:ext cx="6583680" cy="718185"/>
          </a:xfrm>
          <a:prstGeom prst="rect">
            <a:avLst/>
          </a:prstGeom>
        </p:spPr>
      </p:pic>
      <p:sp>
        <p:nvSpPr>
          <p:cNvPr id="9" name="Text 1"/>
          <p:cNvSpPr/>
          <p:nvPr>
            <p:custDataLst>
              <p:tags r:id="rId5"/>
            </p:custDataLst>
          </p:nvPr>
        </p:nvSpPr>
        <p:spPr>
          <a:xfrm>
            <a:off x="675640" y="3015615"/>
            <a:ext cx="10063480" cy="11264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p>
            <a:pPr marL="0" indent="0" algn="l">
              <a:lnSpc>
                <a:spcPct val="160000"/>
              </a:lnSpc>
              <a:buNone/>
            </a:pPr>
            <a:r>
              <a:rPr lang="zh-CN" altLang="en-US" sz="1600" b="1" dirty="0">
                <a:solidFill>
                  <a:schemeClr val="bg1"/>
                </a:solidFill>
                <a:highlight>
                  <a:srgbClr val="80800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再次攻击，出现失败</a:t>
            </a:r>
            <a:endParaRPr lang="zh-CN" altLang="en-US" sz="1600" b="1" dirty="0">
              <a:solidFill>
                <a:schemeClr val="bg1"/>
              </a:solidFill>
              <a:highlight>
                <a:srgbClr val="808000"/>
              </a:highligh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" name="图片 19" descr="e8ab5123087ebaa1131bb9fc4f42a0a"/>
          <p:cNvPicPr>
            <a:picLocks noChangeAspect="1"/>
          </p:cNvPicPr>
          <p:nvPr/>
        </p:nvPicPr>
        <p:blipFill>
          <a:blip r:embed="rId6"/>
          <a:srcRect l="13233" t="69041"/>
          <a:stretch>
            <a:fillRect/>
          </a:stretch>
        </p:blipFill>
        <p:spPr>
          <a:xfrm>
            <a:off x="744220" y="3686175"/>
            <a:ext cx="11059795" cy="235267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screen"/>
          <a:stretch>
            <a:fillRect/>
          </a:stretch>
        </p:blipFill>
        <p:spPr>
          <a:xfrm>
            <a:off x="8637756" y="5892431"/>
            <a:ext cx="3200399" cy="10668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675640" y="816610"/>
            <a:ext cx="5534025" cy="635"/>
          </a:xfrm>
          <a:prstGeom prst="line">
            <a:avLst/>
          </a:prstGeom>
          <a:ln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E0FAFF">
                <a:alpha val="83000"/>
              </a:srgbClr>
            </a:gs>
            <a:gs pos="100000">
              <a:srgbClr val="C2F5F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06-d0sht0k75iks832je9v0.png"/>
          <p:cNvPicPr>
            <a:picLocks noChangeAspect="1"/>
          </p:cNvPicPr>
          <p:nvPr/>
        </p:nvPicPr>
        <p:blipFill>
          <a:blip r:embed="rId1"/>
          <a:srcRect l="5876" t="9906"/>
          <a:stretch>
            <a:fillRect/>
          </a:stretch>
        </p:blipFill>
        <p:spPr>
          <a:xfrm>
            <a:off x="8255" y="-36830"/>
            <a:ext cx="11229340" cy="63468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659130"/>
            <a:ext cx="6096000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5.3 </a:t>
            </a:r>
            <a:r>
              <a:rPr lang="zh-CN" alt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案例展示</a:t>
            </a:r>
            <a:r>
              <a:rPr lang="en-US" altLang="zh-CN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--</a:t>
            </a:r>
            <a:r>
              <a:rPr lang="zh-CN" alt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高中</a:t>
            </a: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</a:t>
            </a:r>
            <a:endParaRPr lang="en-US" sz="28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745105" y="1915795"/>
            <a:ext cx="6702425" cy="23069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基于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Wazuh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的网络安全威胁实时感知和防御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系统</a:t>
            </a:r>
            <a:endParaRPr lang="zh-CN" altLang="en-US" sz="4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5" name="Image 1" descr="https://test-kimi-img.moonshot.cn/pub/slides/slides_tmpl/image/25-05-30-10:57:06-d0sht0k75iks832je9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745" y="4329430"/>
            <a:ext cx="1511935" cy="135318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610995" y="509270"/>
            <a:ext cx="86398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test-kimi-img.moonshot.cn/pub/slides/slides_tmpl/image/25-05-30-10:56:46-d0shsrk75iks832je9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1" name="Image 3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2" name="Image 4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3" name="Image 5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4" name="Image 6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5" name="Image 7" descr="https://test-kimi-img.moonshot.cn/pub/slides/slides_tmpl/image/25-05-30-10:56:51-d0shsss75iks832je9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7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7266305" y="4916805"/>
            <a:ext cx="2555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by-A</a:t>
            </a:r>
            <a:r>
              <a:rPr lang="en-US" altLang="zh-CN"/>
              <a:t>rcher</a:t>
            </a:r>
            <a:endParaRPr lang="en-US" altLang="zh-CN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185" t="13452" r="6989" b="11434"/>
          <a:stretch>
            <a:fillRect/>
          </a:stretch>
        </p:blipFill>
        <p:spPr>
          <a:xfrm>
            <a:off x="-27940" y="-41910"/>
            <a:ext cx="12219940" cy="68999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4360" y="380365"/>
            <a:ext cx="1037272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5.3.2 高中组——</a:t>
            </a:r>
            <a:r>
              <a:rPr 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基于Wazuh的网络安全威胁实时感知与防御系统</a:t>
            </a:r>
            <a:endParaRPr lang="en-US" sz="2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918845" y="1597660"/>
            <a:ext cx="8787130" cy="14846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p>
            <a:pPr marL="0" marR="0" lvl="0" indent="0" algn="just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作品内容：</a:t>
            </a: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本实验通过在</a:t>
            </a: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Ubuntu</a:t>
            </a: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靶机上部署</a:t>
            </a: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auditd</a:t>
            </a: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审计工具，记录系统中所有命令执</a:t>
            </a: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行行为，再通过</a:t>
            </a: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Wazuh Agent</a:t>
            </a: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采集审计日志并发送至</a:t>
            </a:r>
            <a:r>
              <a:rPr kumimoji="0" lang="en-US" altLang="zh-CN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Wazuh Manager</a:t>
            </a: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进行分析。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作品目的：</a:t>
            </a: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恶意命令执行是黑客常用的攻击手段，通过监控此类行为可有效发现并阻止潜在的入侵活动，保护系统安全。</a:t>
            </a:r>
            <a:endParaRPr kumimoji="0" lang="zh-CN" altLang="en-US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845" y="3856990"/>
            <a:ext cx="10465435" cy="248920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screen"/>
          <a:stretch>
            <a:fillRect/>
          </a:stretch>
        </p:blipFill>
        <p:spPr>
          <a:xfrm>
            <a:off x="8637756" y="5892431"/>
            <a:ext cx="3200399" cy="1066800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 flipV="1">
            <a:off x="701675" y="779145"/>
            <a:ext cx="7346950" cy="70485"/>
          </a:xfrm>
          <a:prstGeom prst="line">
            <a:avLst/>
          </a:prstGeom>
          <a:ln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1-d0shtbs75iks832jea8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7185" t="13452" r="6989" b="11434"/>
          <a:stretch>
            <a:fillRect/>
          </a:stretch>
        </p:blipFill>
        <p:spPr>
          <a:xfrm>
            <a:off x="-22860" y="-27940"/>
            <a:ext cx="12219940" cy="68999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380365"/>
            <a:ext cx="438309" cy="43688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31495" y="380365"/>
            <a:ext cx="1043559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5.3.2 高中组——</a:t>
            </a:r>
            <a:r>
              <a:rPr lang="en-US" sz="20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基于Wazuh的网络安全威胁实时感知与防御系统</a:t>
            </a:r>
            <a:endParaRPr 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6025" y="1252476"/>
            <a:ext cx="6508765" cy="5117157"/>
          </a:xfrm>
          <a:prstGeom prst="rect">
            <a:avLst/>
          </a:prstGeom>
        </p:spPr>
      </p:pic>
      <p:graphicFrame>
        <p:nvGraphicFramePr>
          <p:cNvPr id="11" name="表格 10"/>
          <p:cNvGraphicFramePr/>
          <p:nvPr>
            <p:custDataLst>
              <p:tags r:id="rId4"/>
            </p:custDataLst>
          </p:nvPr>
        </p:nvGraphicFramePr>
        <p:xfrm>
          <a:off x="537210" y="1532255"/>
          <a:ext cx="4359910" cy="4768214"/>
        </p:xfrm>
        <a:graphic>
          <a:graphicData uri="http://schemas.openxmlformats.org/drawingml/2006/table">
            <a:tbl>
              <a:tblPr/>
              <a:tblGrid>
                <a:gridCol w="538464"/>
                <a:gridCol w="1796711"/>
                <a:gridCol w="2024735"/>
              </a:tblGrid>
              <a:tr h="43364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Calibri" panose="020F0502020204030204"/>
                          <a:ea typeface="Calibri" panose="020F0502020204030204"/>
                        </a:rPr>
                        <a:t>OSI</a:t>
                      </a: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层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作品中的技术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功能体现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867291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应用层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dirty="0" err="1">
                          <a:latin typeface="Calibri" panose="020F0502020204030204"/>
                          <a:ea typeface="宋体" panose="02010600030101010101" pitchFamily="2" charset="-122"/>
                        </a:rPr>
                        <a:t>netcat</a:t>
                      </a:r>
                      <a:r>
                        <a:rPr lang="zh-CN" altLang="en-US" sz="1100" dirty="0">
                          <a:latin typeface="Calibri" panose="020F0502020204030204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 dirty="0" err="1">
                          <a:latin typeface="Calibri" panose="020F0502020204030204"/>
                          <a:ea typeface="宋体" panose="02010600030101010101" pitchFamily="2" charset="-122"/>
                        </a:rPr>
                        <a:t>tcpdump</a:t>
                      </a:r>
                      <a:r>
                        <a:rPr lang="zh-CN" altLang="en-US" sz="1100" dirty="0">
                          <a:latin typeface="Calibri" panose="020F0502020204030204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altLang="zh-CN" sz="1100" dirty="0" err="1">
                          <a:latin typeface="Calibri" panose="020F0502020204030204"/>
                          <a:ea typeface="宋体" panose="02010600030101010101" pitchFamily="2" charset="-122"/>
                        </a:rPr>
                        <a:t>arp</a:t>
                      </a:r>
                      <a:r>
                        <a:rPr lang="zh-CN" altLang="en-US" sz="1100" dirty="0">
                          <a:latin typeface="Calibri" panose="020F0502020204030204"/>
                          <a:ea typeface="宋体" panose="02010600030101010101" pitchFamily="2" charset="-122"/>
                        </a:rPr>
                        <a:t>等命令行工具的执行</a:t>
                      </a:r>
                      <a:endParaRPr lang="zh-CN" sz="1100" dirty="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dirty="0"/>
                        <a:t>模拟攻击行为（如 </a:t>
                      </a:r>
                      <a:r>
                        <a:rPr lang="en-US" altLang="zh-CN" sz="1100" dirty="0" err="1"/>
                        <a:t>nc</a:t>
                      </a:r>
                      <a:r>
                        <a:rPr lang="en-US" altLang="zh-CN" sz="1100" dirty="0"/>
                        <a:t> -</a:t>
                      </a:r>
                      <a:r>
                        <a:rPr lang="en-US" altLang="zh-CN" sz="1100" dirty="0" err="1"/>
                        <a:t>lvp</a:t>
                      </a:r>
                      <a:r>
                        <a:rPr lang="en-US" altLang="zh-CN" sz="1100" dirty="0"/>
                        <a:t> 1234 </a:t>
                      </a:r>
                      <a:r>
                        <a:rPr lang="zh-CN" altLang="en-US" sz="1100" dirty="0"/>
                        <a:t>建立后门监听）。</a:t>
                      </a:r>
                      <a:endParaRPr lang="en-US" altLang="zh-CN" sz="1100" dirty="0"/>
                    </a:p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dirty="0"/>
                        <a:t>触发 </a:t>
                      </a:r>
                      <a:r>
                        <a:rPr lang="en-US" altLang="zh-CN" sz="1100" dirty="0" err="1"/>
                        <a:t>execve</a:t>
                      </a:r>
                      <a:r>
                        <a:rPr lang="en-US" altLang="zh-CN" sz="1100" dirty="0"/>
                        <a:t> </a:t>
                      </a:r>
                      <a:r>
                        <a:rPr lang="zh-CN" altLang="en-US" sz="1100" dirty="0"/>
                        <a:t>系统调用，产生审计日志。</a:t>
                      </a:r>
                      <a:endParaRPr lang="zh-CN" sz="1100" dirty="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866348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表示层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dirty="0"/>
                        <a:t>数据格式转换</a:t>
                      </a:r>
                      <a:endParaRPr lang="zh-CN" sz="1100" dirty="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dirty="0"/>
                        <a:t>审计日志（</a:t>
                      </a:r>
                      <a:r>
                        <a:rPr lang="en-US" altLang="zh-CN" sz="1100" dirty="0"/>
                        <a:t>audit.log</a:t>
                      </a:r>
                      <a:r>
                        <a:rPr lang="zh-CN" altLang="en-US" sz="1100" dirty="0"/>
                        <a:t>）→ </a:t>
                      </a:r>
                      <a:r>
                        <a:rPr lang="en-US" altLang="zh-CN" sz="1100" dirty="0"/>
                        <a:t>JSON</a:t>
                      </a:r>
                      <a:r>
                        <a:rPr lang="zh-CN" altLang="en-US" sz="1100" dirty="0"/>
                        <a:t>格式→ </a:t>
                      </a:r>
                      <a:r>
                        <a:rPr lang="en-US" altLang="zh-CN" sz="1100" dirty="0" err="1"/>
                        <a:t>Wazuh</a:t>
                      </a:r>
                      <a:r>
                        <a:rPr lang="zh-CN" altLang="en-US" sz="1100" dirty="0"/>
                        <a:t>解析</a:t>
                      </a:r>
                      <a:endParaRPr lang="zh-CN" sz="1100" dirty="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867291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会话层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dirty="0"/>
                        <a:t>SSH</a:t>
                      </a:r>
                      <a:r>
                        <a:rPr lang="zh-CN" altLang="en-US" sz="1100" dirty="0"/>
                        <a:t>会话</a:t>
                      </a:r>
                      <a:endParaRPr lang="en-US" altLang="zh-CN" sz="1100" dirty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100" dirty="0"/>
                        <a:t>用户通过</a:t>
                      </a:r>
                      <a:r>
                        <a:rPr lang="en-US" altLang="zh-CN" sz="1100" dirty="0"/>
                        <a:t>SSH</a:t>
                      </a:r>
                      <a:r>
                        <a:rPr lang="zh-CN" altLang="en-US" sz="1100" dirty="0"/>
                        <a:t>登录</a:t>
                      </a:r>
                      <a:r>
                        <a:rPr lang="en-US" altLang="zh-CN" sz="1100" dirty="0"/>
                        <a:t>Ubuntu</a:t>
                      </a:r>
                      <a:r>
                        <a:rPr lang="zh-CN" altLang="en-US" sz="1100" dirty="0"/>
                        <a:t>靶机执行命令</a:t>
                      </a:r>
                      <a:endParaRPr lang="zh-CN" sz="1100" dirty="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866348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传输层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dirty="0"/>
                        <a:t>TCP/UDP</a:t>
                      </a:r>
                      <a:endParaRPr lang="zh-CN" sz="1100" dirty="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dirty="0" err="1"/>
                        <a:t>Wazuh</a:t>
                      </a:r>
                      <a:r>
                        <a:rPr lang="en-US" altLang="zh-CN" sz="1100" dirty="0"/>
                        <a:t> Agent</a:t>
                      </a:r>
                      <a:r>
                        <a:rPr lang="zh-CN" altLang="en-US" sz="1100" dirty="0"/>
                        <a:t>通过</a:t>
                      </a:r>
                      <a:r>
                        <a:rPr lang="en-US" altLang="zh-CN" sz="1100" dirty="0"/>
                        <a:t>TCP 1514</a:t>
                      </a:r>
                      <a:r>
                        <a:rPr lang="zh-CN" altLang="en-US" sz="1100" dirty="0"/>
                        <a:t>端口发送日志到</a:t>
                      </a:r>
                      <a:r>
                        <a:rPr lang="en-US" altLang="zh-CN" sz="1100" dirty="0"/>
                        <a:t>Manager</a:t>
                      </a:r>
                      <a:endParaRPr lang="zh-CN" sz="1100" dirty="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867291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Calibri" panose="020F0502020204030204"/>
                          <a:ea typeface="宋体" panose="02010600030101010101" pitchFamily="2" charset="-122"/>
                        </a:rPr>
                        <a:t>网络层</a:t>
                      </a:r>
                      <a:endParaRPr lang="zh-CN" sz="11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dirty="0"/>
                        <a:t>IP</a:t>
                      </a:r>
                      <a:r>
                        <a:rPr lang="zh-CN" altLang="en-US" sz="1100" dirty="0"/>
                        <a:t>协议</a:t>
                      </a:r>
                      <a:endParaRPr lang="zh-CN" sz="1100" dirty="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dirty="0"/>
                        <a:t>192.168.1.234</a:t>
                      </a:r>
                      <a:r>
                        <a:rPr lang="zh-CN" altLang="en-US" sz="1100" dirty="0"/>
                        <a:t>（</a:t>
                      </a:r>
                      <a:r>
                        <a:rPr lang="en-US" altLang="zh-CN" sz="1100" dirty="0"/>
                        <a:t>Ubuntu</a:t>
                      </a:r>
                      <a:r>
                        <a:rPr lang="zh-CN" altLang="en-US" sz="1100" dirty="0"/>
                        <a:t>靶机）与</a:t>
                      </a:r>
                      <a:r>
                        <a:rPr lang="en-US" altLang="zh-CN" sz="1100" dirty="0"/>
                        <a:t>192.168.1.235</a:t>
                      </a:r>
                      <a:r>
                        <a:rPr lang="zh-CN" altLang="en-US" sz="1100" dirty="0"/>
                        <a:t>（</a:t>
                      </a:r>
                      <a:r>
                        <a:rPr lang="en-US" altLang="zh-CN" sz="1100" dirty="0" err="1"/>
                        <a:t>Wazuh</a:t>
                      </a:r>
                      <a:r>
                        <a:rPr lang="en-US" altLang="zh-CN" sz="1100" dirty="0"/>
                        <a:t> Manager</a:t>
                      </a:r>
                      <a:r>
                        <a:rPr lang="zh-CN" altLang="en-US" sz="1100" dirty="0"/>
                        <a:t>）</a:t>
                      </a:r>
                      <a:endParaRPr lang="zh-CN" sz="1100" dirty="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30" name="图片 2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screen"/>
          <a:stretch>
            <a:fillRect/>
          </a:stretch>
        </p:blipFill>
        <p:spPr>
          <a:xfrm>
            <a:off x="8637756" y="5892431"/>
            <a:ext cx="3200399" cy="1066800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>
            <a:off x="614045" y="871220"/>
            <a:ext cx="7406640" cy="31115"/>
          </a:xfrm>
          <a:prstGeom prst="line">
            <a:avLst/>
          </a:prstGeom>
          <a:ln>
            <a:gradFill>
              <a:gsLst>
                <a:gs pos="50000">
                  <a:schemeClr val="accent2"/>
                </a:gs>
                <a:gs pos="0">
                  <a:schemeClr val="accent2">
                    <a:lumMod val="25000"/>
                    <a:lumOff val="75000"/>
                  </a:schemeClr>
                </a:gs>
                <a:gs pos="100000">
                  <a:schemeClr val="accent2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E0FAFF">
                <a:alpha val="83000"/>
              </a:srgbClr>
            </a:gs>
            <a:gs pos="100000">
              <a:srgbClr val="C2F5F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7:56-d0shtd475iks832jea9g.png"/>
          <p:cNvPicPr>
            <a:picLocks noChangeAspect="1"/>
          </p:cNvPicPr>
          <p:nvPr/>
        </p:nvPicPr>
        <p:blipFill>
          <a:blip r:embed="rId1"/>
          <a:srcRect l="26988" t="17810" r="15352" b="18918"/>
          <a:stretch>
            <a:fillRect/>
          </a:stretch>
        </p:blipFill>
        <p:spPr>
          <a:xfrm>
            <a:off x="-42545" y="-69850"/>
            <a:ext cx="12234545" cy="6927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27898" y="2468880"/>
            <a:ext cx="7736205" cy="141478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感谢观看</a:t>
            </a:r>
            <a:r>
              <a:rPr lang="zh-CN" altLang="en-US" sz="9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！</a:t>
            </a:r>
            <a:endParaRPr lang="zh-CN" altLang="en-US" sz="96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1788795" y="5076825"/>
            <a:ext cx="153670" cy="153670"/>
          </a:xfrm>
          <a:prstGeom prst="star4">
            <a:avLst>
              <a:gd name="adj" fmla="val 10416"/>
            </a:avLst>
          </a:prstGeom>
          <a:solidFill>
            <a:srgbClr val="FFBB59"/>
          </a:solidFill>
        </p:spPr>
      </p:sp>
      <p:sp>
        <p:nvSpPr>
          <p:cNvPr id="6" name="Text 3"/>
          <p:cNvSpPr/>
          <p:nvPr/>
        </p:nvSpPr>
        <p:spPr>
          <a:xfrm>
            <a:off x="1788795" y="5076825"/>
            <a:ext cx="153670" cy="1536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261745" y="4424680"/>
            <a:ext cx="153670" cy="153670"/>
          </a:xfrm>
          <a:prstGeom prst="star4">
            <a:avLst>
              <a:gd name="adj" fmla="val 10416"/>
            </a:avLst>
          </a:prstGeom>
          <a:solidFill>
            <a:srgbClr val="FFBB59"/>
          </a:solidFill>
        </p:spPr>
      </p:sp>
      <p:sp>
        <p:nvSpPr>
          <p:cNvPr id="8" name="Text 5"/>
          <p:cNvSpPr/>
          <p:nvPr/>
        </p:nvSpPr>
        <p:spPr>
          <a:xfrm>
            <a:off x="1261745" y="4424680"/>
            <a:ext cx="153670" cy="1536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1610995" y="509270"/>
            <a:ext cx="863981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11" name="Shape 7"/>
          <p:cNvSpPr/>
          <p:nvPr/>
        </p:nvSpPr>
        <p:spPr>
          <a:xfrm>
            <a:off x="2355215" y="6550025"/>
            <a:ext cx="8894445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ysDot"/>
            <a:headEnd type="none"/>
            <a:tailEnd type="none"/>
          </a:ln>
        </p:spPr>
      </p:sp>
      <p:sp>
        <p:nvSpPr>
          <p:cNvPr id="12" name="Shape 8"/>
          <p:cNvSpPr/>
          <p:nvPr/>
        </p:nvSpPr>
        <p:spPr>
          <a:xfrm>
            <a:off x="11774805" y="1237615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13" name="Shape 9"/>
          <p:cNvSpPr/>
          <p:nvPr/>
        </p:nvSpPr>
        <p:spPr>
          <a:xfrm flipV="1">
            <a:off x="586105" y="2072640"/>
            <a:ext cx="0" cy="4104005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14" name="Image 2" descr="https://test-kimi-img.moonshot.cn/pub/slides/slides_tmpl/image/25-05-30-10:56:46-d0shsrk75iks832je9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80" y="337820"/>
            <a:ext cx="902335" cy="298450"/>
          </a:xfrm>
          <a:prstGeom prst="rect">
            <a:avLst/>
          </a:prstGeom>
        </p:spPr>
      </p:pic>
      <p:pic>
        <p:nvPicPr>
          <p:cNvPr id="15" name="Image 3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9720" y="354330"/>
            <a:ext cx="1334770" cy="304800"/>
          </a:xfrm>
          <a:prstGeom prst="rect">
            <a:avLst/>
          </a:prstGeom>
        </p:spPr>
      </p:pic>
      <p:pic>
        <p:nvPicPr>
          <p:cNvPr id="16" name="Image 4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96340"/>
            <a:ext cx="207010" cy="719455"/>
          </a:xfrm>
          <a:prstGeom prst="rect">
            <a:avLst/>
          </a:prstGeom>
        </p:spPr>
      </p:pic>
      <p:pic>
        <p:nvPicPr>
          <p:cNvPr id="17" name="Image 5" descr="https://test-kimi-img.moonshot.cn/pub/slides/slides_tmpl/image/25-05-30-10:56:46-d0shsrk75iks832je9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4790" y="5469890"/>
            <a:ext cx="207010" cy="719455"/>
          </a:xfrm>
          <a:prstGeom prst="rect">
            <a:avLst/>
          </a:prstGeom>
        </p:spPr>
      </p:pic>
      <p:pic>
        <p:nvPicPr>
          <p:cNvPr id="18" name="Image 6" descr="https://test-kimi-img.moonshot.cn/pub/slides/slides_tmpl/image/25-05-30-10:56:46-d0shsrk75iks832je9p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6377305"/>
            <a:ext cx="1334770" cy="304800"/>
          </a:xfrm>
          <a:prstGeom prst="rect">
            <a:avLst/>
          </a:prstGeom>
        </p:spPr>
      </p:pic>
      <p:pic>
        <p:nvPicPr>
          <p:cNvPr id="19" name="Image 7" descr="https://test-kimi-img.moonshot.cn/pub/slides/slides_tmpl/image/25-05-30-10:56:51-d0shsss75iks832je9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4450" y="6356350"/>
            <a:ext cx="353695" cy="298450"/>
          </a:xfrm>
          <a:prstGeom prst="rect">
            <a:avLst/>
          </a:prstGeom>
        </p:spPr>
      </p:pic>
      <p:pic>
        <p:nvPicPr>
          <p:cNvPr id="20" name="Image 8" descr="https://test-kimi-img.moonshot.cn/pub/slides/slides_tmpl/image/25-05-30-10:56:51-d0shsss75iks832je9q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0020" y="3117215"/>
            <a:ext cx="3242945" cy="166433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7" cstate="screen"/>
          <a:stretch>
            <a:fillRect/>
          </a:stretch>
        </p:blipFill>
        <p:spPr>
          <a:xfrm>
            <a:off x="8530441" y="5636526"/>
            <a:ext cx="3200399" cy="10668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9.5,&quot;left&quot;:414.85,&quot;top&quot;:94.75,&quot;width&quot;:524.8}"/>
</p:tagLst>
</file>

<file path=ppt/tags/tag2.xml><?xml version="1.0" encoding="utf-8"?>
<p:tagLst xmlns:p="http://schemas.openxmlformats.org/presentationml/2006/main">
  <p:tag name="KSO_WM_DIAGRAM_VIRTUALLY_FRAME" val="{&quot;height&quot;:379.5,&quot;left&quot;:414.85,&quot;top&quot;:94.75,&quot;width&quot;:524.8}"/>
</p:tagLst>
</file>

<file path=ppt/tags/tag3.xml><?xml version="1.0" encoding="utf-8"?>
<p:tagLst xmlns:p="http://schemas.openxmlformats.org/presentationml/2006/main">
  <p:tag name="KSO_WM_DIAGRAM_VIRTUALLY_FRAME" val="{&quot;height&quot;:379.5,&quot;left&quot;:414.85,&quot;top&quot;:94.75,&quot;width&quot;:524.8}"/>
</p:tagLst>
</file>

<file path=ppt/tags/tag4.xml><?xml version="1.0" encoding="utf-8"?>
<p:tagLst xmlns:p="http://schemas.openxmlformats.org/presentationml/2006/main">
  <p:tag name="KSO_WM_DIAGRAM_VIRTUALLY_FRAME" val="{&quot;height&quot;:379.5,&quot;left&quot;:414.85,&quot;top&quot;:94.75,&quot;width&quot;:524.8}"/>
</p:tagLst>
</file>

<file path=ppt/tags/tag5.xml><?xml version="1.0" encoding="utf-8"?>
<p:tagLst xmlns:p="http://schemas.openxmlformats.org/presentationml/2006/main">
  <p:tag name="KSO_WM_DIAGRAM_VIRTUALLY_FRAME" val="{&quot;height&quot;:379.5,&quot;left&quot;:414.85,&quot;top&quot;:94.75,&quot;width&quot;:524.8}"/>
</p:tagLst>
</file>

<file path=ppt/tags/tag6.xml><?xml version="1.0" encoding="utf-8"?>
<p:tagLst xmlns:p="http://schemas.openxmlformats.org/presentationml/2006/main">
  <p:tag name="KSO_WM_DIAGRAM_VIRTUALLY_FRAME" val="{&quot;height&quot;:379.5,&quot;left&quot;:414.85,&quot;top&quot;:94.75,&quot;width&quot;:524.8}"/>
</p:tagLst>
</file>

<file path=ppt/tags/tag7.xml><?xml version="1.0" encoding="utf-8"?>
<p:tagLst xmlns:p="http://schemas.openxmlformats.org/presentationml/2006/main">
  <p:tag name="KSO_WM_DIAGRAM_VIRTUALLY_FRAME" val="{&quot;height&quot;:379.5,&quot;left&quot;:414.85,&quot;top&quot;:94.75,&quot;width&quot;:524.8}"/>
</p:tagLst>
</file>

<file path=ppt/tags/tag8.xml><?xml version="1.0" encoding="utf-8"?>
<p:tagLst xmlns:p="http://schemas.openxmlformats.org/presentationml/2006/main">
  <p:tag name="KSO_WM_DIAGRAM_VIRTUALLY_FRAME" val="{&quot;height&quot;:379.5,&quot;left&quot;:414.85,&quot;top&quot;:94.75,&quot;width&quot;:524.8}"/>
</p:tagLst>
</file>

<file path=ppt/tags/tag9.xml><?xml version="1.0" encoding="utf-8"?>
<p:tagLst xmlns:p="http://schemas.openxmlformats.org/presentationml/2006/main">
  <p:tag name="KSO_WM_DIAGRAM_VIRTUALLY_FRAME" val="{&quot;height&quot;:379.5,&quot;left&quot;:414.85,&quot;top&quot;:94.75,&quot;width&quot;:524.8}"/>
</p:tagLst>
</file>

<file path=ppt/tags/tag10.xml><?xml version="1.0" encoding="utf-8"?>
<p:tagLst xmlns:p="http://schemas.openxmlformats.org/presentationml/2006/main">
  <p:tag name="KSO_WM_DIAGRAM_VIRTUALLY_FRAME" val="{&quot;height&quot;:379.5,&quot;left&quot;:414.85,&quot;top&quot;:94.75,&quot;width&quot;:524.8}"/>
</p:tagLst>
</file>

<file path=ppt/tags/tag11.xml><?xml version="1.0" encoding="utf-8"?>
<p:tagLst xmlns:p="http://schemas.openxmlformats.org/presentationml/2006/main">
  <p:tag name="KSO_WM_DIAGRAM_VIRTUALLY_FRAME" val="{&quot;height&quot;:379.5,&quot;left&quot;:414.85,&quot;top&quot;:94.75,&quot;width&quot;:524.8}"/>
</p:tagLst>
</file>

<file path=ppt/tags/tag12.xml><?xml version="1.0" encoding="utf-8"?>
<p:tagLst xmlns:p="http://schemas.openxmlformats.org/presentationml/2006/main">
  <p:tag name="KSO_WM_DIAGRAM_VIRTUALLY_FRAME" val="{&quot;height&quot;:379.5,&quot;left&quot;:414.85,&quot;top&quot;:94.75,&quot;width&quot;:524.8}"/>
</p:tagLst>
</file>

<file path=ppt/tags/tag13.xml><?xml version="1.0" encoding="utf-8"?>
<p:tagLst xmlns:p="http://schemas.openxmlformats.org/presentationml/2006/main">
  <p:tag name="KSO_WM_DIAGRAM_VIRTUALLY_FRAME" val="{&quot;height&quot;:379.5,&quot;left&quot;:414.85,&quot;top&quot;:94.75,&quot;width&quot;:524.8}"/>
</p:tagLst>
</file>

<file path=ppt/tags/tag14.xml><?xml version="1.0" encoding="utf-8"?>
<p:tagLst xmlns:p="http://schemas.openxmlformats.org/presentationml/2006/main">
  <p:tag name="KSO_WM_DIAGRAM_VIRTUALLY_FRAME" val="{&quot;height&quot;:379.5,&quot;left&quot;:414.85,&quot;top&quot;:94.75,&quot;width&quot;:524.8}"/>
</p:tagLst>
</file>

<file path=ppt/tags/tag15.xml><?xml version="1.0" encoding="utf-8"?>
<p:tagLst xmlns:p="http://schemas.openxmlformats.org/presentationml/2006/main">
  <p:tag name="KSO_WM_DIAGRAM_VIRTUALLY_FRAME" val="{&quot;height&quot;:379.5,&quot;left&quot;:414.85,&quot;top&quot;:94.75,&quot;width&quot;:524.8}"/>
</p:tagLst>
</file>

<file path=ppt/tags/tag16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1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870_1*a*1"/>
  <p:tag name="KSO_WM_TEMPLATE_CATEGORY" val="diagram"/>
  <p:tag name="KSO_WM_TEMPLATE_INDEX" val="20231870"/>
  <p:tag name="KSO_WM_UNIT_LAYERLEVEL" val="1"/>
  <p:tag name="KSO_WM_TAG_VERSION" val="3.0"/>
  <p:tag name="KSO_WM_BEAUTIFY_FLAG" val="#wm#"/>
  <p:tag name="KSO_WM_UNIT_TEXT_TYPE" val="1"/>
  <p:tag name="KSO_WM_DIAGRAM_GROUP_CODE" val="l1-1"/>
  <p:tag name="KSO_WM_UNIT_PRESET_TEXT" val="单击此处添加页面标题"/>
  <p:tag name="KSO_WM_UNIT_TEXT_FILL_FORE_SCHEMECOLOR_INDEX" val="13"/>
  <p:tag name="KSO_WM_UNIT_TEXT_FILL_TYPE" val="1"/>
  <p:tag name="KSO_WM_UNIT_USESOURCEFORMAT_APPLY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1870_1*l_h_i*1_1_1"/>
  <p:tag name="KSO_WM_TEMPLATE_CATEGORY" val="diagram"/>
  <p:tag name="KSO_WM_TEMPLATE_INDEX" val="2023187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.6"/>
  <p:tag name="KSO_WM_DIAGRAM_MAX_ITEMCNT" val="4"/>
  <p:tag name="KSO_WM_DIAGRAM_MIN_ITEMCNT" val="2"/>
  <p:tag name="KSO_WM_DIAGRAM_VIRTUALLY_FRAME" val="{&quot;height&quot;:383.5499932116444,&quot;left&quot;:47.94999999999999,&quot;top&quot;:118.65000339417773,&quot;width&quot;:864.1}"/>
  <p:tag name="KSO_WM_DIAGRAM_COLOR_MATCH_VALUE" val="{&quot;shape&quot;:{&quot;fill&quot;:{&quot;solid&quot;:{&quot;brightness&quot;:0.6000000238418579,&quot;colorType&quot;:1,&quot;foreColorIndex&quot;:5,&quot;transparency&quot;:0.7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19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870_1*l_h_f*1_1_1"/>
  <p:tag name="KSO_WM_TEMPLATE_CATEGORY" val="diagram"/>
  <p:tag name="KSO_WM_TEMPLATE_INDEX" val="2023187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，简明扼要地阐述观点。根据需要可酌情增减文字，以便观者准确地理解您传达的思想。单击添加文本具体内容，简明扼要地阐述您的内容观点。"/>
  <p:tag name="KSO_WM_UNIT_TEXT_FILL_FORE_SCHEMECOLOR_INDEX" val="1"/>
  <p:tag name="KSO_WM_UNIT_TEXT_FILL_TYPE" val="1"/>
  <p:tag name="KSO_WM_UNIT_TEXT_TYPE" val="1"/>
  <p:tag name="KSO_WM_DIAGRAM_MAX_ITEMCNT" val="4"/>
  <p:tag name="KSO_WM_DIAGRAM_MIN_ITEMCNT" val="2"/>
  <p:tag name="KSO_WM_DIAGRAM_VIRTUALLY_FRAME" val="{&quot;height&quot;:383.5499932116444,&quot;left&quot;:47.94999999999999,&quot;top&quot;:118.65000339417773,&quot;width&quot;:864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870_1*l_h_a*1_1_1"/>
  <p:tag name="KSO_WM_TEMPLATE_CATEGORY" val="diagram"/>
  <p:tag name="KSO_WM_TEMPLATE_INDEX" val="2023187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标题"/>
  <p:tag name="KSO_WM_UNIT_TEXT_FILL_FORE_SCHEMECOLOR_INDEX" val="1"/>
  <p:tag name="KSO_WM_UNIT_TEXT_FILL_TYPE" val="1"/>
  <p:tag name="KSO_WM_UNIT_TEXT_TYPE" val="1"/>
  <p:tag name="KSO_WM_DIAGRAM_MAX_ITEMCNT" val="4"/>
  <p:tag name="KSO_WM_DIAGRAM_MIN_ITEMCNT" val="2"/>
  <p:tag name="KSO_WM_DIAGRAM_VIRTUALLY_FRAME" val="{&quot;height&quot;:383.5499932116444,&quot;left&quot;:47.94999999999999,&quot;top&quot;:118.65000339417773,&quot;width&quot;:864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1870_1*l_h_i*1_2_1"/>
  <p:tag name="KSO_WM_TEMPLATE_CATEGORY" val="diagram"/>
  <p:tag name="KSO_WM_TEMPLATE_INDEX" val="2023187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4"/>
  <p:tag name="KSO_WM_DIAGRAM_MIN_ITEMCNT" val="2"/>
  <p:tag name="KSO_WM_DIAGRAM_VIRTUALLY_FRAME" val="{&quot;height&quot;:383.5499932116444,&quot;left&quot;:47.94999999999999,&quot;top&quot;:118.65000339417773,&quot;width&quot;:864.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22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870_1*l_h_f*1_2_1"/>
  <p:tag name="KSO_WM_TEMPLATE_CATEGORY" val="diagram"/>
  <p:tag name="KSO_WM_TEMPLATE_INDEX" val="2023187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，简明扼要地阐述您的观点。根据需要可酌情增减文字，以便观者准确地理解您传达的思想。单击此处添加文本具体内容，简明扼要地阐述您的内容观点。"/>
  <p:tag name="KSO_WM_UNIT_TEXT_TYPE" val="1"/>
  <p:tag name="KSO_WM_DIAGRAM_MAX_ITEMCNT" val="4"/>
  <p:tag name="KSO_WM_DIAGRAM_MIN_ITEMCNT" val="2"/>
  <p:tag name="KSO_WM_DIAGRAM_VIRTUALLY_FRAME" val="{&quot;height&quot;:383.5499932116444,&quot;left&quot;:47.94999999999999,&quot;top&quot;:118.65000339417773,&quot;width&quot;:864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870_1*l_h_a*1_2_1"/>
  <p:tag name="KSO_WM_TEMPLATE_CATEGORY" val="diagram"/>
  <p:tag name="KSO_WM_TEMPLATE_INDEX" val="2023187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标题"/>
  <p:tag name="KSO_WM_UNIT_TEXT_TYPE" val="1"/>
  <p:tag name="KSO_WM_DIAGRAM_MAX_ITEMCNT" val="4"/>
  <p:tag name="KSO_WM_DIAGRAM_MIN_ITEMCNT" val="2"/>
  <p:tag name="KSO_WM_DIAGRAM_VIRTUALLY_FRAME" val="{&quot;height&quot;:383.5499932116444,&quot;left&quot;:47.94999999999999,&quot;top&quot;:118.65000339417773,&quot;width&quot;:864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4.xml><?xml version="1.0" encoding="utf-8"?>
<p:tagLst xmlns:p="http://schemas.openxmlformats.org/presentationml/2006/main">
  <p:tag name="KSO_WM_UNIT_PLACING_PICTURE_USER_VIEWPORT" val="{&quot;height&quot;:1680,&quot;width&quot;:5039.99842519685}"/>
</p:tagLst>
</file>

<file path=ppt/tags/tag25.xml><?xml version="1.0" encoding="utf-8"?>
<p:tagLst xmlns:p="http://schemas.openxmlformats.org/presentationml/2006/main">
  <p:tag name="KSO_WM_SLIDE_ID" val="diagram20231870_1"/>
  <p:tag name="KSO_WM_TEMPLATE_SUBCATEGORY" val="0"/>
  <p:tag name="KSO_WM_TEMPLATE_MASTER_TYPE" val="0"/>
  <p:tag name="KSO_WM_TEMPLATE_COLOR_TYPE" val="0"/>
  <p:tag name="KSO_WM_SLIDE_ITEM_CNT" val="2"/>
  <p:tag name="KSO_WM_SLIDE_INDEX" val="1"/>
  <p:tag name="KSO_WM_TAG_VERSION" val="3.0"/>
  <p:tag name="KSO_WM_BEAUTIFY_FLAG" val="#wm#"/>
  <p:tag name="KSO_WM_TEMPLATE_CATEGORY" val="diagram"/>
  <p:tag name="KSO_WM_TEMPLATE_INDEX" val="20231870"/>
  <p:tag name="KSO_WM_SLIDE_TYPE" val="text"/>
  <p:tag name="KSO_WM_SLIDE_SUBTYPE" val="diag"/>
  <p:tag name="KSO_WM_SLIDE_SIZE" val="864.05*382.65"/>
  <p:tag name="KSO_WM_SLIDE_POSITION" val="47.95*119.1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26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2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870_1*a*1"/>
  <p:tag name="KSO_WM_TEMPLATE_CATEGORY" val="diagram"/>
  <p:tag name="KSO_WM_TEMPLATE_INDEX" val="20231870"/>
  <p:tag name="KSO_WM_UNIT_LAYERLEVEL" val="1"/>
  <p:tag name="KSO_WM_TAG_VERSION" val="3.0"/>
  <p:tag name="KSO_WM_BEAUTIFY_FLAG" val="#wm#"/>
  <p:tag name="KSO_WM_UNIT_TEXT_TYPE" val="1"/>
  <p:tag name="KSO_WM_DIAGRAM_GROUP_CODE" val="l1-1"/>
  <p:tag name="KSO_WM_UNIT_PRESET_TEXT" val="单击此处添加页面标题"/>
  <p:tag name="KSO_WM_UNIT_TEXT_FILL_FORE_SCHEMECOLOR_INDEX" val="13"/>
  <p:tag name="KSO_WM_UNIT_TEXT_FILL_TYPE" val="1"/>
  <p:tag name="KSO_WM_UNIT_USESOURCEFORMAT_APPLY" val="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1870_1*l_h_i*1_1_1"/>
  <p:tag name="KSO_WM_TEMPLATE_CATEGORY" val="diagram"/>
  <p:tag name="KSO_WM_TEMPLATE_INDEX" val="2023187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.6"/>
  <p:tag name="KSO_WM_DIAGRAM_MAX_ITEMCNT" val="4"/>
  <p:tag name="KSO_WM_DIAGRAM_MIN_ITEMCNT" val="2"/>
  <p:tag name="KSO_WM_DIAGRAM_VIRTUALLY_FRAME" val="{&quot;height&quot;:383.5499932116444,&quot;left&quot;:47.94999999999999,&quot;top&quot;:118.65000339417773,&quot;width&quot;:864.1}"/>
  <p:tag name="KSO_WM_DIAGRAM_COLOR_MATCH_VALUE" val="{&quot;shape&quot;:{&quot;fill&quot;:{&quot;solid&quot;:{&quot;brightness&quot;:0.6000000238418579,&quot;colorType&quot;:1,&quot;foreColorIndex&quot;:5,&quot;transparency&quot;:0.7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29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870_1*l_h_f*1_1_1"/>
  <p:tag name="KSO_WM_TEMPLATE_CATEGORY" val="diagram"/>
  <p:tag name="KSO_WM_TEMPLATE_INDEX" val="2023187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，简明扼要地阐述观点。根据需要可酌情增减文字，以便观者准确地理解您传达的思想。单击添加文本具体内容，简明扼要地阐述您的内容观点。"/>
  <p:tag name="KSO_WM_UNIT_TEXT_FILL_FORE_SCHEMECOLOR_INDEX" val="1"/>
  <p:tag name="KSO_WM_UNIT_TEXT_FILL_TYPE" val="1"/>
  <p:tag name="KSO_WM_UNIT_TEXT_TYPE" val="1"/>
  <p:tag name="KSO_WM_DIAGRAM_MAX_ITEMCNT" val="4"/>
  <p:tag name="KSO_WM_DIAGRAM_MIN_ITEMCNT" val="2"/>
  <p:tag name="KSO_WM_DIAGRAM_VIRTUALLY_FRAME" val="{&quot;height&quot;:383.5499932116444,&quot;left&quot;:47.94999999999999,&quot;top&quot;:118.65000339417773,&quot;width&quot;:864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870_1*l_h_a*1_1_1"/>
  <p:tag name="KSO_WM_TEMPLATE_CATEGORY" val="diagram"/>
  <p:tag name="KSO_WM_TEMPLATE_INDEX" val="2023187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标题"/>
  <p:tag name="KSO_WM_UNIT_TEXT_FILL_FORE_SCHEMECOLOR_INDEX" val="1"/>
  <p:tag name="KSO_WM_UNIT_TEXT_FILL_TYPE" val="1"/>
  <p:tag name="KSO_WM_UNIT_TEXT_TYPE" val="1"/>
  <p:tag name="KSO_WM_DIAGRAM_MAX_ITEMCNT" val="4"/>
  <p:tag name="KSO_WM_DIAGRAM_MIN_ITEMCNT" val="2"/>
  <p:tag name="KSO_WM_DIAGRAM_VIRTUALLY_FRAME" val="{&quot;height&quot;:383.5499932116444,&quot;left&quot;:47.94999999999999,&quot;top&quot;:118.65000339417773,&quot;width&quot;:864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1870_1*l_h_i*1_2_1"/>
  <p:tag name="KSO_WM_TEMPLATE_CATEGORY" val="diagram"/>
  <p:tag name="KSO_WM_TEMPLATE_INDEX" val="2023187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  <p:tag name="KSO_WM_DIAGRAM_MAX_ITEMCNT" val="4"/>
  <p:tag name="KSO_WM_DIAGRAM_MIN_ITEMCNT" val="2"/>
  <p:tag name="KSO_WM_DIAGRAM_VIRTUALLY_FRAME" val="{&quot;height&quot;:383.5499932116444,&quot;left&quot;:47.94999999999999,&quot;top&quot;:118.65000339417773,&quot;width&quot;:864.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32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870_1*l_h_f*1_2_1"/>
  <p:tag name="KSO_WM_TEMPLATE_CATEGORY" val="diagram"/>
  <p:tag name="KSO_WM_TEMPLATE_INDEX" val="2023187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，简明扼要地阐述您的观点。根据需要可酌情增减文字，以便观者准确地理解您传达的思想。单击此处添加文本具体内容，简明扼要地阐述您的内容观点。"/>
  <p:tag name="KSO_WM_UNIT_TEXT_TYPE" val="1"/>
  <p:tag name="KSO_WM_DIAGRAM_MAX_ITEMCNT" val="4"/>
  <p:tag name="KSO_WM_DIAGRAM_MIN_ITEMCNT" val="2"/>
  <p:tag name="KSO_WM_DIAGRAM_VIRTUALLY_FRAME" val="{&quot;height&quot;:383.5499932116444,&quot;left&quot;:47.94999999999999,&quot;top&quot;:118.65000339417773,&quot;width&quot;:864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3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870_1*l_h_a*1_2_1"/>
  <p:tag name="KSO_WM_TEMPLATE_CATEGORY" val="diagram"/>
  <p:tag name="KSO_WM_TEMPLATE_INDEX" val="2023187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标题"/>
  <p:tag name="KSO_WM_UNIT_TEXT_TYPE" val="1"/>
  <p:tag name="KSO_WM_DIAGRAM_MAX_ITEMCNT" val="4"/>
  <p:tag name="KSO_WM_DIAGRAM_MIN_ITEMCNT" val="2"/>
  <p:tag name="KSO_WM_DIAGRAM_VIRTUALLY_FRAME" val="{&quot;height&quot;:383.5499932116444,&quot;left&quot;:47.94999999999999,&quot;top&quot;:118.65000339417773,&quot;width&quot;:864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34.xml><?xml version="1.0" encoding="utf-8"?>
<p:tagLst xmlns:p="http://schemas.openxmlformats.org/presentationml/2006/main">
  <p:tag name="KSO_WM_UNIT_PLACING_PICTURE_USER_VIEWPORT" val="{&quot;height&quot;:1680,&quot;width&quot;:5039.99842519685}"/>
</p:tagLst>
</file>

<file path=ppt/tags/tag35.xml><?xml version="1.0" encoding="utf-8"?>
<p:tagLst xmlns:p="http://schemas.openxmlformats.org/presentationml/2006/main">
  <p:tag name="KSO_WM_SLIDE_ID" val="diagram20231870_1"/>
  <p:tag name="KSO_WM_TEMPLATE_SUBCATEGORY" val="0"/>
  <p:tag name="KSO_WM_TEMPLATE_MASTER_TYPE" val="0"/>
  <p:tag name="KSO_WM_TEMPLATE_COLOR_TYPE" val="0"/>
  <p:tag name="KSO_WM_SLIDE_ITEM_CNT" val="2"/>
  <p:tag name="KSO_WM_SLIDE_INDEX" val="1"/>
  <p:tag name="KSO_WM_TAG_VERSION" val="3.0"/>
  <p:tag name="KSO_WM_BEAUTIFY_FLAG" val="#wm#"/>
  <p:tag name="KSO_WM_TEMPLATE_CATEGORY" val="diagram"/>
  <p:tag name="KSO_WM_TEMPLATE_INDEX" val="20231870"/>
  <p:tag name="KSO_WM_SLIDE_TYPE" val="text"/>
  <p:tag name="KSO_WM_SLIDE_SUBTYPE" val="diag"/>
  <p:tag name="KSO_WM_SLIDE_SIZE" val="864.05*382.65"/>
  <p:tag name="KSO_WM_SLIDE_POSITION" val="47.95*119.1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36.xml><?xml version="1.0" encoding="utf-8"?>
<p:tagLst xmlns:p="http://schemas.openxmlformats.org/presentationml/2006/main">
  <p:tag name="KSO_WM_DIAGRAM_VIRTUALLY_FRAME" val="{&quot;height&quot;:428.95,&quot;left&quot;:393.75,&quot;top&quot;:97.15,&quot;width&quot;:497.4}"/>
</p:tagLst>
</file>

<file path=ppt/tags/tag37.xml><?xml version="1.0" encoding="utf-8"?>
<p:tagLst xmlns:p="http://schemas.openxmlformats.org/presentationml/2006/main">
  <p:tag name="KSO_WM_DIAGRAM_VIRTUALLY_FRAME" val="{&quot;height&quot;:428.95,&quot;left&quot;:393.75,&quot;top&quot;:97.15,&quot;width&quot;:497.4}"/>
</p:tagLst>
</file>

<file path=ppt/tags/tag38.xml><?xml version="1.0" encoding="utf-8"?>
<p:tagLst xmlns:p="http://schemas.openxmlformats.org/presentationml/2006/main">
  <p:tag name="KSO_WM_DIAGRAM_VIRTUALLY_FRAME" val="{&quot;height&quot;:428.95,&quot;left&quot;:393.75,&quot;top&quot;:97.15,&quot;width&quot;:497.4}"/>
</p:tagLst>
</file>

<file path=ppt/tags/tag39.xml><?xml version="1.0" encoding="utf-8"?>
<p:tagLst xmlns:p="http://schemas.openxmlformats.org/presentationml/2006/main">
  <p:tag name="KSO_WM_DIAGRAM_VIRTUALLY_FRAME" val="{&quot;height&quot;:428.95,&quot;left&quot;:393.75,&quot;top&quot;:97.15,&quot;width&quot;:497.4}"/>
</p:tagLst>
</file>

<file path=ppt/tags/tag40.xml><?xml version="1.0" encoding="utf-8"?>
<p:tagLst xmlns:p="http://schemas.openxmlformats.org/presentationml/2006/main">
  <p:tag name="KSO_WM_DIAGRAM_VIRTUALLY_FRAME" val="{&quot;height&quot;:428.95,&quot;left&quot;:393.75,&quot;top&quot;:97.15,&quot;width&quot;:497.4}"/>
</p:tagLst>
</file>

<file path=ppt/tags/tag41.xml><?xml version="1.0" encoding="utf-8"?>
<p:tagLst xmlns:p="http://schemas.openxmlformats.org/presentationml/2006/main">
  <p:tag name="KSO_WM_DIAGRAM_VIRTUALLY_FRAME" val="{&quot;height&quot;:428.95,&quot;left&quot;:393.75,&quot;top&quot;:97.15,&quot;width&quot;:497.4}"/>
</p:tagLst>
</file>

<file path=ppt/tags/tag42.xml><?xml version="1.0" encoding="utf-8"?>
<p:tagLst xmlns:p="http://schemas.openxmlformats.org/presentationml/2006/main">
  <p:tag name="KSO_WM_DIAGRAM_VIRTUALLY_FRAME" val="{&quot;height&quot;:428.95,&quot;left&quot;:393.75,&quot;top&quot;:97.15,&quot;width&quot;:497.4}"/>
</p:tagLst>
</file>

<file path=ppt/tags/tag43.xml><?xml version="1.0" encoding="utf-8"?>
<p:tagLst xmlns:p="http://schemas.openxmlformats.org/presentationml/2006/main">
  <p:tag name="KSO_WM_DIAGRAM_VIRTUALLY_FRAME" val="{&quot;height&quot;:428.95,&quot;left&quot;:393.75,&quot;top&quot;:97.15,&quot;width&quot;:497.4}"/>
</p:tagLst>
</file>

<file path=ppt/tags/tag44.xml><?xml version="1.0" encoding="utf-8"?>
<p:tagLst xmlns:p="http://schemas.openxmlformats.org/presentationml/2006/main">
  <p:tag name="KSO_WM_DIAGRAM_VIRTUALLY_FRAME" val="{&quot;height&quot;:339.0246915119646,&quot;left&quot;:53.68694045257812,&quot;top&quot;:118.0753084880354,&quot;width&quot;:815.6130595474218}"/>
</p:tagLst>
</file>

<file path=ppt/tags/tag45.xml><?xml version="1.0" encoding="utf-8"?>
<p:tagLst xmlns:p="http://schemas.openxmlformats.org/presentationml/2006/main">
  <p:tag name="KSO_WM_DIAGRAM_VIRTUALLY_FRAME" val="{&quot;height&quot;:339.0246915119646,&quot;left&quot;:53.68694045257812,&quot;top&quot;:118.0753084880354,&quot;width&quot;:815.6130595474218}"/>
</p:tagLst>
</file>

<file path=ppt/tags/tag46.xml><?xml version="1.0" encoding="utf-8"?>
<p:tagLst xmlns:p="http://schemas.openxmlformats.org/presentationml/2006/main">
  <p:tag name="KSO_WM_DIAGRAM_VIRTUALLY_FRAME" val="{&quot;height&quot;:339.0246915119646,&quot;left&quot;:53.68694045257812,&quot;top&quot;:118.0753084880354,&quot;width&quot;:815.6130595474218}"/>
</p:tagLst>
</file>

<file path=ppt/tags/tag47.xml><?xml version="1.0" encoding="utf-8"?>
<p:tagLst xmlns:p="http://schemas.openxmlformats.org/presentationml/2006/main">
  <p:tag name="KSO_WM_DIAGRAM_VIRTUALLY_FRAME" val="{&quot;height&quot;:339.0246915119646,&quot;left&quot;:53.68694045257812,&quot;top&quot;:118.0753084880354,&quot;width&quot;:815.6130595474218}"/>
</p:tagLst>
</file>

<file path=ppt/tags/tag48.xml><?xml version="1.0" encoding="utf-8"?>
<p:tagLst xmlns:p="http://schemas.openxmlformats.org/presentationml/2006/main">
  <p:tag name="KSO_WM_DIAGRAM_VIRTUALLY_FRAME" val="{&quot;height&quot;:339.0246915119646,&quot;left&quot;:53.68694045257812,&quot;top&quot;:118.0753084880354,&quot;width&quot;:815.6130595474218}"/>
</p:tagLst>
</file>

<file path=ppt/tags/tag49.xml><?xml version="1.0" encoding="utf-8"?>
<p:tagLst xmlns:p="http://schemas.openxmlformats.org/presentationml/2006/main">
  <p:tag name="KSO_WM_DIAGRAM_VIRTUALLY_FRAME" val="{&quot;height&quot;:339.0246915119646,&quot;left&quot;:53.68694045257812,&quot;top&quot;:118.0753084880354,&quot;width&quot;:815.6130595474218}"/>
</p:tagLst>
</file>

<file path=ppt/tags/tag50.xml><?xml version="1.0" encoding="utf-8"?>
<p:tagLst xmlns:p="http://schemas.openxmlformats.org/presentationml/2006/main">
  <p:tag name="KSO_WM_DIAGRAM_VIRTUALLY_FRAME" val="{&quot;height&quot;:339.0246915119646,&quot;left&quot;:53.68694045257812,&quot;top&quot;:118.0753084880354,&quot;width&quot;:815.6130595474218}"/>
</p:tagLst>
</file>

<file path=ppt/tags/tag51.xml><?xml version="1.0" encoding="utf-8"?>
<p:tagLst xmlns:p="http://schemas.openxmlformats.org/presentationml/2006/main">
  <p:tag name="KSO_WM_DIAGRAM_VIRTUALLY_FRAME" val="{&quot;height&quot;:339.0246915119646,&quot;left&quot;:53.68694045257812,&quot;top&quot;:118.0753084880354,&quot;width&quot;:815.6130595474218}"/>
</p:tagLst>
</file>

<file path=ppt/tags/tag52.xml><?xml version="1.0" encoding="utf-8"?>
<p:tagLst xmlns:p="http://schemas.openxmlformats.org/presentationml/2006/main">
  <p:tag name="KSO_WM_DIAGRAM_VIRTUALLY_FRAME" val="{&quot;height&quot;:339.0246915119646,&quot;left&quot;:53.68694045257812,&quot;top&quot;:118.0753084880354,&quot;width&quot;:815.6130595474218}"/>
</p:tagLst>
</file>

<file path=ppt/tags/tag53.xml><?xml version="1.0" encoding="utf-8"?>
<p:tagLst xmlns:p="http://schemas.openxmlformats.org/presentationml/2006/main">
  <p:tag name="KSO_WM_DIAGRAM_VIRTUALLY_FRAME" val="{&quot;height&quot;:339.0246915119646,&quot;left&quot;:53.68694045257812,&quot;top&quot;:118.0753084880354,&quot;width&quot;:815.6130595474218}"/>
</p:tagLst>
</file>

<file path=ppt/tags/tag54.xml><?xml version="1.0" encoding="utf-8"?>
<p:tagLst xmlns:p="http://schemas.openxmlformats.org/presentationml/2006/main">
  <p:tag name="KSO_WM_DIAGRAM_VIRTUALLY_FRAME" val="{&quot;height&quot;:339.0246915119646,&quot;left&quot;:53.68694045257812,&quot;top&quot;:118.0753084880354,&quot;width&quot;:815.6130595474218}"/>
</p:tagLst>
</file>

<file path=ppt/tags/tag55.xml><?xml version="1.0" encoding="utf-8"?>
<p:tagLst xmlns:p="http://schemas.openxmlformats.org/presentationml/2006/main">
  <p:tag name="KSO_WM_DIAGRAM_VIRTUALLY_FRAME" val="{&quot;height&quot;:339.0246915119646,&quot;left&quot;:53.68694045257812,&quot;top&quot;:118.0753084880354,&quot;width&quot;:815.6130595474218}"/>
</p:tagLst>
</file>

<file path=ppt/tags/tag56.xml><?xml version="1.0" encoding="utf-8"?>
<p:tagLst xmlns:p="http://schemas.openxmlformats.org/presentationml/2006/main">
  <p:tag name="KSO_WM_UNIT_PLACING_PICTURE_USER_VIEWPORT" val="{&quot;height&quot;:9995,&quot;width&quot;:17684}"/>
</p:tagLst>
</file>

<file path=ppt/tags/tag57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58.xml><?xml version="1.0" encoding="utf-8"?>
<p:tagLst xmlns:p="http://schemas.openxmlformats.org/presentationml/2006/main">
  <p:tag name="KSO_WM_UNIT_PLACING_PICTURE_USER_VIEWPORT" val="{&quot;height&quot;:1680,&quot;width&quot;:5039.99842519685}"/>
</p:tagLst>
</file>

<file path=ppt/tags/tag59.xml><?xml version="1.0" encoding="utf-8"?>
<p:tagLst xmlns:p="http://schemas.openxmlformats.org/presentationml/2006/main">
  <p:tag name="KSO_WM_DIAGRAM_VIRTUALLY_FRAME" val="{&quot;height&quot;:179.17496062992126,&quot;left&quot;:76.45,&quot;top&quot;:113.47503937007873,&quot;width&quot;:785.85}"/>
</p:tagLst>
</file>

<file path=ppt/tags/tag60.xml><?xml version="1.0" encoding="utf-8"?>
<p:tagLst xmlns:p="http://schemas.openxmlformats.org/presentationml/2006/main">
  <p:tag name="KSO_WM_DIAGRAM_VIRTUALLY_FRAME" val="{&quot;height&quot;:179.17496062992126,&quot;left&quot;:76.45,&quot;top&quot;:113.47503937007873,&quot;width&quot;:785.85}"/>
</p:tagLst>
</file>

<file path=ppt/tags/tag61.xml><?xml version="1.0" encoding="utf-8"?>
<p:tagLst xmlns:p="http://schemas.openxmlformats.org/presentationml/2006/main">
  <p:tag name="KSO_WM_DIAGRAM_VIRTUALLY_FRAME" val="{&quot;height&quot;:179.17496062992126,&quot;left&quot;:76.45,&quot;top&quot;:113.47503937007873,&quot;width&quot;:785.85}"/>
</p:tagLst>
</file>

<file path=ppt/tags/tag62.xml><?xml version="1.0" encoding="utf-8"?>
<p:tagLst xmlns:p="http://schemas.openxmlformats.org/presentationml/2006/main">
  <p:tag name="KSO_WM_DIAGRAM_VIRTUALLY_FRAME" val="{&quot;height&quot;:179.17496062992126,&quot;left&quot;:76.45,&quot;top&quot;:113.47503937007873,&quot;width&quot;:785.85}"/>
</p:tagLst>
</file>

<file path=ppt/tags/tag63.xml><?xml version="1.0" encoding="utf-8"?>
<p:tagLst xmlns:p="http://schemas.openxmlformats.org/presentationml/2006/main">
  <p:tag name="KSO_WM_DIAGRAM_VIRTUALLY_FRAME" val="{&quot;height&quot;:179.17496062992126,&quot;left&quot;:76.45,&quot;top&quot;:113.47503937007873,&quot;width&quot;:785.85}"/>
</p:tagLst>
</file>

<file path=ppt/tags/tag64.xml><?xml version="1.0" encoding="utf-8"?>
<p:tagLst xmlns:p="http://schemas.openxmlformats.org/presentationml/2006/main">
  <p:tag name="KSO_WM_DIAGRAM_VIRTUALLY_FRAME" val="{&quot;height&quot;:179.17496062992126,&quot;left&quot;:76.45,&quot;top&quot;:113.47503937007873,&quot;width&quot;:785.85}"/>
</p:tagLst>
</file>

<file path=ppt/tags/tag65.xml><?xml version="1.0" encoding="utf-8"?>
<p:tagLst xmlns:p="http://schemas.openxmlformats.org/presentationml/2006/main">
  <p:tag name="KSO_WM_DIAGRAM_VIRTUALLY_FRAME" val="{&quot;height&quot;:179.17496062992126,&quot;left&quot;:76.45,&quot;top&quot;:113.47503937007873,&quot;width&quot;:785.85}"/>
</p:tagLst>
</file>

<file path=ppt/tags/tag66.xml><?xml version="1.0" encoding="utf-8"?>
<p:tagLst xmlns:p="http://schemas.openxmlformats.org/presentationml/2006/main">
  <p:tag name="KSO_WM_DIAGRAM_VIRTUALLY_FRAME" val="{&quot;height&quot;:179.17496062992126,&quot;left&quot;:76.45,&quot;top&quot;:113.47503937007873,&quot;width&quot;:785.85}"/>
</p:tagLst>
</file>

<file path=ppt/tags/tag67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68.xml><?xml version="1.0" encoding="utf-8"?>
<p:tagLst xmlns:p="http://schemas.openxmlformats.org/presentationml/2006/main">
  <p:tag name="KSO_WM_DIAGRAM_VIRTUALLY_FRAME" val="{&quot;height&quot;:340.55,&quot;left&quot;:89.7,&quot;top&quot;:129.25,&quot;width&quot;:787.65}"/>
</p:tagLst>
</file>

<file path=ppt/tags/tag69.xml><?xml version="1.0" encoding="utf-8"?>
<p:tagLst xmlns:p="http://schemas.openxmlformats.org/presentationml/2006/main">
  <p:tag name="KSO_WM_DIAGRAM_VIRTUALLY_FRAME" val="{&quot;height&quot;:340.55,&quot;left&quot;:89.7,&quot;top&quot;:129.25,&quot;width&quot;:787.65}"/>
</p:tagLst>
</file>

<file path=ppt/tags/tag70.xml><?xml version="1.0" encoding="utf-8"?>
<p:tagLst xmlns:p="http://schemas.openxmlformats.org/presentationml/2006/main">
  <p:tag name="KSO_WM_DIAGRAM_VIRTUALLY_FRAME" val="{&quot;height&quot;:340.55,&quot;left&quot;:89.7,&quot;top&quot;:129.25,&quot;width&quot;:787.65}"/>
</p:tagLst>
</file>

<file path=ppt/tags/tag71.xml><?xml version="1.0" encoding="utf-8"?>
<p:tagLst xmlns:p="http://schemas.openxmlformats.org/presentationml/2006/main">
  <p:tag name="KSO_WM_DIAGRAM_VIRTUALLY_FRAME" val="{&quot;height&quot;:340.55,&quot;left&quot;:89.7,&quot;top&quot;:129.25,&quot;width&quot;:787.65}"/>
</p:tagLst>
</file>

<file path=ppt/tags/tag72.xml><?xml version="1.0" encoding="utf-8"?>
<p:tagLst xmlns:p="http://schemas.openxmlformats.org/presentationml/2006/main">
  <p:tag name="KSO_WM_DIAGRAM_VIRTUALLY_FRAME" val="{&quot;height&quot;:340.55,&quot;left&quot;:89.7,&quot;top&quot;:129.25,&quot;width&quot;:787.65}"/>
</p:tagLst>
</file>

<file path=ppt/tags/tag73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74.xml><?xml version="1.0" encoding="utf-8"?>
<p:tagLst xmlns:p="http://schemas.openxmlformats.org/presentationml/2006/main">
  <p:tag name="TABLE_ENDDRAG_ORIGIN_RECT" val="317*252"/>
  <p:tag name="TABLE_ENDDRAG_RECT" val="42*145*317*252"/>
</p:tagLst>
</file>

<file path=ppt/tags/tag75.xml><?xml version="1.0" encoding="utf-8"?>
<p:tagLst xmlns:p="http://schemas.openxmlformats.org/presentationml/2006/main">
  <p:tag name="KSO_WM_UNIT_PLACING_PICTURE_USER_VIEWPORT" val="{&quot;height&quot;:4917,&quot;width&quot;:11189}"/>
  <p:tag name="KSO_WM_UNIT_PLACING_PICTURE_USER_RELATIVERECTANGLE" val="{&quot;bottom&quot;:0,&quot;left&quot;:0,&quot;right&quot;:0,&quot;top&quot;:0}"/>
  <p:tag name="KSO_WM_UNIT_PLACING_PICTURE_COLLAGE_RELATIVERECTANGLE" val="{&quot;height&quot;:2880.885563033902,&quot;width&quot;:10764.425962878451}"/>
  <p:tag name="KSO_WM_UNIT_PLACING_PICTURE_COLLAGE_VIEWPORT" val="{&quot;height&quot;:5138.5,&quot;width&quot;:19199.999999999996}"/>
  <p:tag name="KSO_WM_UNIT_PLACING_PICTURE_INFO" val="{&quot;code&quot;:&quot;A[5]&quot;,&quot;full_picture&quot;:false,&quot;last_crop_picture&quot;:&quot;A[5]&quot;,&quot;scheme&quot;:&quot;2-1&quot;,&quot;spacing&quot;:5}"/>
  <p:tag name="KSO_WM_UNIT_PLACING_PICTURE" val="215413.755"/>
  <p:tag name="KSO_WM_BEAUTIFY_FLAG" val=""/>
  <p:tag name="KSO_WM_UNIT_INDEX" val=""/>
  <p:tag name="KSO_WM_UNIT_ID" val=""/>
</p:tagLst>
</file>

<file path=ppt/tags/tag76.xml><?xml version="1.0" encoding="utf-8"?>
<p:tagLst xmlns:p="http://schemas.openxmlformats.org/presentationml/2006/main">
  <p:tag name="KSO_WM_UNIT_PLACING_PICTURE" val="215413.755"/>
  <p:tag name="KSO_WM_BEAUTIFY_FLAG" val=""/>
  <p:tag name="KSO_WM_UNIT_INDEX" val=""/>
  <p:tag name="KSO_WM_UNIT_ID" val=""/>
  <p:tag name="KSO_WM_UNIT_PLACING_PICTURE_USER_RELATIVERECTANGLE" val="{&quot;bottom&quot;:0,&quot;left&quot;:0,&quot;right&quot;:0,&quot;top&quot;:0}"/>
  <p:tag name="KSO_WM_UNIT_PLACING_PICTURE_COLLAGE_RELATIVERECTANGLE" val="{&quot;height&quot;:2887.333005667918,&quot;width&quot;:10787.973144672249}"/>
  <p:tag name="KSO_WM_UNIT_PLACING_PICTURE_COLLAGE_VIEWPORT" val="{&quot;height&quot;:5138.5,&quot;width&quot;:19199.999999999996}"/>
  <p:tag name="KSO_WM_UNIT_PLACING_PICTURE_INFO" val="{&quot;code&quot;:&quot;A[5]&quot;,&quot;full_picture&quot;:false,&quot;last_crop_picture&quot;:&quot;A[5]&quot;,&quot;scheme&quot;:&quot;2-1&quot;,&quot;spacing&quot;:5}"/>
  <p:tag name="KSO_WM_UNIT_PLACING_PICTURE_USER_VIEWPORT" val="{&quot;height&quot;:4493,&quot;width&quot;:11178}"/>
</p:tagLst>
</file>

<file path=ppt/tags/tag77.xml><?xml version="1.0" encoding="utf-8"?>
<p:tagLst xmlns:p="http://schemas.openxmlformats.org/presentationml/2006/main">
  <p:tag name="KSO_WM_UNIT_PLACING_PICTURE_USER_VIEWPORT" val="{&quot;height&quot;:1680,&quot;width&quot;:5039.99842519685}"/>
</p:tagLst>
</file>

<file path=ppt/tags/tag78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79.xml><?xml version="1.0" encoding="utf-8"?>
<p:tagLst xmlns:p="http://schemas.openxmlformats.org/presentationml/2006/main">
  <p:tag name="KSO_WM_DIAGRAM_VIRTUALLY_FRAME" val="{&quot;height&quot;:179.17496062992126,&quot;left&quot;:76.45,&quot;top&quot;:113.47503937007873,&quot;width&quot;:785.85}"/>
</p:tagLst>
</file>

<file path=ppt/tags/tag80.xml><?xml version="1.0" encoding="utf-8"?>
<p:tagLst xmlns:p="http://schemas.openxmlformats.org/presentationml/2006/main">
  <p:tag name="KSO_WM_DIAGRAM_VIRTUALLY_FRAME" val="{&quot;height&quot;:179.17496062992126,&quot;left&quot;:76.45,&quot;top&quot;:113.47503937007873,&quot;width&quot;:785.85}"/>
</p:tagLst>
</file>

<file path=ppt/tags/tag81.xml><?xml version="1.0" encoding="utf-8"?>
<p:tagLst xmlns:p="http://schemas.openxmlformats.org/presentationml/2006/main">
  <p:tag name="KSO_WM_DIAGRAM_VIRTUALLY_FRAME" val="{&quot;height&quot;:179.17496062992126,&quot;left&quot;:76.45,&quot;top&quot;:113.47503937007873,&quot;width&quot;:785.85}"/>
</p:tagLst>
</file>

<file path=ppt/tags/tag82.xml><?xml version="1.0" encoding="utf-8"?>
<p:tagLst xmlns:p="http://schemas.openxmlformats.org/presentationml/2006/main">
  <p:tag name="KSO_WM_DIAGRAM_VIRTUALLY_FRAME" val="{&quot;height&quot;:179.17496062992126,&quot;left&quot;:76.45,&quot;top&quot;:113.47503937007873,&quot;width&quot;:785.85}"/>
</p:tagLst>
</file>

<file path=ppt/tags/tag83.xml><?xml version="1.0" encoding="utf-8"?>
<p:tagLst xmlns:p="http://schemas.openxmlformats.org/presentationml/2006/main">
  <p:tag name="KSO_WM_UNIT_PLACING_PICTURE_USER_VIEWPORT" val="{&quot;height&quot;:1680,&quot;width&quot;:5039.99842519685}"/>
</p:tagLst>
</file>

<file path=ppt/tags/tag84.xml><?xml version="1.0" encoding="utf-8"?>
<p:tagLst xmlns:p="http://schemas.openxmlformats.org/presentationml/2006/main">
  <p:tag name="KSO_WM_DIAGRAM_VIRTUALLY_FRAME" val="{&quot;height&quot;:179.17496062992126,&quot;left&quot;:76.45,&quot;top&quot;:113.47503937007873,&quot;width&quot;:785.85}"/>
</p:tagLst>
</file>

<file path=ppt/tags/tag85.xml><?xml version="1.0" encoding="utf-8"?>
<p:tagLst xmlns:p="http://schemas.openxmlformats.org/presentationml/2006/main">
  <p:tag name="KSO_WM_DIAGRAM_VIRTUALLY_FRAME" val="{&quot;height&quot;:179.17496062992126,&quot;left&quot;:76.45,&quot;top&quot;:113.47503937007873,&quot;width&quot;:785.85}"/>
</p:tagLst>
</file>

<file path=ppt/tags/tag86.xml><?xml version="1.0" encoding="utf-8"?>
<p:tagLst xmlns:p="http://schemas.openxmlformats.org/presentationml/2006/main">
  <p:tag name="KSO_WM_DIAGRAM_VIRTUALLY_FRAME" val="{&quot;height&quot;:179.17496062992126,&quot;left&quot;:76.45,&quot;top&quot;:113.47503937007873,&quot;width&quot;:785.85}"/>
</p:tagLst>
</file>

<file path=ppt/tags/tag87.xml><?xml version="1.0" encoding="utf-8"?>
<p:tagLst xmlns:p="http://schemas.openxmlformats.org/presentationml/2006/main">
  <p:tag name="KSO_WM_DIAGRAM_VIRTUALLY_FRAME" val="{&quot;height&quot;:179.17496062992126,&quot;left&quot;:76.45,&quot;top&quot;:113.47503937007873,&quot;width&quot;:785.85}"/>
</p:tagLst>
</file>

<file path=ppt/tags/tag88.xml><?xml version="1.0" encoding="utf-8"?>
<p:tagLst xmlns:p="http://schemas.openxmlformats.org/presentationml/2006/main">
  <p:tag name="KSO_WM_DIAGRAM_VIRTUALLY_FRAME" val="{&quot;height&quot;:179.17496062992126,&quot;left&quot;:76.45,&quot;top&quot;:113.47503937007873,&quot;width&quot;:785.85}"/>
</p:tagLst>
</file>

<file path=ppt/tags/tag89.xml><?xml version="1.0" encoding="utf-8"?>
<p:tagLst xmlns:p="http://schemas.openxmlformats.org/presentationml/2006/main">
  <p:tag name="KSO_WM_DIAGRAM_VIRTUALLY_FRAME" val="{&quot;height&quot;:179.17496062992126,&quot;left&quot;:76.45,&quot;top&quot;:113.47503937007873,&quot;width&quot;:785.85}"/>
</p:tagLst>
</file>

<file path=ppt/tags/tag90.xml><?xml version="1.0" encoding="utf-8"?>
<p:tagLst xmlns:p="http://schemas.openxmlformats.org/presentationml/2006/main">
  <p:tag name="KSO_WM_DIAGRAM_VIRTUALLY_FRAME" val="{&quot;height&quot;:179.17496062992126,&quot;left&quot;:76.45,&quot;top&quot;:113.47503937007873,&quot;width&quot;:785.85}"/>
</p:tagLst>
</file>

<file path=ppt/tags/tag91.xml><?xml version="1.0" encoding="utf-8"?>
<p:tagLst xmlns:p="http://schemas.openxmlformats.org/presentationml/2006/main">
  <p:tag name="KSO_WM_DIAGRAM_VIRTUALLY_FRAME" val="{&quot;height&quot;:179.17496062992126,&quot;left&quot;:76.45,&quot;top&quot;:113.47503937007873,&quot;width&quot;:785.85}"/>
</p:tagLst>
</file>

<file path=ppt/tags/tag92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93.xml><?xml version="1.0" encoding="utf-8"?>
<p:tagLst xmlns:p="http://schemas.openxmlformats.org/presentationml/2006/main">
  <p:tag name="KSO_WM_UNIT_PLACING_PICTURE_USER_VIEWPORT" val="{&quot;height&quot;:2108,&quot;width&quot;:3410}"/>
</p:tagLst>
</file>

<file path=ppt/tags/tag94.xml><?xml version="1.0" encoding="utf-8"?>
<p:tagLst xmlns:p="http://schemas.openxmlformats.org/presentationml/2006/main">
  <p:tag name="KSO_WM_UNIT_PLACING_PICTURE_USER_VIEWPORT" val="{&quot;height&quot;:4161,&quot;width&quot;:7022}"/>
</p:tagLst>
</file>

<file path=ppt/tags/tag95.xml><?xml version="1.0" encoding="utf-8"?>
<p:tagLst xmlns:p="http://schemas.openxmlformats.org/presentationml/2006/main">
  <p:tag name="KSO_WM_DIAGRAM_VIRTUALLY_FRAME" val="{&quot;height&quot;:377.1,&quot;left&quot;:332.65,&quot;top&quot;:91.85,&quot;width&quot;:567.65}"/>
</p:tagLst>
</file>

<file path=ppt/tags/tag96.xml><?xml version="1.0" encoding="utf-8"?>
<p:tagLst xmlns:p="http://schemas.openxmlformats.org/presentationml/2006/main">
  <p:tag name="KSO_WM_UNIT_PLACING_PICTURE_USER_VIEWPORT" val="{&quot;height&quot;:1680,&quot;width&quot;:5039.99842519685}"/>
</p:tagLst>
</file>

<file path=ppt/tags/tag97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98.xml><?xml version="1.0" encoding="utf-8"?>
<p:tagLst xmlns:p="http://schemas.openxmlformats.org/presentationml/2006/main">
  <p:tag name="KSO_WM_DIAGRAM_VIRTUALLY_FRAME" val="{&quot;height&quot;:377.1,&quot;left&quot;:332.65,&quot;top&quot;:91.85,&quot;width&quot;:567.65}"/>
</p:tagLst>
</file>

<file path=ppt/tags/tag99.xml><?xml version="1.0" encoding="utf-8"?>
<p:tagLst xmlns:p="http://schemas.openxmlformats.org/presentationml/2006/main">
  <p:tag name="KSO_WM_UNIT_PLACING_PICTURE_USER_VIEWPORT" val="{&quot;height&quot;:3095,&quot;width&quot;:3894}"/>
</p:tagLst>
</file>

<file path=ppt/tags/tag100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101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102.xml><?xml version="1.0" encoding="utf-8"?>
<p:tagLst xmlns:p="http://schemas.openxmlformats.org/presentationml/2006/main">
  <p:tag name="KSO_WM_UNIT_PLACING_PICTURE_USER_VIEWPORT" val="{&quot;height&quot;:8570,&quot;width&quot;:7782}"/>
</p:tagLst>
</file>

<file path=ppt/tags/tag103.xml><?xml version="1.0" encoding="utf-8"?>
<p:tagLst xmlns:p="http://schemas.openxmlformats.org/presentationml/2006/main">
  <p:tag name="KSO_WM_DIAGRAM_VIRTUALLY_FRAME" val="{&quot;height&quot;:490.94204724409445,&quot;left&quot;:661.7437795275588,&quot;top&quot;:159.45133858267715,&quot;width&quot;:626.4122834645672}"/>
</p:tagLst>
</file>

<file path=ppt/tags/tag104.xml><?xml version="1.0" encoding="utf-8"?>
<p:tagLst xmlns:p="http://schemas.openxmlformats.org/presentationml/2006/main">
  <p:tag name="KSO_WM_DIAGRAM_VIRTUALLY_FRAME" val="{&quot;height&quot;:490.94204724409445,&quot;left&quot;:661.7437795275588,&quot;top&quot;:159.45133858267715,&quot;width&quot;:626.4122834645672}"/>
</p:tagLst>
</file>

<file path=ppt/tags/tag105.xml><?xml version="1.0" encoding="utf-8"?>
<p:tagLst xmlns:p="http://schemas.openxmlformats.org/presentationml/2006/main">
  <p:tag name="KSO_WM_DIAGRAM_VIRTUALLY_FRAME" val="{&quot;height&quot;:490.94204724409445,&quot;left&quot;:661.7437795275588,&quot;top&quot;:159.45133858267715,&quot;width&quot;:626.4122834645672}"/>
</p:tagLst>
</file>

<file path=ppt/tags/tag106.xml><?xml version="1.0" encoding="utf-8"?>
<p:tagLst xmlns:p="http://schemas.openxmlformats.org/presentationml/2006/main">
  <p:tag name="KSO_WM_DIAGRAM_VIRTUALLY_FRAME" val="{&quot;height&quot;:490.94204724409445,&quot;left&quot;:661.7437795275588,&quot;top&quot;:159.45133858267715,&quot;width&quot;:626.4122834645672}"/>
</p:tagLst>
</file>

<file path=ppt/tags/tag107.xml><?xml version="1.0" encoding="utf-8"?>
<p:tagLst xmlns:p="http://schemas.openxmlformats.org/presentationml/2006/main">
  <p:tag name="KSO_WM_DIAGRAM_VIRTUALLY_FRAME" val="{&quot;height&quot;:490.94204724409445,&quot;left&quot;:661.7437795275588,&quot;top&quot;:159.45133858267715,&quot;width&quot;:626.4122834645672}"/>
</p:tagLst>
</file>

<file path=ppt/tags/tag108.xml><?xml version="1.0" encoding="utf-8"?>
<p:tagLst xmlns:p="http://schemas.openxmlformats.org/presentationml/2006/main">
  <p:tag name="KSO_WM_DIAGRAM_VIRTUALLY_FRAME" val="{&quot;height&quot;:490.94204724409445,&quot;left&quot;:661.7437795275588,&quot;top&quot;:159.45133858267715,&quot;width&quot;:626.4122834645672}"/>
</p:tagLst>
</file>

<file path=ppt/tags/tag109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110.xml><?xml version="1.0" encoding="utf-8"?>
<p:tagLst xmlns:p="http://schemas.openxmlformats.org/presentationml/2006/main">
  <p:tag name="KSO_WM_UNIT_PLACING_PICTURE_USER_VIEWPORT" val="{&quot;height&quot;:8053,&quot;width&quot;:9652}"/>
</p:tagLst>
</file>

<file path=ppt/tags/tag111.xml><?xml version="1.0" encoding="utf-8"?>
<p:tagLst xmlns:p="http://schemas.openxmlformats.org/presentationml/2006/main">
  <p:tag name="KSO_WM_UNIT_PLACING_PICTURE_USER_VIEWPORT" val="{&quot;height&quot;:937,&quot;width&quot;:5793.700787401574}"/>
  <p:tag name="KSO_WM_UNIT_PLACING_PICTURE_USER_RELATIVERECTANGLE" val="{&quot;bottom&quot;:0,&quot;left&quot;:0,&quot;right&quot;:0,&quot;top&quot;:0}"/>
  <p:tag name="KSO_WM_UNIT_PLACING_PICTURE_COLLAGE_RELATIVERECTANGLE" val="{&quot;bottom&quot;:0,&quot;left&quot;:0.3921817522877594,&quot;right&quot;:0.3921817522877594,&quot;top&quot;:0}"/>
  <p:tag name="KSO_WM_UNIT_PLACING_PICTURE_COLLAGE_VIEWPORT" val="{&quot;height&quot;:7104.738284119043,&quot;width&quot;:9472.984378825387}"/>
</p:tagLst>
</file>

<file path=ppt/tags/tag112.xml><?xml version="1.0" encoding="utf-8"?>
<p:tagLst xmlns:p="http://schemas.openxmlformats.org/presentationml/2006/main">
  <p:tag name="KSO_WM_UNIT_PLACING_PICTURE_USER_VIEWPORT" val="{&quot;height&quot;:2471,&quot;width&quot;:11421.626771653544}"/>
</p:tagLst>
</file>

<file path=ppt/tags/tag113.xml><?xml version="1.0" encoding="utf-8"?>
<p:tagLst xmlns:p="http://schemas.openxmlformats.org/presentationml/2006/main">
  <p:tag name="KSO_WM_UNIT_PLACING_PICTURE_USER_VIEWPORT" val="{&quot;height&quot;:937,&quot;width&quot;:5793.700787401574}"/>
</p:tagLst>
</file>

<file path=ppt/tags/tag114.xml><?xml version="1.0" encoding="utf-8"?>
<p:tagLst xmlns:p="http://schemas.openxmlformats.org/presentationml/2006/main">
  <p:tag name="KSO_WM_UNIT_PLACING_PICTURE_USER_VIEWPORT" val="{&quot;height&quot;:2471,&quot;width&quot;:11421.626771653544}"/>
</p:tagLst>
</file>

<file path=ppt/tags/tag115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116.xml><?xml version="1.0" encoding="utf-8"?>
<p:tagLst xmlns:p="http://schemas.openxmlformats.org/presentationml/2006/main">
  <p:tag name="KSO_WM_UNIT_PLACING_PICTURE_USER_VIEWPORT" val="{&quot;height&quot;:1680,&quot;width&quot;:5039.99842519685}"/>
</p:tagLst>
</file>

<file path=ppt/tags/tag117.xml><?xml version="1.0" encoding="utf-8"?>
<p:tagLst xmlns:p="http://schemas.openxmlformats.org/presentationml/2006/main">
  <p:tag name="KSO_WM_UNIT_PLACING_PICTURE_USER_VIEWPORT" val="{&quot;height&quot;:7453,&quot;width&quot;:16235}"/>
</p:tagLst>
</file>

<file path=ppt/tags/tag118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119.xml><?xml version="1.0" encoding="utf-8"?>
<p:tagLst xmlns:p="http://schemas.openxmlformats.org/presentationml/2006/main">
  <p:tag name="KSO_WM_UNIT_PLACING_PICTURE_USER_VIEWPORT" val="{&quot;height&quot;:1680,&quot;width&quot;:5039.99842519685}"/>
</p:tagLst>
</file>

<file path=ppt/tags/tag120.xml><?xml version="1.0" encoding="utf-8"?>
<p:tagLst xmlns:p="http://schemas.openxmlformats.org/presentationml/2006/main">
  <p:tag name="KSO_WM_UNIT_PLACING_PICTURE_USER_VIEWPORT" val="{&quot;height&quot;:9252,&quot;width&quot;:9985}"/>
</p:tagLst>
</file>

<file path=ppt/tags/tag121.xml><?xml version="1.0" encoding="utf-8"?>
<p:tagLst xmlns:p="http://schemas.openxmlformats.org/presentationml/2006/main">
  <p:tag name="KSO_WM_UNIT_PLACING_PICTURE_USER_VIEWPORT" val="{&quot;height&quot;:8460,&quot;width&quot;:11068}"/>
</p:tagLst>
</file>

<file path=ppt/tags/tag122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123.xml><?xml version="1.0" encoding="utf-8"?>
<p:tagLst xmlns:p="http://schemas.openxmlformats.org/presentationml/2006/main">
  <p:tag name="KSO_WM_UNIT_PLACING_PICTURE_USER_VIEWPORT" val="{&quot;height&quot;:8546,&quot;width&quot;:15966}"/>
</p:tagLst>
</file>

<file path=ppt/tags/tag124.xml><?xml version="1.0" encoding="utf-8"?>
<p:tagLst xmlns:p="http://schemas.openxmlformats.org/presentationml/2006/main">
  <p:tag name="KSO_WM_UNIT_PLACING_PICTURE_USER_VIEWPORT" val="{&quot;height&quot;:1680,&quot;width&quot;:5039.99842519685}"/>
</p:tagLst>
</file>

<file path=ppt/tags/tag125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126.xml><?xml version="1.0" encoding="utf-8"?>
<p:tagLst xmlns:p="http://schemas.openxmlformats.org/presentationml/2006/main">
  <p:tag name="KSO_WM_UNIT_PLACING_PICTURE_USER_VIEWPORT" val="{&quot;height&quot;:11265,&quot;width&quot;:21210}"/>
</p:tagLst>
</file>

<file path=ppt/tags/tag127.xml><?xml version="1.0" encoding="utf-8"?>
<p:tagLst xmlns:p="http://schemas.openxmlformats.org/presentationml/2006/main">
  <p:tag name="KSO_WM_UNIT_PLACING_PICTURE_USER_VIEWPORT" val="{&quot;height&quot;:1680,&quot;width&quot;:5039.99842519685}"/>
</p:tagLst>
</file>

<file path=ppt/tags/tag128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129.xml><?xml version="1.0" encoding="utf-8"?>
<p:tagLst xmlns:p="http://schemas.openxmlformats.org/presentationml/2006/main">
  <p:tag name="KSO_WM_DIAGRAM_VIRTUALLY_FRAME" val="{&quot;height&quot;:311.9,&quot;left&quot;:85.55,&quot;top&quot;:243.25,&quot;width&quot;:783.3}"/>
</p:tagLst>
</file>

<file path=ppt/tags/tag130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131.xml><?xml version="1.0" encoding="utf-8"?>
<p:tagLst xmlns:p="http://schemas.openxmlformats.org/presentationml/2006/main">
  <p:tag name="KSO_WM_DIAGRAM_VIRTUALLY_FRAME" val="{&quot;height&quot;:508.82433070866136,&quot;left&quot;:32.25,&quot;top&quot;:29.95,&quot;width&quot;:891.4381889763779}"/>
</p:tagLst>
</file>

<file path=ppt/tags/tag132.xml><?xml version="1.0" encoding="utf-8"?>
<p:tagLst xmlns:p="http://schemas.openxmlformats.org/presentationml/2006/main">
  <p:tag name="KSO_WM_DIAGRAM_VIRTUALLY_FRAME" val="{&quot;height&quot;:508.82433070866136,&quot;left&quot;:32.25,&quot;top&quot;:29.95,&quot;width&quot;:891.4381889763779}"/>
</p:tagLst>
</file>

<file path=ppt/tags/tag133.xml><?xml version="1.0" encoding="utf-8"?>
<p:tagLst xmlns:p="http://schemas.openxmlformats.org/presentationml/2006/main">
  <p:tag name="KSO_WM_DIAGRAM_VIRTUALLY_FRAME" val="{&quot;height&quot;:508.82433070866136,&quot;left&quot;:32.25,&quot;top&quot;:29.95,&quot;width&quot;:891.4381889763779}"/>
</p:tagLst>
</file>

<file path=ppt/tags/tag134.xml><?xml version="1.0" encoding="utf-8"?>
<p:tagLst xmlns:p="http://schemas.openxmlformats.org/presentationml/2006/main">
  <p:tag name="KSO_WM_DIAGRAM_VIRTUALLY_FRAME" val="{&quot;height&quot;:508.82433070866136,&quot;left&quot;:32.25,&quot;top&quot;:29.95,&quot;width&quot;:891.4381889763779}"/>
</p:tagLst>
</file>

<file path=ppt/tags/tag135.xml><?xml version="1.0" encoding="utf-8"?>
<p:tagLst xmlns:p="http://schemas.openxmlformats.org/presentationml/2006/main">
  <p:tag name="KSO_WM_DIAGRAM_VIRTUALLY_FRAME" val="{&quot;height&quot;:508.82433070866136,&quot;left&quot;:32.25,&quot;top&quot;:29.95,&quot;width&quot;:891.4381889763779}"/>
  <p:tag name="KSO_WM_UNIT_PLACING_PICTURE_USER_VIEWPORT" val="{&quot;height&quot;:4792.486614173228,&quot;width&quot;:4524.094488188976}"/>
</p:tagLst>
</file>

<file path=ppt/tags/tag136.xml><?xml version="1.0" encoding="utf-8"?>
<p:tagLst xmlns:p="http://schemas.openxmlformats.org/presentationml/2006/main">
  <p:tag name="KSO_WM_DIAGRAM_VIRTUALLY_FRAME" val="{&quot;height&quot;:508.82433070866136,&quot;left&quot;:32.25,&quot;top&quot;:29.95,&quot;width&quot;:891.4381889763779}"/>
</p:tagLst>
</file>

<file path=ppt/tags/tag137.xml><?xml version="1.0" encoding="utf-8"?>
<p:tagLst xmlns:p="http://schemas.openxmlformats.org/presentationml/2006/main">
  <p:tag name="KSO_WM_DIAGRAM_VIRTUALLY_FRAME" val="{&quot;height&quot;:508.82433070866136,&quot;left&quot;:32.25,&quot;top&quot;:29.95,&quot;width&quot;:891.4381889763779}"/>
</p:tagLst>
</file>

<file path=ppt/tags/tag138.xml><?xml version="1.0" encoding="utf-8"?>
<p:tagLst xmlns:p="http://schemas.openxmlformats.org/presentationml/2006/main">
  <p:tag name="KSO_WM_DIAGRAM_VIRTUALLY_FRAME" val="{&quot;height&quot;:508.82433070866136,&quot;left&quot;:32.25,&quot;top&quot;:29.95,&quot;width&quot;:891.4381889763779}"/>
</p:tagLst>
</file>

<file path=ppt/tags/tag139.xml><?xml version="1.0" encoding="utf-8"?>
<p:tagLst xmlns:p="http://schemas.openxmlformats.org/presentationml/2006/main">
  <p:tag name="KSO_WM_DIAGRAM_VIRTUALLY_FRAME" val="{&quot;height&quot;:508.82433070866136,&quot;left&quot;:32.25,&quot;top&quot;:29.95,&quot;width&quot;:891.4381889763779}"/>
</p:tagLst>
</file>

<file path=ppt/tags/tag140.xml><?xml version="1.0" encoding="utf-8"?>
<p:tagLst xmlns:p="http://schemas.openxmlformats.org/presentationml/2006/main">
  <p:tag name="KSO_WM_DIAGRAM_VIRTUALLY_FRAME" val="{&quot;height&quot;:508.82433070866136,&quot;left&quot;:32.25,&quot;top&quot;:29.95,&quot;width&quot;:891.4381889763779}"/>
</p:tagLst>
</file>

<file path=ppt/tags/tag141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142.xml><?xml version="1.0" encoding="utf-8"?>
<p:tagLst xmlns:p="http://schemas.openxmlformats.org/presentationml/2006/main">
  <p:tag name="KSO_WM_UNIT_PLACING_PICTURE_USER_VIEWPORT" val="{&quot;height&quot;:1680,&quot;width&quot;:5039.99842519685}"/>
</p:tagLst>
</file>

<file path=ppt/tags/tag143.xml><?xml version="1.0" encoding="utf-8"?>
<p:tagLst xmlns:p="http://schemas.openxmlformats.org/presentationml/2006/main">
  <p:tag name="KSO_WM_UNIT_PLACING_PICTURE_USER_VIEWPORT" val="{&quot;height&quot;:878,&quot;width&quot;:17623}"/>
</p:tagLst>
</file>

<file path=ppt/tags/tag144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145.xml><?xml version="1.0" encoding="utf-8"?>
<p:tagLst xmlns:p="http://schemas.openxmlformats.org/presentationml/2006/main">
  <p:tag name="KSO_WM_UNIT_PLACING_PICTURE_USER_VIEWPORT" val="{&quot;height&quot;:6613,&quot;width&quot;:10583}"/>
</p:tagLst>
</file>

<file path=ppt/tags/tag146.xml><?xml version="1.0" encoding="utf-8"?>
<p:tagLst xmlns:p="http://schemas.openxmlformats.org/presentationml/2006/main">
  <p:tag name="KSO_WM_DIAGRAM_VIRTUALLY_FRAME" val="{&quot;height&quot;:311.9,&quot;left&quot;:85.55,&quot;top&quot;:243.25,&quot;width&quot;:783.3}"/>
</p:tagLst>
</file>

<file path=ppt/tags/tag147.xml><?xml version="1.0" encoding="utf-8"?>
<p:tagLst xmlns:p="http://schemas.openxmlformats.org/presentationml/2006/main">
  <p:tag name="KSO_WM_DIAGRAM_VIRTUALLY_FRAME" val="{&quot;height&quot;:377.1,&quot;left&quot;:332.65,&quot;top&quot;:91.85,&quot;width&quot;:567.65}"/>
</p:tagLst>
</file>

<file path=ppt/tags/tag148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149.xml><?xml version="1.0" encoding="utf-8"?>
<p:tagLst xmlns:p="http://schemas.openxmlformats.org/presentationml/2006/main">
  <p:tag name="KSO_WM_UNIT_PLACING_PICTURE_USER_VIEWPORT" val="{&quot;height&quot;:1680,&quot;width&quot;:5039.99842519685}"/>
</p:tagLst>
</file>

<file path=ppt/tags/tag150.xml><?xml version="1.0" encoding="utf-8"?>
<p:tagLst xmlns:p="http://schemas.openxmlformats.org/presentationml/2006/main">
  <p:tag name="KSO_WM_DIAGRAM_VIRTUALLY_FRAME" val="{&quot;height&quot;:311.9,&quot;left&quot;:85.55,&quot;top&quot;:243.25,&quot;width&quot;:783.3}"/>
</p:tagLst>
</file>

<file path=ppt/tags/tag151.xml><?xml version="1.0" encoding="utf-8"?>
<p:tagLst xmlns:p="http://schemas.openxmlformats.org/presentationml/2006/main">
  <p:tag name="KSO_WM_DIAGRAM_VIRTUALLY_FRAME" val="{&quot;height&quot;:377.1,&quot;left&quot;:332.65,&quot;top&quot;:91.85,&quot;width&quot;:567.65}"/>
</p:tagLst>
</file>

<file path=ppt/tags/tag152.xml><?xml version="1.0" encoding="utf-8"?>
<p:tagLst xmlns:p="http://schemas.openxmlformats.org/presentationml/2006/main">
  <p:tag name="KSO_WM_UNIT_PLACING_PICTURE_USER_VIEWPORT" val="{&quot;height&quot;:3729,&quot;width&quot;:8294}"/>
</p:tagLst>
</file>

<file path=ppt/tags/tag153.xml><?xml version="1.0" encoding="utf-8"?>
<p:tagLst xmlns:p="http://schemas.openxmlformats.org/presentationml/2006/main">
  <p:tag name="KSO_WM_UNIT_PLACING_PICTURE_USER_VIEWPORT" val="{&quot;height&quot;:4398,&quot;width&quot;:7455}"/>
</p:tagLst>
</file>

<file path=ppt/tags/tag154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155.xml><?xml version="1.0" encoding="utf-8"?>
<p:tagLst xmlns:p="http://schemas.openxmlformats.org/presentationml/2006/main">
  <p:tag name="KSO_WM_UNIT_PLACING_PICTURE_USER_VIEWPORT" val="{&quot;height&quot;:1680,&quot;width&quot;:5039.99842519685}"/>
</p:tagLst>
</file>

<file path=ppt/tags/tag156.xml><?xml version="1.0" encoding="utf-8"?>
<p:tagLst xmlns:p="http://schemas.openxmlformats.org/presentationml/2006/main">
  <p:tag name="KSO_WM_DIAGRAM_VIRTUALLY_FRAME" val="{&quot;height&quot;:435.1,&quot;left&quot;:8.75,&quot;top&quot;:100.7,&quot;width&quot;:402.9}"/>
</p:tagLst>
</file>

<file path=ppt/tags/tag157.xml><?xml version="1.0" encoding="utf-8"?>
<p:tagLst xmlns:p="http://schemas.openxmlformats.org/presentationml/2006/main">
  <p:tag name="KSO_WM_DIAGRAM_VIRTUALLY_FRAME" val="{&quot;height&quot;:435.1,&quot;left&quot;:8.75,&quot;top&quot;:100.7,&quot;width&quot;:402.9}"/>
</p:tagLst>
</file>

<file path=ppt/tags/tag158.xml><?xml version="1.0" encoding="utf-8"?>
<p:tagLst xmlns:p="http://schemas.openxmlformats.org/presentationml/2006/main">
  <p:tag name="KSO_WM_DIAGRAM_VIRTUALLY_FRAME" val="{&quot;height&quot;:435.1,&quot;left&quot;:8.75,&quot;top&quot;:100.7,&quot;width&quot;:402.9}"/>
</p:tagLst>
</file>

<file path=ppt/tags/tag159.xml><?xml version="1.0" encoding="utf-8"?>
<p:tagLst xmlns:p="http://schemas.openxmlformats.org/presentationml/2006/main">
  <p:tag name="KSO_WM_DIAGRAM_VIRTUALLY_FRAME" val="{&quot;height&quot;:435.1,&quot;left&quot;:8.75,&quot;top&quot;:100.7,&quot;width&quot;:402.9}"/>
  <p:tag name="KSO_WM_UNIT_PLACING_PICTURE_USER_VIEWPORT" val="{&quot;height&quot;:3029,&quot;width&quot;:7934}"/>
</p:tagLst>
</file>

<file path=ppt/tags/tag160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161.xml><?xml version="1.0" encoding="utf-8"?>
<p:tagLst xmlns:p="http://schemas.openxmlformats.org/presentationml/2006/main">
  <p:tag name="KSO_WM_DIAGRAM_VIRTUALLY_FRAME" val="{&quot;height&quot;:56.75,&quot;left&quot;:8.75,&quot;top&quot;:100.7,&quot;width&quot;:309.1}"/>
</p:tagLst>
</file>

<file path=ppt/tags/tag162.xml><?xml version="1.0" encoding="utf-8"?>
<p:tagLst xmlns:p="http://schemas.openxmlformats.org/presentationml/2006/main">
  <p:tag name="KSO_WM_UNIT_PLACING_PICTURE_USER_VIEWPORT" val="{&quot;height&quot;:7219,&quot;width&quot;:12160}"/>
</p:tagLst>
</file>

<file path=ppt/tags/tag163.xml><?xml version="1.0" encoding="utf-8"?>
<p:tagLst xmlns:p="http://schemas.openxmlformats.org/presentationml/2006/main">
  <p:tag name="KSO_WM_UNIT_PLACING_PICTURE_USER_VIEWPORT" val="{&quot;height&quot;:2285,&quot;width&quot;:14637}"/>
  <p:tag name="KSO_WM_UNIT_PLACING_PICTURE_USER_RELATIVERECTANGLE" val="{&quot;bottom&quot;:0.24893,&quot;left&quot;:0,&quot;right&quot;:0,&quot;top&quot;:0.48875}"/>
  <p:tag name="KSO_WM_UNIT_PLACING_PICTURE_COLLAGE_RELATIVERECTANGLE" val="{&quot;bottom&quot;:0.24893,&quot;left&quot;:0,&quot;right&quot;:0,&quot;top&quot;:0.48875}"/>
  <p:tag name="KSO_WM_UNIT_PLACING_PICTURE_COLLAGE_VIEWPORT" val="{&quot;height&quot;:2285,&quot;width&quot;:14637}"/>
</p:tagLst>
</file>

<file path=ppt/tags/tag164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165.xml><?xml version="1.0" encoding="utf-8"?>
<p:tagLst xmlns:p="http://schemas.openxmlformats.org/presentationml/2006/main">
  <p:tag name="KSO_WM_DIAGRAM_VIRTUALLY_FRAME" val="{&quot;height&quot;:56.75,&quot;left&quot;:8.75,&quot;top&quot;:100.7,&quot;width&quot;:309.1}"/>
</p:tagLst>
</file>

<file path=ppt/tags/tag166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167.xml><?xml version="1.0" encoding="utf-8"?>
<p:tagLst xmlns:p="http://schemas.openxmlformats.org/presentationml/2006/main">
  <p:tag name="KSO_WM_DIAGRAM_VIRTUALLY_FRAME" val="{&quot;height&quot;:56.75,&quot;left&quot;:8.75,&quot;top&quot;:100.7,&quot;width&quot;:309.1}"/>
</p:tagLst>
</file>

<file path=ppt/tags/tag168.xml><?xml version="1.0" encoding="utf-8"?>
<p:tagLst xmlns:p="http://schemas.openxmlformats.org/presentationml/2006/main">
  <p:tag name="KSO_WM_DIAGRAM_VIRTUALLY_FRAME" val="{&quot;height&quot;:56.75,&quot;left&quot;:8.75,&quot;top&quot;:100.7,&quot;width&quot;:309.1}"/>
</p:tagLst>
</file>

<file path=ppt/tags/tag169.xml><?xml version="1.0" encoding="utf-8"?>
<p:tagLst xmlns:p="http://schemas.openxmlformats.org/presentationml/2006/main">
  <p:tag name="KSO_WM_UNIT_PLACING_PICTURE_USER_VIEWPORT" val="{&quot;height&quot;:1680,&quot;width&quot;:5039.99842519685}"/>
</p:tagLst>
</file>

<file path=ppt/tags/tag170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171.xml><?xml version="1.0" encoding="utf-8"?>
<p:tagLst xmlns:p="http://schemas.openxmlformats.org/presentationml/2006/main">
  <p:tag name="KSO_WM_UNIT_PLACING_PICTURE_USER_VIEWPORT" val="{&quot;height&quot;:1680,&quot;width&quot;:5039.99842519685}"/>
</p:tagLst>
</file>

<file path=ppt/tags/tag172.xml><?xml version="1.0" encoding="utf-8"?>
<p:tagLst xmlns:p="http://schemas.openxmlformats.org/presentationml/2006/main">
  <p:tag name="KSO_WM_UNIT_PLACING_PICTURE_USER_VIEWPORT" val="{&quot;height&quot;:10866,&quot;width&quot;:19244}"/>
</p:tagLst>
</file>

<file path=ppt/tags/tag173.xml><?xml version="1.0" encoding="utf-8"?>
<p:tagLst xmlns:p="http://schemas.openxmlformats.org/presentationml/2006/main">
  <p:tag name="TABLE_ENDDRAG_ORIGIN_RECT" val="317*252"/>
  <p:tag name="TABLE_ENDDRAG_RECT" val="42*145*317*252"/>
</p:tagLst>
</file>

<file path=ppt/tags/tag174.xml><?xml version="1.0" encoding="utf-8"?>
<p:tagLst xmlns:p="http://schemas.openxmlformats.org/presentationml/2006/main">
  <p:tag name="KSO_WM_UNIT_PLACING_PICTURE_USER_VIEWPORT" val="{&quot;height&quot;:1680,&quot;width&quot;:5039.99842519685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E2A3DF"/>
      </a:accent1>
      <a:accent2>
        <a:srgbClr val="5289ED"/>
      </a:accent2>
      <a:accent3>
        <a:srgbClr val="67E5FC"/>
      </a:accent3>
      <a:accent4>
        <a:srgbClr val="D9EBF6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E2A3DF"/>
      </a:accent1>
      <a:accent2>
        <a:srgbClr val="5289ED"/>
      </a:accent2>
      <a:accent3>
        <a:srgbClr val="67E5FC"/>
      </a:accent3>
      <a:accent4>
        <a:srgbClr val="D9EBF6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E2A3DF"/>
      </a:accent1>
      <a:accent2>
        <a:srgbClr val="5289ED"/>
      </a:accent2>
      <a:accent3>
        <a:srgbClr val="67E5FC"/>
      </a:accent3>
      <a:accent4>
        <a:srgbClr val="D9EBF6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6136</Words>
  <Application>WPS 演示</Application>
  <PresentationFormat>On-screen Show (16:9)</PresentationFormat>
  <Paragraphs>571</Paragraphs>
  <Slides>49</Slides>
  <Notes>25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72" baseType="lpstr">
      <vt:lpstr>Arial</vt:lpstr>
      <vt:lpstr>宋体</vt:lpstr>
      <vt:lpstr>Wingdings</vt:lpstr>
      <vt:lpstr>MiSans</vt:lpstr>
      <vt:lpstr>MiSans</vt:lpstr>
      <vt:lpstr>微软雅黑</vt:lpstr>
      <vt:lpstr>Calibri</vt:lpstr>
      <vt:lpstr>Arial Unicode MS</vt:lpstr>
      <vt:lpstr>等线</vt:lpstr>
      <vt:lpstr>黑体</vt:lpstr>
      <vt:lpstr>Wingdings</vt:lpstr>
      <vt:lpstr>Calibri</vt:lpstr>
      <vt:lpstr>等线 (正文)</vt:lpstr>
      <vt:lpstr>字由点字典黑 55J</vt:lpstr>
      <vt:lpstr>字由点字典黑 45J</vt:lpstr>
      <vt:lpstr>Calibri Light</vt:lpstr>
      <vt:lpstr>等线 Light</vt:lpstr>
      <vt:lpstr>MS PGothic</vt:lpstr>
      <vt:lpstr>BatangChe</vt:lpstr>
      <vt:lpstr>ksdb</vt:lpstr>
      <vt:lpstr>Custom Theme</vt:lpstr>
      <vt:lpstr>1_Custom Theme</vt:lpstr>
      <vt:lpstr>Visio.Drawing.15</vt:lpstr>
      <vt:lpstr>PowerPoint 演示文稿</vt:lpstr>
      <vt:lpstr>PowerPoint 演示文稿</vt:lpstr>
      <vt:lpstr>PowerPoint 演示文稿</vt:lpstr>
      <vt:lpstr>1.1网络安全概念</vt:lpstr>
      <vt:lpstr>1.2常见网络威胁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言</cp:lastModifiedBy>
  <cp:revision>12</cp:revision>
  <dcterms:created xsi:type="dcterms:W3CDTF">2025-08-07T11:53:00Z</dcterms:created>
  <dcterms:modified xsi:type="dcterms:W3CDTF">2025-08-21T03:56:48Z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9DEE8FC095AD488BB4A0793BB45A7D34_12</vt:lpwstr>
  </property>
  <property fmtid="{D5CDD505-2E9C-101B-9397-08002B2CF9AE}" pid="3" name="KSOProductBuildVer">
    <vt:lpwstr>2052-12.1.0.21915</vt:lpwstr>
  </property>
</Properties>
</file>